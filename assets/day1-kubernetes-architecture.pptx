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352" r:id="rId2"/>
    <p:sldId id="351" r:id="rId3"/>
    <p:sldId id="353" r:id="rId4"/>
    <p:sldId id="354" r:id="rId5"/>
    <p:sldId id="355" r:id="rId6"/>
    <p:sldId id="356" r:id="rId7"/>
    <p:sldId id="357" r:id="rId8"/>
    <p:sldId id="448" r:id="rId9"/>
    <p:sldId id="450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452" r:id="rId23"/>
    <p:sldId id="411" r:id="rId24"/>
    <p:sldId id="455" r:id="rId25"/>
    <p:sldId id="370" r:id="rId26"/>
    <p:sldId id="372" r:id="rId27"/>
    <p:sldId id="373" r:id="rId28"/>
    <p:sldId id="374" r:id="rId29"/>
    <p:sldId id="375" r:id="rId30"/>
    <p:sldId id="376" r:id="rId31"/>
    <p:sldId id="377" r:id="rId32"/>
    <p:sldId id="379" r:id="rId33"/>
    <p:sldId id="380" r:id="rId34"/>
    <p:sldId id="457" r:id="rId35"/>
    <p:sldId id="383" r:id="rId36"/>
    <p:sldId id="384" r:id="rId37"/>
    <p:sldId id="385" r:id="rId38"/>
    <p:sldId id="386" r:id="rId39"/>
    <p:sldId id="387" r:id="rId40"/>
    <p:sldId id="459" r:id="rId41"/>
    <p:sldId id="461" r:id="rId42"/>
    <p:sldId id="388" r:id="rId43"/>
    <p:sldId id="397" r:id="rId44"/>
    <p:sldId id="398" r:id="rId45"/>
    <p:sldId id="399" r:id="rId46"/>
    <p:sldId id="400" r:id="rId47"/>
    <p:sldId id="401" r:id="rId48"/>
    <p:sldId id="466" r:id="rId49"/>
    <p:sldId id="468" r:id="rId50"/>
    <p:sldId id="391" r:id="rId51"/>
    <p:sldId id="463" r:id="rId52"/>
    <p:sldId id="392" r:id="rId53"/>
    <p:sldId id="393" r:id="rId54"/>
    <p:sldId id="394" r:id="rId55"/>
    <p:sldId id="395" r:id="rId56"/>
    <p:sldId id="396" r:id="rId57"/>
    <p:sldId id="404" r:id="rId58"/>
    <p:sldId id="405" r:id="rId59"/>
    <p:sldId id="471" r:id="rId60"/>
    <p:sldId id="484" r:id="rId61"/>
    <p:sldId id="473" r:id="rId62"/>
    <p:sldId id="409" r:id="rId63"/>
    <p:sldId id="474" r:id="rId64"/>
    <p:sldId id="410" r:id="rId65"/>
    <p:sldId id="414" r:id="rId66"/>
    <p:sldId id="415" r:id="rId67"/>
    <p:sldId id="416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26" r:id="rId77"/>
    <p:sldId id="427" r:id="rId78"/>
    <p:sldId id="476" r:id="rId79"/>
    <p:sldId id="478" r:id="rId80"/>
    <p:sldId id="480" r:id="rId81"/>
    <p:sldId id="431" r:id="rId82"/>
    <p:sldId id="432" r:id="rId83"/>
    <p:sldId id="433" r:id="rId84"/>
    <p:sldId id="482" r:id="rId85"/>
    <p:sldId id="434" r:id="rId86"/>
    <p:sldId id="435" r:id="rId87"/>
    <p:sldId id="436" r:id="rId88"/>
    <p:sldId id="437" r:id="rId89"/>
    <p:sldId id="438" r:id="rId90"/>
    <p:sldId id="439" r:id="rId91"/>
    <p:sldId id="441" r:id="rId92"/>
    <p:sldId id="442" r:id="rId93"/>
    <p:sldId id="443" r:id="rId94"/>
    <p:sldId id="444" r:id="rId95"/>
    <p:sldId id="445" r:id="rId9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/>
    <p:restoredTop sz="90282"/>
  </p:normalViewPr>
  <p:slideViewPr>
    <p:cSldViewPr snapToGrid="0" snapToObjects="1">
      <p:cViewPr varScale="1">
        <p:scale>
          <a:sx n="140" d="100"/>
          <a:sy n="140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781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커널은 '운영체제의 심장'이라고 표현하면 이해가 쉽다. 사용자가 직접 보는 화면이 아니라, 하드웨어 바로 위에서 동작하는 가장 낮은 계층이라는 점을 먼저 짚어준다.</a:t>
            </a:r>
          </a:p>
          <a:p>
            <a:r>
              <a:rPr lang="ko-KR" dirty="0"/>
              <a:t>비유: 커널은 호텔의 '지배인'이다. 손님(프로그램)은 주방·객실(하드웨어)에 직접 들어가지 않고 지배인을 통해 요청한다. 지배인이 없으면 손님들이 같은 방을 동시에 차지하려다 충돌한다.</a:t>
            </a:r>
            <a:endParaRPr lang="en-US" altLang="ko-KR" dirty="0"/>
          </a:p>
          <a:p>
            <a:endParaRPr lang="ko-KR" dirty="0"/>
          </a:p>
          <a:p>
            <a:r>
              <a:rPr lang="ko-KR" dirty="0"/>
              <a:t>시스템 콜(system call): 프로그램은 파일 읽기·네트워크 전송 등을 스스로 하지 못하고 커널에 대신 요청한다. 이것이 '중재자'의 구체적 의미다.</a:t>
            </a:r>
          </a:p>
          <a:p>
            <a:r>
              <a:rPr lang="ko-KR" dirty="0"/>
              <a:t>'없으면?' 파트 강조: 멀티태스킹, 메모리 보호, 권한 분리, 보안이 전부 커널의 기능이다. 커널이 없으면 OS가 부팅조차 되지 않는다.</a:t>
            </a:r>
          </a:p>
          <a:p>
            <a:r>
              <a:rPr lang="ko-KR" dirty="0"/>
              <a:t>컨테이너와의 연결(8번 슬라이드 복습): 컨테이너는 자체 커널이 없고 '호스트 커널을 공유'한다. 그래서 가볍지만, 리눅스 컨테이너는 리눅스 커널 위에서만 동작한다는 제약으로 이어진다.</a:t>
            </a:r>
          </a:p>
          <a:p>
            <a:r>
              <a:rPr lang="ko-KR" dirty="0"/>
              <a:t>자주 묻는 질문 — '커널 = 운영체제인가?' → 아니다. 커널은 OS의 핵심 부분이고, OS는 커널 + 쉘 + 각종 유틸리티를 포함한 더 넓은 개념이다.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'커널이란 무엇인가'를 한 장의 그림으로 요약한 것이다. 위에서 아래로 애플리케이션 → 커널 → 하드웨어 순서로 읽는다.</a:t>
            </a:r>
          </a:p>
          <a:p>
            <a:r>
              <a:rPr lang="ko-KR" dirty="0"/>
              <a:t>맨 위 애플리케이션 계층의 예시(Chrome, Python, Docker, DB, kubelet)는 모두 '사용자/프로그램' 영역이다. kubelet을 넣은 이유: 쿠버네티스 구성요소도 결국 커널 위에서 도는 하나의 프로그램일 뿐임을 보여주기 위해서다.</a:t>
            </a:r>
          </a:p>
          <a:p>
            <a:r>
              <a:rPr lang="ko-KR" dirty="0"/>
              <a:t>핵심 화살표는 '시스템 콜'이다. 애플리케이션은 하드웨어를 직접 만지지 못하고, 반드시 시스템 콜을 통해 커널에 요청한다. 이 지점을 강조한다.</a:t>
            </a:r>
          </a:p>
          <a:p>
            <a:r>
              <a:rPr lang="ko-KR" dirty="0"/>
              <a:t>가운데 커널 박스를 진한 파란색으로 강조한 이유: 커널이 모든 흐름의 '관문'이기 때문이다. CPU·메모리·파일·디스크·네트워크·프로세스 관리가 전부 커널의 일이다.</a:t>
            </a:r>
          </a:p>
          <a:p>
            <a:r>
              <a:rPr lang="ko-KR" dirty="0"/>
              <a:t>맨 아래 하드웨어(CPU/RAM/SSD/NIC/GPU)는 실제 물리 장치다. 커널만이 이들을 직접 제어한다.</a:t>
            </a:r>
          </a:p>
          <a:p>
            <a:r>
              <a:rPr lang="ko-KR" dirty="0"/>
              <a:t>마무리 질문: '그럼 컨테이너는 이 그림 어디에 있나?' → 애플리케이션 계층에 위치하며, 자체 커널 없이 호스트 커널을 공유한다는 점을 앞 슬라이드와 연결해 설명한다.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VirtualBox</a:t>
            </a:r>
            <a:r>
              <a:rPr lang="ko-KR" altLang="en-US" dirty="0"/>
              <a:t>로 설치하기 위한 가이드 </a:t>
            </a:r>
            <a:endParaRPr lang="en-US" altLang="ko-KR" dirty="0"/>
          </a:p>
          <a:p>
            <a:r>
              <a:rPr lang="en" altLang="ko-KR" dirty="0"/>
              <a:t>https://</a:t>
            </a:r>
            <a:r>
              <a:rPr lang="en" altLang="ko-KR" dirty="0" err="1"/>
              <a:t>skilleat-labs.github.io</a:t>
            </a:r>
            <a:r>
              <a:rPr lang="en" altLang="ko-KR" dirty="0"/>
              <a:t>/docker-k8s-labs/modules/module8/1-1/#_6</a:t>
            </a:r>
          </a:p>
          <a:p>
            <a:endParaRPr lang="ko-KR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그림은 '위에다가 설치한다'를 계층 중첩으로 보여준다. 바깥에서 안으로: Windows PC → VirtualBox → 우분투 VM → Docker Engine → 컨테이너들.</a:t>
            </a:r>
          </a:p>
          <a:p>
            <a:r>
              <a:rPr lang="ko-KR" dirty="0"/>
              <a:t>강조 1: 우분투 VM은 Windows 커널을 쓰지 않고 자기 리눅스 커널을 직접 부팅한다. Windows 위에서도 리눅스 커널이 통째로 부팅된다는 점이 핵심이며, 그래서 VM이 무겁다.</a:t>
            </a:r>
          </a:p>
          <a:p>
            <a:r>
              <a:rPr lang="ko-KR" dirty="0"/>
              <a:t>강조 2: 파란 'Docker Engine' 층이 이번 실습에서 새로 설치하는 부분이다. Docker는 OS가 아니라 우분투 VM 위에서 도는 하나의 프로그램이다.</a:t>
            </a:r>
          </a:p>
          <a:p>
            <a:r>
              <a:rPr lang="ko-KR" dirty="0"/>
              <a:t>강조 3: 맨 안쪽 컨테이너 3개(nginx · Python · DB)는 각자 OS·커널이 없다. 모두 우분투 VM의 '하나의 리눅스 커널'을 공유한다 — 그래서 가볍고 빠르다.</a:t>
            </a:r>
          </a:p>
          <a:p>
            <a:r>
              <a:rPr lang="ko-KR" dirty="0"/>
              <a:t>참고: Windows의 Docker Desktop은 보통 WSL2(내장 리눅스)를 쓰지만, 이번 실습은 학습 목적상 VirtualBox+우분투 VM 위에 직접 올려 'VM 위의 Docker' 구조를 눈으로 본다.</a:t>
            </a:r>
          </a:p>
          <a:p>
            <a:r>
              <a:rPr lang="ko-KR" dirty="0"/>
              <a:t>질문 유도: '컨테이너를 100개 더 늘리면 커널은 몇 개가 되나?' → 여전히 1개(VM의 리눅스 커널). 이게 컨테이너 밀도의 핵심이다.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컨테이너 실습 </a:t>
            </a:r>
            <a:endParaRPr lang="en-US" altLang="ko-KR" dirty="0"/>
          </a:p>
          <a:p>
            <a:r>
              <a:rPr lang="en" altLang="ko-KR" dirty="0"/>
              <a:t>https://</a:t>
            </a:r>
            <a:r>
              <a:rPr lang="en" altLang="ko-KR" dirty="0" err="1"/>
              <a:t>skilleat-labs.github.io</a:t>
            </a:r>
            <a:r>
              <a:rPr lang="en" altLang="ko-KR" dirty="0"/>
              <a:t>/docker-k8s-labs/m8/modules/module8/1-2/</a:t>
            </a:r>
            <a:endParaRPr lang="ko-KR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슬라이드의 출발 질문: 'docker run nginx 했을 때 그 nginx 이미지는 대체 어디서 오나?' → 답은 레지스트리(이미지 저장소)이고, 기본은 Docker Hub(docker.io)다.</a:t>
            </a:r>
          </a:p>
          <a:p>
            <a:r>
              <a:rPr lang="ko-KR" dirty="0"/>
              <a:t>핵심 1: 짧은 이름 nginx 는 사실 docker.io/library/nginx:latest 의 축약형이다. 레지스트리·네임스페이스·태그가 생략되면 Docker가 기본값(docker.io / library / latest)으로 자동으로 채운다.</a:t>
            </a:r>
          </a:p>
          <a:p>
            <a:r>
              <a:rPr lang="ko-KR" dirty="0"/>
              <a:t>다른 레지스트리 예시도 보여주면 좋다: ghcr.io/myorg/app:1.2, registry.company.com:5000/team/api:v3 처럼 앞에 호스트를 명시하면 그 레지스트리로 간다.</a:t>
            </a:r>
          </a:p>
          <a:p>
            <a:r>
              <a:rPr lang="ko-KR" dirty="0"/>
              <a:t>핵심 2 (가져오는 과정): 이름을 주소로 해석 → 로컬에 있나 확인 → 없으면 레지스트리에서 '매니페스트'(이미지 구성표)를 받고, 거기 적힌 '레이어'들을 하나씩 내려받아 합친다 → 로컬에 캐시한다.</a:t>
            </a:r>
          </a:p>
          <a:p>
            <a:r>
              <a:rPr lang="ko-KR" dirty="0"/>
              <a:t>앞 슬라이드(레이어 캐시)와 연결: 이미 받은 레이어는 다시 받지 않는다. 그래서 두 번째 pull부터는 훨씬 빠르다.</a:t>
            </a:r>
          </a:p>
          <a:p>
            <a:r>
              <a:rPr lang="ko-KR" dirty="0"/>
              <a:t>실습 팁: docker pull nginx 후 docker images 로 출처(docker.io)와 태그를 확인한다. latest 가 항상 최신을 보장하지는 않으니, 실무에선 태그를 고정 버전으로 쓰는 습관을 강조한다.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'스스로 하기' 과제다. 정답 명령을 바로 보여주지 말고 학생이 직접 조립하게 둔다.</a:t>
            </a:r>
          </a:p>
          <a:p>
            <a:r>
              <a:rPr lang="ko-KR" dirty="0"/>
              <a:t>문제 1 의도: docker run 옵션 4개(-d, -p 1234:80, --name guide, 이미지명)를 스스로 조합하기. 태그 미지정 → latest 자동. 가장 자주 틀리는 부분은 -p 가 '호스트:컨테이너'(1234:80) 순서라는 점이다.</a:t>
            </a:r>
          </a:p>
          <a:p>
            <a:r>
              <a:rPr lang="ko-KR" dirty="0"/>
              <a:t>접속 확인: VM의 IP(192.168.x.x)는 ip addr 또는 hostname -I 로 확인하고, 호스트 PC 브라우저에서 그 IP:1234 로 접속한다. 안 뜨면 VirtualBox 네트워크(NAT 포트포워딩/브리지)와 방화벽을 점검한다.</a:t>
            </a:r>
          </a:p>
          <a:p>
            <a:r>
              <a:rPr lang="ko-KR" dirty="0"/>
              <a:t>문제 1 강사용 정답: docker run -d -p 1234:80 --name guide docker/getting-started</a:t>
            </a:r>
          </a:p>
          <a:p>
            <a:r>
              <a:rPr lang="ko-KR" dirty="0"/>
              <a:t>문제 2 의도: docker exec 로 컨테이너에 진입(이 이미지엔 bash가 없어 sh 사용) 후 파일 내용을 확인하기. 진입해서 cat /usr/share/nginx/html/50x.html 또는 grep -i title 로 찾는다.</a:t>
            </a:r>
          </a:p>
          <a:p>
            <a:r>
              <a:rPr lang="ko-KR" dirty="0"/>
              <a:t>문제 2 강사용 정답: 50x.html 의 &lt;title&gt;은 'Error' (nginx 기본 에러 페이지)다. 정확한 문구는 학생이 직접 열어 확인하게 한다.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OCI(Open Container Initiative)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지금까지 배운 명령(build · push · pull · run)을 한 그림으로 묶는 정리용이다. 왼쪽 세로축은 '한 PC 안에서'의 흐름, 가로축은 '레지스트리를 통한 이동'으로 읽는다.</a:t>
            </a:r>
          </a:p>
          <a:p>
            <a:r>
              <a:rPr lang="ko-KR" dirty="0"/>
              <a:t>build: Dockerfile(설계도) → 로컬 이미지. 이 시점엔 이미지가 아직 내 PC에만 있다.</a:t>
            </a:r>
          </a:p>
          <a:p>
            <a:r>
              <a:rPr lang="ko-KR" dirty="0"/>
              <a:t>push: 로컬 이미지를 레지스트리에 업로드한다. 이걸 해야 다른 사람·서버가 받을 수 있다. push 전에 docker tag 로 레지스트리 주소를 붙인다는 점도 짚어준다.</a:t>
            </a:r>
          </a:p>
          <a:p>
            <a:r>
              <a:rPr lang="ko-KR" dirty="0"/>
              <a:t>pull: 레지스트리에서 이미지를 로컬로 받는다. run 할 때 로컬에 없으면 자동으로 pull 된다 — 앞의 '이미지 주소' 슬라이드와 연결.</a:t>
            </a:r>
          </a:p>
          <a:p>
            <a:r>
              <a:rPr lang="ko-KR" dirty="0"/>
              <a:t>run: 로컬 이미지를 컨테이너로 실행한다. 이미지(설계도) → 컨테이너(실행 인스턴스)의 관계를 다시 강조.</a:t>
            </a:r>
          </a:p>
          <a:p>
            <a:r>
              <a:rPr lang="ko-KR" dirty="0"/>
              <a:t>실무 흐름 예: 개발 PC에서 build → push, 운영 서버에서 pull → run. CI/CD 파이프라인이 자동화하는 게 바로 이 사이클이다.</a:t>
            </a:r>
          </a:p>
          <a:p>
            <a:r>
              <a:rPr lang="ko-KR" dirty="0"/>
              <a:t>자주 묻는 질문: 'push한 이미지와 내 로컬 이미지는 같은 건가?' → 다이제스트가 같으면 동일한 이미지다. 레지스트리는 그 사본을 보관할 뿐이다.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두 실습을 한 번에 다룬다. ① ACR 주소 형식 체험 ② 컨테이너=프로세스 확인. 함께 진행한다.</a:t>
            </a:r>
          </a:p>
          <a:p>
            <a:r>
              <a:rPr lang="ko-KR" dirty="0"/>
              <a:t>① ACR: 주소는 &lt;레지스트리이름&gt;.azurecr.io/&lt;리포지토리&gt;:&lt;태그&gt; 형식이다. Docker Hub와 달리 호스트가 .azurecr.io 다. pull 전 az acr login 또는 docker login &lt;name&gt;.azurecr.io 로 인증이 필요하다는 점을 짚는다.</a:t>
            </a:r>
          </a:p>
          <a:p>
            <a:r>
              <a:rPr lang="ko-KR" dirty="0"/>
              <a:t>① 실습: docker pull myreg.azurecr.io/app:v1 후 docker images 로 출처·태그를 확인한다. 주소의 각 부분(호스트/리포지토리/태그)을 학생이 직접 바꿔보며 의미를 체득하게 한다.</a:t>
            </a:r>
          </a:p>
          <a:p>
            <a:r>
              <a:rPr lang="ko-KR" dirty="0"/>
              <a:t>② 컨테이너=프로세스: docker run 후 호스트에서 ps -ef | grep 또는 docker top &lt;이름&gt;을 실행하면, 컨테이너 안의 프로세스가 호스트 프로세스 목록에 PID로 그대로 보인다.</a:t>
            </a:r>
          </a:p>
          <a:p>
            <a:r>
              <a:rPr lang="ko-KR" dirty="0"/>
              <a:t>핵심 메시지: 컨테이너는 VM처럼 별도 OS가 아니라 '격리된 프로세스'다. namespace로 시야만 분리됐을 뿐 같은 호스트 커널을 공유한다. 그래서 가볍고 빠르다.</a:t>
            </a:r>
          </a:p>
          <a:p>
            <a:r>
              <a:rPr lang="ko-KR" dirty="0"/>
              <a:t>증명용 질문: 호스트에서 그 PID를 kill 하면? → 컨테이너도 멈춘다. docker stop 도 결국 그 프로세스를 종료하는 것임을 보여주면 '컨테이너=프로세스'가 확실해진다.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다음 장('런타임에도 계층이 있다') 앞에 까는 기초다. '런타임'이라는 말부터 정의하고 넘어간다.</a:t>
            </a:r>
          </a:p>
          <a:p>
            <a:r>
              <a:rPr lang="ko-KR" dirty="0"/>
              <a:t>한 줄 정의: 이미지를 실제 실행 컨테이너로 바꿔주는 소프트웨어. 이미지=설계도, 런타임=찍어내는 엔진(앞의 이미지/컨테이너 비유 재활용).</a:t>
            </a:r>
          </a:p>
          <a:p>
            <a:r>
              <a:rPr lang="ko-KR" dirty="0"/>
              <a:t>오해 교정: 'Docker = 런타임'이 아니다. Docker는 사용자 도구(CLI)이고, 실제 실행은 그 아래 런타임이 커널에게 시킨다. 오른쪽 그림의 화살표(CLI → 런타임 → 커널 → 프로세스)를 짚어준다.</a:t>
            </a:r>
          </a:p>
          <a:p>
            <a:r>
              <a:rPr lang="ko-KR" dirty="0"/>
              <a:t>핵심 기능 4가지: ① 파일시스템 구성 ② namespace·cgroup 격리 ③ 프로세스 생명주기(생성·시작·정지·삭제) ④ (고수준) 이미지 관리·API.</a:t>
            </a:r>
          </a:p>
          <a:p>
            <a:r>
              <a:rPr lang="ko-KR" dirty="0"/>
              <a:t>namespace = 시야 격리, cgroup = 자원 제한. 앞의 Namespace 슬라이드와 연결해 상기시킨다.</a:t>
            </a:r>
          </a:p>
          <a:p>
            <a:r>
              <a:rPr lang="ko-KR" dirty="0"/>
              <a:t>다음 장 예고: 이 런타임이 고수준(containerd, CRI-O)과 저수준(runc)으로 나뉜다 → Docker → containerd → runc 흐름으로 이어진다.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"CRI 표준에 맞춰 개발된 런타임이면 kubelet이 다 쓸 수 있다"</a:t>
            </a:r>
          </a:p>
          <a:p>
            <a:br>
              <a:rPr lang="ko-US" dirty="0"/>
            </a:br>
            <a:r>
              <a:rPr lang="ko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OCI(Open Container Initiative)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CRI = "교체 가능한 런타임"을 위한 표준 인터페이스</a:t>
            </a:r>
          </a:p>
          <a:p>
            <a:r>
              <a:rPr lang="ko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"CRI = 표준 인터페이스"라는 이해는 맞고</a:t>
            </a:r>
            <a:r>
              <a:rPr lang="ko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거기에 "단, kubelet↔런타임 층의 표준이며 / 그 아래엔 OCI라는 또 다른 표준이 있다"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59번이 네 가지를 한 줄씩 나열했다면, 이 슬라이드는 기본값 bridge를 그림으로 자세히 푼다.</a:t>
            </a:r>
          </a:p>
          <a:p>
            <a:r>
              <a:rPr lang="ko-KR" dirty="0"/>
              <a:t>docker0: 도커 설치 시 자동 생성되는 가상 스위치(브리지)다. 컨테이너는 여기에 붙어 172.17.0.x 사설 IP를 받고, 컨테이너끼리는 이 사설망 안에서 서로 통신할 수 있다.</a:t>
            </a:r>
          </a:p>
          <a:p>
            <a:r>
              <a:rPr lang="ko-KR" dirty="0"/>
              <a:t>외부에서 컨테이너로 들어오려면? 사설 IP는 외부에서 보이지 않는다 → -p 8080:80 으로 '호스트 8080 → 컨테이너 80'을 매핑(NAT)한다. 그래서 브라우저는 호스트IP:8080 으로 접속한다.</a:t>
            </a:r>
          </a:p>
          <a:p>
            <a:r>
              <a:rPr lang="ko-KR" dirty="0"/>
              <a:t>흐름 짚기: 외부 → 호스트 eth0:8080 → docker0(NAT) → 컨테이너:80.</a:t>
            </a:r>
          </a:p>
          <a:p>
            <a:r>
              <a:rPr lang="ko-KR" dirty="0"/>
              <a:t>자주 묻는 질문: 컨테이너 IP(172.17.0.2)로 외부에서 바로 접속되나? → 안 된다(사설망). 반드시 포트 매핑이 필요하다.</a:t>
            </a:r>
          </a:p>
          <a:p>
            <a:r>
              <a:rPr lang="ko-KR" dirty="0"/>
              <a:t>실습 연결: docker run -d -p 8080:80 nginx 실행 후 docker inspect 로 172.17.0.x 를 확인하고, 브라우저는 호스트:8080 으로 접속해 본다.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60번(bridge 그림) 다음에, 기본 bridge와 사용자 정의 네트워크의 결정적 차이를 짚는 슬라이드다.</a:t>
            </a:r>
          </a:p>
          <a:p>
            <a:r>
              <a:rPr lang="ko-KR" dirty="0"/>
              <a:t>핵심: 기본 bridge(docker0)에서는 컨테이너가 IP(172.17.0.x)로만 통신된다. IP는 재시작하면 바뀌므로 이름으로 못 부르면 불편하다.</a:t>
            </a:r>
          </a:p>
          <a:p>
            <a:r>
              <a:rPr lang="ko-KR" dirty="0"/>
              <a:t>docker network create로 만든 '사용자 정의 네트워크'에 컨테이너를 붙이면 Docker 내장 DNS가 동작해, 컨테이너 이름이 자동으로 IP로 해석된다. 그래서 web가 'db'라는 이름으로 바로 접속할 수 있다.</a:t>
            </a:r>
          </a:p>
          <a:p>
            <a:r>
              <a:rPr lang="ko-KR" dirty="0"/>
              <a:t>부가 효과: 사용자 정의 네트워크는 서로 다른 네트워크끼리 격리된다(보안). 같은 네트워크에 속한 컨테이너끼리만 통신한다.</a:t>
            </a:r>
          </a:p>
          <a:p>
            <a:r>
              <a:rPr lang="ko-KR" dirty="0"/>
              <a:t>실습 연결: 미니 블로그(1-6-2)에서 frontend가 backend-service 이름으로 붙을 수 있었던 이유가 바로 이것이다. 기본 bridge였다면 이름 통신이 안 됐다.</a:t>
            </a:r>
          </a:p>
          <a:p>
            <a:r>
              <a:rPr lang="ko-KR" dirty="0"/>
              <a:t>명령 흐름: docker network create mynet → 두 컨테이너를 --network mynet --name 으로 실행 → docker network inspect mynet 으로 소속을 확인한다.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bridge를 뺀 나머지 세 드라이버를 비교한다. 핵심 축은 '격리 수준 vs 성능·범위'다.</a:t>
            </a:r>
          </a:p>
          <a:p>
            <a:r>
              <a:rPr lang="ko-KR" dirty="0"/>
              <a:t>host: 컨테이너가 호스트의 네트워크 스택을 그대로 공유한다. 포트 매핑이 필요 없고(컨테이너 80 = 호스트 80) 가장 빠르다. 대신 격리가 없어 포트 충돌·보안 위험이 있다. --network host.</a:t>
            </a:r>
          </a:p>
          <a:p>
            <a:r>
              <a:rPr lang="ko-KR" dirty="0"/>
              <a:t>none: 네트워크 인터페이스를 아예 주지 않는다. 외부와 완전 단절 → 통신이 필요 없는 배치/보안 작업에 쓴다. --network none.</a:t>
            </a:r>
          </a:p>
          <a:p>
            <a:r>
              <a:rPr lang="ko-KR" dirty="0"/>
              <a:t>overlay: 여러 호스트(노드)에 걸친 컨테이너를 하나의 가상 네트워크로 묶는다. Docker Swarm용이다. 쿠버네티스는 overlay 대신 CNI 플러그인(Calico, Flannel 등)으로 같은 일을 한다 — 다음 단계 예고.</a:t>
            </a:r>
          </a:p>
          <a:p>
            <a:r>
              <a:rPr lang="ko-KR" dirty="0"/>
              <a:t>정리: 단일 호스트면 보통 bridge(기본), 성능 극대화는 host, 완전 격리는 none, 멀티노드는 overlay/CNI.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skilleat-labs.github.io</a:t>
            </a:r>
            <a:r>
              <a:rPr lang="en-US" dirty="0"/>
              <a:t>/docker-k8s-labs/m8/modules/module8/1-6/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1일차 도커 네트워크 종합 실습이다. 핵심 학습 목표: '사용자 정의 네트워크에서는 컨테이너를 이름으로 부를 수 있다(내장 DNS)'.</a:t>
            </a:r>
          </a:p>
          <a:p>
            <a:r>
              <a:rPr lang="ko-KR" dirty="0"/>
              <a:t>왜 사용자 정의 네트워크인가: 기본 bridge에서는 IP로만 통신되지만, 사용자 정의 네트워크에 붙이면 컨테이너 이름(backend-service)이 DNS로 해석된다. frontend가 backend-service:5000으로 접속하는 이유다.</a:t>
            </a:r>
          </a:p>
          <a:p>
            <a:r>
              <a:rPr lang="ko-KR" dirty="0"/>
              <a:t>순서 주의: backend를 먼저 띄운다. frontend가 시작 시 backend-service 이름으로 연결을 시도하기 때문. 안 되면 docker logs frontend 로 확인.</a:t>
            </a:r>
          </a:p>
          <a:p>
            <a:r>
              <a:rPr lang="ko-KR" dirty="0"/>
              <a:t>강사용 정답 예시: docker network create blognet → docker run -d --name backend-service --network blognet skilleatlab.azurecr.io/backend:v4-kb5 → docker run -d --name frontend --network blognet -p 8080:80 skilleatlab.azurecr.io/frontend:v4-kb5</a:t>
            </a:r>
          </a:p>
          <a:p>
            <a:r>
              <a:rPr lang="ko-KR" dirty="0"/>
              <a:t>backend의 5000은 호스트에 -p로 노출하지 않아도 된다. 같은 네트워크 안에서 frontend가 직접 접근하기 때문. 외부에 열리는 건 frontend의 8080뿐이다.</a:t>
            </a:r>
          </a:p>
          <a:p>
            <a:r>
              <a:rPr lang="ko-KR" dirty="0"/>
              <a:t>검증 포인트: data.json에 글이 JSON으로 쌓이는지, docker network inspect blognet 의 Containers 목록에 두 컨테이너가 함께 보이는지. ACR 이미지이므로 pull 전 az acr login(또는 docker login skilleatlab.azurecr.io) 필요할 수 있다.</a:t>
            </a:r>
            <a:endParaRPr lang="en-US" altLang="ko-KR" dirty="0"/>
          </a:p>
          <a:p>
            <a:endParaRPr lang="en-US" altLang="ko-KR" dirty="0"/>
          </a:p>
          <a:p>
            <a:r>
              <a:rPr lang="en" altLang="ko-KR" dirty="0"/>
              <a:t>https://</a:t>
            </a:r>
            <a:r>
              <a:rPr lang="en" altLang="ko-KR" dirty="0" err="1"/>
              <a:t>skilleat-labs.github.io</a:t>
            </a:r>
            <a:r>
              <a:rPr lang="en" altLang="ko-KR" dirty="0"/>
              <a:t>/docker-k8s-labs/m8/modules/module8/1-6-2/#_5</a:t>
            </a:r>
          </a:p>
          <a:p>
            <a:endParaRPr lang="ko-KR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슬라이드는 80번(요청 흐름)을 '관리자 관점'에서 다시 본 것이다. 핵심 한 문장: 클러스터로 가는 문은 API Server 하나뿐이다.</a:t>
            </a:r>
          </a:p>
          <a:p>
            <a:r>
              <a:rPr lang="ko-KR" dirty="0"/>
              <a:t>관리자가 쓰는 도구는 다양하다 — kubectl(가장 흔함), 웹 대시보드, REST API 직접 호출(curl), 각 언어의 클라이언트 라이브러리(client-go 등). 하지만 결국 전부 kube-apiserver의 REST API를 호출한다.</a:t>
            </a:r>
          </a:p>
          <a:p>
            <a:r>
              <a:rPr lang="ko-KR" dirty="0"/>
              <a:t>인증: 접속 정보는 kubeconfig 파일(서버 주소·인증서·토큰)에 담긴다. kubectl이 이를 읽어 HTTPS로 apiserver에 접속하고, apiserver가 인증(누구) → 인가(권한·RBAC) → admission(검증) 순으로 처리한다.</a:t>
            </a:r>
          </a:p>
          <a:p>
            <a:r>
              <a:rPr lang="ko-KR" dirty="0"/>
              <a:t>강조: 관리자는 노드에 SSH하거나 etcd에 직접 붙지 않는다. 모든 변경은 apiserver를 거쳐 기록·검증된다 → 보안·감사·일관성 확보.</a:t>
            </a:r>
          </a:p>
          <a:p>
            <a:r>
              <a:rPr lang="ko-KR" dirty="0"/>
              <a:t>앞뒤 연결: apiserver가 받은 요청은 etcd에 저장되고, 스케줄러·컨트롤러·각 노드 kubelet이 그 상태를 보고 동작한다(80번의 내부 흐름).</a:t>
            </a:r>
          </a:p>
          <a:p>
            <a:r>
              <a:rPr lang="ko-KR" dirty="0"/>
              <a:t>실습 팁: kubectl config view 로 현재 kubeconfig 확인, kubectl get nodes 가 실제로 apiserver를 호출하는 가장 간단한 예다.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앞 슬라이드(여러 도구 → API Server)에서 kubectl과 kubeconfig를 콕 집어 설명하는 슬라이드다.</a:t>
            </a:r>
          </a:p>
          <a:p>
            <a:r>
              <a:rPr lang="ko-KR" dirty="0"/>
              <a:t>kubectl: 쿠버네티스 표준 CLI. 내가 친 명령(get/apply 등)을 REST API 호출로 바꿔 apiserver에 보낸다. kubectl 자체는 '번역기 + 전송기'라고 설명하면 쉽다.</a:t>
            </a:r>
          </a:p>
          <a:p>
            <a:r>
              <a:rPr lang="ko-KR" dirty="0"/>
              <a:t>kubeconfig: 어디(cluster)에 누구(user)로 붙을지 적힌 YAML. 기본 경로 ~/.kube/config. KUBECONFIG 환경변수로 다른 파일을 지정할 수도 있다.</a:t>
            </a:r>
          </a:p>
          <a:p>
            <a:r>
              <a:rPr lang="ko-KR" dirty="0"/>
              <a:t>3요소 강조: clusters(서버 주소·CA 인증서), users(클라이언트 인증서/토큰), contexts(cluster+user+namespace 묶음). '현재 context'가 지금 명령이 향하는 대상이다.</a:t>
            </a:r>
          </a:p>
          <a:p>
            <a:r>
              <a:rPr lang="ko-KR" dirty="0"/>
              <a:t>활용: kubectl config get-contexts(목록) · use-context(전환) · current-context(현재 확인). 개발/운영 여러 클러스터를 오갈 때 핵심이며, 운영에 실수로 apply하는 사고를 막으려면 현재 context를 늘 확인한다.</a:t>
            </a:r>
          </a:p>
          <a:p>
            <a:r>
              <a:rPr lang="ko-KR" dirty="0"/>
              <a:t>자주 쓰는 흐름: get(조회) → describe(상세) → apply -f(배포) → logs/exec(디버깅). -n &lt;namespace&gt;로 범위를 지정한다.</a:t>
            </a:r>
          </a:p>
          <a:p>
            <a:r>
              <a:rPr lang="ko-KR" dirty="0"/>
              <a:t>실습 팁: kubectl get nodes로 연결을 확인한다. 안 되면 kubeconfig 경로·인증서 만료·서버 주소부터 점검한다.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https://</a:t>
            </a:r>
            <a:r>
              <a:rPr lang="en" altLang="ko-KR" dirty="0" err="1"/>
              <a:t>skilleat-labs.github.io</a:t>
            </a:r>
            <a:r>
              <a:rPr lang="en" altLang="ko-KR" dirty="0"/>
              <a:t>/docker-k8s-labs/m10/modules/module10/1-1/#3</a:t>
            </a:r>
            <a:endParaRPr lang="ko-KR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87번(YAML 구조와 4필드)에 들어가기 전, 'YAML 자체'를 먼저 잡고 가는 도입 슬라이드다. 문법에 익숙하지 않은 학생이 apiVersion/kind부터 보면 헷갈리기 때문.</a:t>
            </a:r>
          </a:p>
          <a:p>
            <a:r>
              <a:rPr lang="ko-KR" dirty="0"/>
              <a:t>YAML = 'YAML Ain't Markup Language'. 데이터(설정)를 사람이 읽기 쉽게 적는 형식이며, 확장자는 .yaml 또는 .yml 이다.</a:t>
            </a:r>
          </a:p>
          <a:p>
            <a:r>
              <a:rPr lang="ko-KR" dirty="0"/>
              <a:t>핵심 3개만 기억시키면 된다: ① key: value (콜론 뒤 공백) ② 들여쓰기로 계층(공백만, 탭 금지) ③ 목록은 -, 주석은 #.</a:t>
            </a:r>
          </a:p>
          <a:p>
            <a:r>
              <a:rPr lang="ko-KR" dirty="0"/>
              <a:t>오른쪽 예시 짚기: 문자열·숫자·불리언 타입, hobbies는 리스트, address는 중첩 맵. 들여쓰기 2칸이 '같은 레벨'을 의미한다.</a:t>
            </a:r>
          </a:p>
          <a:p>
            <a:r>
              <a:rPr lang="ko-KR" dirty="0"/>
              <a:t>가장 흔한 실수: 탭 사용, 콜론 뒤 공백 누락(name:minjae → name: minjae), 들여쓰기 칸수 불일치. 에디터에서 공백을 보이게 설정하라고 권한다.</a:t>
            </a:r>
          </a:p>
          <a:p>
            <a:r>
              <a:rPr lang="ko-KR" dirty="0"/>
              <a:t>다음 장 연결: 이 key:value·계층 규칙 위에 쿠버네티스가 정한 4개 필드(apiVersion·kind·metadata·spec)를 채우면 오브젝트 정의가 된다.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skilleat-labs.github.io</a:t>
            </a:r>
            <a:r>
              <a:rPr lang="en-US" dirty="0"/>
              <a:t>/k8s-for-4days/day1/2-1-pod/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DAY 1 · CONTAINER &amp; KUBERNETES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2240280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 구조 완전 정복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7947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컨테이너의 본질부터 쿠버네티스 클러스터 구조와 Pod까지</a:t>
            </a:r>
            <a:endParaRPr lang="en-US" sz="1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'무엇이 어떻게 동작하는가'를 그림으로 이해하는 하루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1031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Kubernetes 4-Day Course · Day 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2785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타임라인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기술 / 컨테이너 vs VM / Namespace·cgroups / 이미지 구조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런타임 / Docker Hub / Docker 네트워크 / VM 도커 실습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VM 위 Docker 웹 서비스 구성 실습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13:30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 한계 체험 / 오케스트레이션 / 클러스터 구조(1)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클러스터 구조(2) / </a:t>
            </a:r>
            <a:r>
              <a:rPr lang="en-US" sz="1350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클러스터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구축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 vs 명령형 / YAML / Pod 개념·실습</a:t>
            </a:r>
            <a:endParaRPr lang="en-US" sz="135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3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16:30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 구조 파악 실습 / 쿠버네티스 구조 정리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451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ORIENTATION ·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하루가 끝나면 할 수 있는 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231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컨테이너가 '왜' 필요한지, VM과 무엇이 다른지 한 문장으로 설명한다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Namespace·cgroups가 격리와 자원 제한을 어떻게 만드는지 안다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레이어 구조와 컨테이너 런타임 계층(Docker→containerd→runc)을 그린다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Docker로 웹 서비스를 띄우고, 단일 호스트의 한계를 몸으로 체험한다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 클러스터 구조(Control Plane / Worker)를 구성요소 단위로 이해한다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Rancher </a:t>
            </a:r>
            <a:r>
              <a:rPr lang="en-US" sz="1600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Desktop을</a:t>
            </a: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설치하여</a:t>
            </a: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600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클러스터를</a:t>
            </a: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띄우고 선언형 YAML로 Pod를 만든다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키워드는 '격리'와 '선언형'. 이 두 가지가 4일 내내 반복됩니다.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3156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기술이란?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환경 불일치 문제와, 그것을 해결한 '패키징' 아이디어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8365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문제 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"제 PC에선 됐는데요?"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PC, 테스트 서버, 운영 서버의 OS·라이브러리·설정이 조금씩 다르다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Python 3.11에서 만든 앱이 운영 서버의 3.8에서 죽는다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'어떤 패키지를 어떤 버전으로 깔아야 하는지' 문서로 관리하다 사고가 난다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서버마다 수동 설치 → 느리고, 재현 불가능하고, 사람이 실수한다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FB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근본 원인: 애플리케이션과 '실행 환경'이 분리되어 있다.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47288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문제 시각화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환경이 다르면 결과가 다르다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3017520" y="2743200"/>
            <a:ext cx="1325880" cy="59436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3017520" y="3337560"/>
            <a:ext cx="1325880" cy="50292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3017520" y="3337560"/>
            <a:ext cx="1325880" cy="160020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 flipV="1">
            <a:off x="6812280" y="3840480"/>
            <a:ext cx="1920240" cy="109728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194560" cy="1188720"/>
          </a:xfrm>
          <a:prstGeom prst="roundRect">
            <a:avLst>
              <a:gd name="adj" fmla="val 3846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동일한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소스 코드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43434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 PC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Python 3.11 · 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9050">
            <a:solidFill>
              <a:srgbClr val="B7791F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434340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테스트 서버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Python 3.9 · 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448056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4343400" y="448056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 서버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Python 3.8 · 오류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3383280"/>
            <a:ext cx="2834640" cy="91440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8732520" y="3383280"/>
            <a:ext cx="28346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배포 실패 · 야근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코드라도 환경이 다르면 동작이 달라진다 — 컨테이너는 '환경째로' 묶어서 이 문제를 없앤다.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0017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= 앱 + 실행 환경을 한 덩어리로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컨테이너: 애플리케이션과 그 실행에 필요한 모든 것(라이브러리·런타임·설정)을 하나로 패키징해 격리 실행하는 단위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어디서 실행하든 '같은 환경'이 보장된다 → 재현성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 OS 커널은 공유하되, 프로세스/파일시스템/네트워크는 격리된다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이미지(설계도)로 배포하고, 컨테이너(실행체)로 동작한다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줄 정의: '환경째로 포장해 어디서나 똑같이 실행되는 격리된 프로세스'.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6529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81DE44-AF6C-FA47-9462-1F6AA24EBAC1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01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커널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0708A-F11B-7E49-9754-C9198F1F2C95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커널이란 무엇인가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5361D1-F5B8-C844-A098-0544F238AF8B}"/>
              </a:ext>
            </a:extLst>
          </p:cNvPr>
          <p:cNvSpPr txBox="1"/>
          <p:nvPr/>
        </p:nvSpPr>
        <p:spPr>
          <a:xfrm>
            <a:off x="685800" y="1574800"/>
            <a:ext cx="108839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C5C5C"/>
                </a:solidFill>
                <a:latin typeface="NanumSquare"/>
                <a:ea typeface="NanumSquare"/>
              </a:rPr>
              <a:t>커널은 하드웨어와 프로그램 사이에서 모든 자원을 중재하는 운영체제의 가장 핵심적인 층이다</a:t>
            </a:r>
            <a:r>
              <a:rPr lang="en-US" altLang="ko-KR" sz="14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4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A2868C8-D45B-C844-B522-CEC204997254}"/>
              </a:ext>
            </a:extLst>
          </p:cNvPr>
          <p:cNvSpPr/>
          <p:nvPr/>
        </p:nvSpPr>
        <p:spPr>
          <a:xfrm>
            <a:off x="685800" y="2184400"/>
            <a:ext cx="5207000" cy="3327400"/>
          </a:xfrm>
          <a:prstGeom prst="roundRect">
            <a:avLst/>
          </a:prstGeom>
          <a:solidFill>
            <a:srgbClr val="EAF2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E3D23-F69A-E24A-BAA6-02D4DE929BAA}"/>
              </a:ext>
            </a:extLst>
          </p:cNvPr>
          <p:cNvSpPr txBox="1"/>
          <p:nvPr/>
        </p:nvSpPr>
        <p:spPr>
          <a:xfrm>
            <a:off x="990600" y="23876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D6FE0"/>
                </a:solidFill>
                <a:latin typeface="NanumSquare"/>
                <a:ea typeface="NanumSquare"/>
              </a:rPr>
              <a:t>커널이란</a:t>
            </a:r>
            <a:r>
              <a:rPr lang="en-US" altLang="ko-KR" b="1">
                <a:solidFill>
                  <a:srgbClr val="1D6FE0"/>
                </a:solidFill>
                <a:latin typeface="NanumSquare"/>
                <a:ea typeface="NanumSquare"/>
              </a:rPr>
              <a:t>?</a:t>
            </a:r>
            <a:endParaRPr lang="ko-US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FFE3C-7895-C547-B8E4-314332FAB2D9}"/>
              </a:ext>
            </a:extLst>
          </p:cNvPr>
          <p:cNvSpPr txBox="1"/>
          <p:nvPr/>
        </p:nvSpPr>
        <p:spPr>
          <a:xfrm>
            <a:off x="990600" y="2870200"/>
            <a:ext cx="4597400" cy="248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1D6FE0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하드웨어와 프로그램을 잇는 중재자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1D6FE0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CPU·메모리·디스크 등 자원을 관리·분배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1D6FE0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시스템 콜로 프로그램의 요청을 대신 처리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1D6FE0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운영체제에서 가장 낮은 핵심 계층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474DFE1-8707-C44A-A12B-F3824F470B2D}"/>
              </a:ext>
            </a:extLst>
          </p:cNvPr>
          <p:cNvSpPr/>
          <p:nvPr/>
        </p:nvSpPr>
        <p:spPr>
          <a:xfrm>
            <a:off x="6299200" y="2184400"/>
            <a:ext cx="5207000" cy="3327400"/>
          </a:xfrm>
          <a:prstGeom prst="roundRect">
            <a:avLst/>
          </a:prstGeom>
          <a:solidFill>
            <a:srgbClr val="FDEC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74955-0F17-4B48-A56C-36B2C8D84310}"/>
              </a:ext>
            </a:extLst>
          </p:cNvPr>
          <p:cNvSpPr txBox="1"/>
          <p:nvPr/>
        </p:nvSpPr>
        <p:spPr>
          <a:xfrm>
            <a:off x="6604000" y="2387600"/>
            <a:ext cx="45974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C0392B"/>
                </a:solidFill>
                <a:latin typeface="NanumSquare"/>
                <a:ea typeface="NanumSquare"/>
              </a:rPr>
              <a:t>커널이 없다면</a:t>
            </a:r>
            <a:r>
              <a:rPr lang="en-US" altLang="ko-KR" b="1">
                <a:solidFill>
                  <a:srgbClr val="C0392B"/>
                </a:solidFill>
                <a:latin typeface="NanumSquare"/>
                <a:ea typeface="NanumSquare"/>
              </a:rPr>
              <a:t>?</a:t>
            </a:r>
            <a:endParaRPr lang="ko-US" b="1">
              <a:solidFill>
                <a:srgbClr val="C0392B"/>
              </a:solidFill>
              <a:latin typeface="NanumSquare"/>
              <a:ea typeface="NanumSqua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F42829-9A39-4B44-A9E5-C63ED52F1DB5}"/>
              </a:ext>
            </a:extLst>
          </p:cNvPr>
          <p:cNvSpPr txBox="1"/>
          <p:nvPr/>
        </p:nvSpPr>
        <p:spPr>
          <a:xfrm>
            <a:off x="6604000" y="2870200"/>
            <a:ext cx="4597400" cy="248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C0392B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프로그램이 하드웨어에 직접 접근 → 충돌·멈춤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C0392B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여러 프로그램의 동시 실행(멀티태스킹) 불가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C0392B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메모리 보호·권한 분리가 사라져 보안 붕괴</a:t>
            </a:r>
          </a:p>
          <a:p>
            <a:pPr marL="228600" indent="-228600" algn="l">
              <a:lnSpc>
                <a:spcPct val="150000"/>
              </a:lnSpc>
              <a:spcAft>
                <a:spcPts val="400"/>
              </a:spcAft>
              <a:buClr>
                <a:srgbClr val="C0392B"/>
              </a:buClr>
              <a:buFont typeface="Arial"/>
              <a:buChar char="•"/>
            </a:pPr>
            <a:r>
              <a:rPr lang="ko-KR" sz="15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운영체제 자체가 부팅조차 되지 않음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4D7B957-DEAD-0549-B3E3-1D745C7875AF}"/>
              </a:ext>
            </a:extLst>
          </p:cNvPr>
          <p:cNvSpPr/>
          <p:nvPr/>
        </p:nvSpPr>
        <p:spPr>
          <a:xfrm>
            <a:off x="685800" y="5715000"/>
            <a:ext cx="10820400" cy="5588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핵심 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: 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커널이 없으면 어떤 프로그램도 하드웨어를 쓸 수 없다 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— 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컨테이너조차 호스트 커널을 빌려 쓴다</a:t>
            </a:r>
            <a:endParaRPr lang="ko-US" sz="14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131194-D0BD-BC45-95B7-66BB1567516D}"/>
              </a:ext>
            </a:extLst>
          </p:cNvPr>
          <p:cNvSpPr txBox="1"/>
          <p:nvPr/>
        </p:nvSpPr>
        <p:spPr>
          <a:xfrm>
            <a:off x="685800" y="64135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리눅스 커널은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CPU·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메모리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·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디스크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·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네트워크를 직접 다루는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운영체제에서 가장 낮은 핵심 계층이다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127347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1C8A3-2EC3-D748-8D11-4A4C5DBFC141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01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커널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39658-6C41-6A45-AB3F-26ECF45A1357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프로그램이 하드웨어에 닿기까지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4C561E2-DAD3-084D-B0A0-1C9C0944D4E6}"/>
              </a:ext>
            </a:extLst>
          </p:cNvPr>
          <p:cNvSpPr/>
          <p:nvPr/>
        </p:nvSpPr>
        <p:spPr>
          <a:xfrm>
            <a:off x="1651000" y="1981200"/>
            <a:ext cx="2032000" cy="9906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NanumSquare"/>
                <a:ea typeface="NanumSquare"/>
              </a:rPr>
              <a:t>애플리케이션</a:t>
            </a:r>
            <a:endParaRPr lang="ko-US" sz="1600" b="1" dirty="0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617714-7786-854A-9356-37CF1EA2D088}"/>
              </a:ext>
            </a:extLst>
          </p:cNvPr>
          <p:cNvSpPr/>
          <p:nvPr/>
        </p:nvSpPr>
        <p:spPr>
          <a:xfrm>
            <a:off x="3867826" y="1981200"/>
            <a:ext cx="6858000" cy="990600"/>
          </a:xfrm>
          <a:prstGeom prst="roundRect">
            <a:avLst/>
          </a:prstGeom>
          <a:solidFill>
            <a:srgbClr val="EAF2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>
                <a:solidFill>
                  <a:srgbClr val="1A1A1A"/>
                </a:solidFill>
                <a:latin typeface="NanumSquare"/>
                <a:ea typeface="NanumSquare"/>
              </a:rPr>
              <a:t>Chrome · Python · Docker · DB · kubelet</a:t>
            </a:r>
            <a:endParaRPr lang="ko-US" sz="160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0AB4354-8C5E-7E4C-B96C-C6D5D5E35FE6}"/>
              </a:ext>
            </a:extLst>
          </p:cNvPr>
          <p:cNvSpPr/>
          <p:nvPr/>
        </p:nvSpPr>
        <p:spPr>
          <a:xfrm>
            <a:off x="1651000" y="3505200"/>
            <a:ext cx="2032000" cy="1143000"/>
          </a:xfrm>
          <a:prstGeom prst="roundRect">
            <a:avLst/>
          </a:prstGeom>
          <a:solidFill>
            <a:srgbClr val="1552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NanumSquare"/>
                <a:ea typeface="NanumSquare"/>
              </a:rPr>
              <a:t>커널</a:t>
            </a:r>
            <a:endParaRPr lang="ko-US" sz="16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2760CE3-A5DB-324B-8714-14C2067CEE42}"/>
              </a:ext>
            </a:extLst>
          </p:cNvPr>
          <p:cNvSpPr/>
          <p:nvPr/>
        </p:nvSpPr>
        <p:spPr>
          <a:xfrm>
            <a:off x="3867826" y="3505200"/>
            <a:ext cx="6858000" cy="11430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>
                <a:solidFill>
                  <a:srgbClr val="FFFFFF"/>
                </a:solidFill>
                <a:latin typeface="NanumSquare"/>
                <a:ea typeface="NanumSquare"/>
              </a:rPr>
              <a:t>CPU · </a:t>
            </a:r>
            <a:r>
              <a:rPr lang="ko-KR" altLang="en-US" sz="1600">
                <a:solidFill>
                  <a:srgbClr val="FFFFFF"/>
                </a:solidFill>
                <a:latin typeface="NanumSquare"/>
                <a:ea typeface="NanumSquare"/>
              </a:rPr>
              <a:t>메모리 </a:t>
            </a:r>
            <a:r>
              <a:rPr lang="en-US" altLang="ko-KR" sz="1600">
                <a:solidFill>
                  <a:srgbClr val="FFFFFF"/>
                </a:solidFill>
                <a:latin typeface="NanumSquare"/>
                <a:ea typeface="NanumSquare"/>
              </a:rPr>
              <a:t>· </a:t>
            </a:r>
            <a:r>
              <a:rPr lang="ko-KR" altLang="en-US" sz="1600">
                <a:solidFill>
                  <a:srgbClr val="FFFFFF"/>
                </a:solidFill>
                <a:latin typeface="NanumSquare"/>
                <a:ea typeface="NanumSquare"/>
              </a:rPr>
              <a:t>파일 </a:t>
            </a:r>
            <a:r>
              <a:rPr lang="en-US" altLang="ko-KR" sz="1600">
                <a:solidFill>
                  <a:srgbClr val="FFFFFF"/>
                </a:solidFill>
                <a:latin typeface="NanumSquare"/>
                <a:ea typeface="NanumSquare"/>
              </a:rPr>
              <a:t>· </a:t>
            </a:r>
            <a:r>
              <a:rPr lang="ko-KR" altLang="en-US" sz="1600">
                <a:solidFill>
                  <a:srgbClr val="FFFFFF"/>
                </a:solidFill>
                <a:latin typeface="NanumSquare"/>
                <a:ea typeface="NanumSquare"/>
              </a:rPr>
              <a:t>디스크 </a:t>
            </a:r>
            <a:r>
              <a:rPr lang="en-US" altLang="ko-KR" sz="1600">
                <a:solidFill>
                  <a:srgbClr val="FFFFFF"/>
                </a:solidFill>
                <a:latin typeface="NanumSquare"/>
                <a:ea typeface="NanumSquare"/>
              </a:rPr>
              <a:t>· </a:t>
            </a:r>
            <a:r>
              <a:rPr lang="ko-KR" altLang="en-US" sz="1600">
                <a:solidFill>
                  <a:srgbClr val="FFFFFF"/>
                </a:solidFill>
                <a:latin typeface="NanumSquare"/>
                <a:ea typeface="NanumSquare"/>
              </a:rPr>
              <a:t>네트워크 </a:t>
            </a:r>
            <a:r>
              <a:rPr lang="en-US" altLang="ko-KR" sz="1600">
                <a:solidFill>
                  <a:srgbClr val="FFFFFF"/>
                </a:solidFill>
                <a:latin typeface="NanumSquare"/>
                <a:ea typeface="NanumSquare"/>
              </a:rPr>
              <a:t>· </a:t>
            </a:r>
            <a:r>
              <a:rPr lang="ko-KR" altLang="en-US" sz="1600">
                <a:solidFill>
                  <a:srgbClr val="FFFFFF"/>
                </a:solidFill>
                <a:latin typeface="NanumSquare"/>
                <a:ea typeface="NanumSquare"/>
              </a:rPr>
              <a:t>프로세스 관리</a:t>
            </a:r>
            <a:endParaRPr lang="ko-US" sz="1600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D335918-6949-3947-BB23-92B397E319AF}"/>
              </a:ext>
            </a:extLst>
          </p:cNvPr>
          <p:cNvSpPr/>
          <p:nvPr/>
        </p:nvSpPr>
        <p:spPr>
          <a:xfrm>
            <a:off x="1651000" y="5130800"/>
            <a:ext cx="2032000" cy="990600"/>
          </a:xfrm>
          <a:prstGeom prst="roundRect">
            <a:avLst/>
          </a:prstGeom>
          <a:solidFill>
            <a:srgbClr val="5C5C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NanumSquare"/>
                <a:ea typeface="NanumSquare"/>
              </a:rPr>
              <a:t>하드웨어</a:t>
            </a:r>
            <a:endParaRPr lang="ko-US" sz="16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48F0245-2DE8-C949-AA49-CFC6EFF03AC6}"/>
              </a:ext>
            </a:extLst>
          </p:cNvPr>
          <p:cNvSpPr/>
          <p:nvPr/>
        </p:nvSpPr>
        <p:spPr>
          <a:xfrm>
            <a:off x="3867826" y="5130800"/>
            <a:ext cx="6858000" cy="9906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>
                <a:solidFill>
                  <a:srgbClr val="1A1A1A"/>
                </a:solidFill>
                <a:latin typeface="NanumSquare"/>
                <a:ea typeface="NanumSquare"/>
              </a:rPr>
              <a:t>CPU · RAM · SSD · NIC · GPU</a:t>
            </a:r>
            <a:endParaRPr lang="ko-US" sz="160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0" name="아래쪽 화살표[D] 9">
            <a:extLst>
              <a:ext uri="{FF2B5EF4-FFF2-40B4-BE49-F238E27FC236}">
                <a16:creationId xmlns:a16="http://schemas.microsoft.com/office/drawing/2014/main" id="{1568D22F-8ECF-C543-A709-6CDF4327C0AA}"/>
              </a:ext>
            </a:extLst>
          </p:cNvPr>
          <p:cNvSpPr/>
          <p:nvPr/>
        </p:nvSpPr>
        <p:spPr>
          <a:xfrm>
            <a:off x="6103026" y="3022600"/>
            <a:ext cx="355600" cy="4064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아래쪽 화살표[D] 10">
            <a:extLst>
              <a:ext uri="{FF2B5EF4-FFF2-40B4-BE49-F238E27FC236}">
                <a16:creationId xmlns:a16="http://schemas.microsoft.com/office/drawing/2014/main" id="{6A53DF50-62E1-3047-9986-B190D1A55C47}"/>
              </a:ext>
            </a:extLst>
          </p:cNvPr>
          <p:cNvSpPr/>
          <p:nvPr/>
        </p:nvSpPr>
        <p:spPr>
          <a:xfrm>
            <a:off x="6103026" y="4699000"/>
            <a:ext cx="355600" cy="355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15BCD-3812-1A48-93D5-4FEE736161A6}"/>
              </a:ext>
            </a:extLst>
          </p:cNvPr>
          <p:cNvSpPr txBox="1"/>
          <p:nvPr/>
        </p:nvSpPr>
        <p:spPr>
          <a:xfrm>
            <a:off x="6611026" y="30988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6FE0"/>
                </a:solidFill>
                <a:latin typeface="NanumSquare"/>
                <a:ea typeface="NanumSquare"/>
              </a:rPr>
              <a:t>시스템 콜</a:t>
            </a:r>
            <a:endParaRPr lang="ko-US" sz="14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1A361-142A-DC49-AA7B-BD8F3E4CA2E2}"/>
              </a:ext>
            </a:extLst>
          </p:cNvPr>
          <p:cNvSpPr txBox="1"/>
          <p:nvPr/>
        </p:nvSpPr>
        <p:spPr>
          <a:xfrm>
            <a:off x="685800" y="63246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위에서 아래로 갈수록 하드웨어에 가까워진다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모든 프로그램은 커널을 거쳐야 하드웨어를 쓸 수 있다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55305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패키징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무엇이 컨테이너 안에 들어가는가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48488" y="2043684"/>
            <a:ext cx="3749040" cy="3017520"/>
          </a:xfrm>
          <a:prstGeom prst="roundRect">
            <a:avLst>
              <a:gd name="adj" fmla="val 1212"/>
            </a:avLst>
          </a:prstGeom>
          <a:ln w="12700">
            <a:solidFill>
              <a:srgbClr val="1D6FE0"/>
            </a:solidFill>
            <a:prstDash val="dash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4258216" y="211683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이미지에 포함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6608" y="2546604"/>
            <a:ext cx="3383280" cy="539496"/>
          </a:xfrm>
          <a:prstGeom prst="roundRect">
            <a:avLst>
              <a:gd name="adj" fmla="val 5882"/>
            </a:avLst>
          </a:prstGeom>
          <a:solidFill>
            <a:srgbClr val="1D6FE0"/>
          </a:solidFill>
          <a:ln w="19050">
            <a:solidFill>
              <a:srgbClr val="1D6FE0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4346608" y="2546604"/>
            <a:ext cx="338328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애플리케이션 코드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6608" y="3159252"/>
            <a:ext cx="3383280" cy="539496"/>
          </a:xfrm>
          <a:prstGeom prst="roundRect">
            <a:avLst>
              <a:gd name="adj" fmla="val 5882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4346608" y="3159252"/>
            <a:ext cx="338328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의존 라이브러리 / 패키지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6608" y="3762756"/>
            <a:ext cx="3383280" cy="539496"/>
          </a:xfrm>
          <a:prstGeom prst="roundRect">
            <a:avLst>
              <a:gd name="adj" fmla="val 5882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4346608" y="3762756"/>
            <a:ext cx="338328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언어 런타임 (Python/Node 등)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6608" y="4366260"/>
            <a:ext cx="3383280" cy="539496"/>
          </a:xfrm>
          <a:prstGeom prst="roundRect">
            <a:avLst>
              <a:gd name="adj" fmla="val 5882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4346608" y="4366260"/>
            <a:ext cx="338328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시스템 도구 · 설정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41320" y="5285232"/>
            <a:ext cx="630936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2941320" y="5285232"/>
            <a:ext cx="6309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 OS 커널 (공유)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컨테이너는 커널만 빌리고, 그 위 모든 것을 스스로 들고 다닌다.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6469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가치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컨테이너가 바꾼 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재현성: '내 PC에서 됐다'가 '모든 곳에서 된다'로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이식성: 노트북 → 데이터센터 → 클라우드, 동일 이미지로 이동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속도: 초 단위 시작, 가벼운 패키지 → 빠른 배포·확장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밀도: 한 서버에 수십~수백 컨테이너 → 자원 효율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표준화: 빌드·배포 방식이 통일 → 자동화의 토대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5가지가 모여 'DevOps'와 '쿠버네티스'가 가능해졌다.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76461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배포의 단위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CA: 배포의 단위는 '이미지(Artifact)'다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Artifact(산출물) = 빌드 과정으로 만들어진 실행 가능한 패키지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환경의 CA(Container Artifact) = '컨테이너 이미지' 그 자체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코드 + 런타임 + 라이브러리 + OS설정 + 환경변수를 통째로 박제(불변 패키지)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핵심: '실행하기 전의 정적인 상태'를 규격화한 것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기존: 서버 접속→git pull→설치→설정(환경과 배포물이 분리) ↔ 컨테이너: 이미지 1장만 전달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우리는 이제 '서버를 세팅'하지 않고, '검증된 이미지'를 배포한다.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93020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불변 인프라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Immutable Infrastructure: 고치지 말고 교체하라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이미지로 만든 배포 단위(Artifact)는 절대 수정하지 않는다는 원칙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소스를 고쳐야 한다면? 실행 중 컨테이너에 접속해 고치는 게 아니라 → 새 이미지를 만들어 '교체'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이를 통해 환경 Drift(설정 뒤틀림)를 원천 차단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VM의 고질병: 서버마다 수동 패치가 쌓여 'OS 환경이 조금씩 달라짐(Drift)'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수정(Patch)이 아니라 교체(Replace). 서버는 '애완동물'이 아니라 '가축'이 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6723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관리 대상의 변화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Pets vs Cattle: 무엇을 관리하는가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93776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93776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과거 — 서버(Pets, 애완동물)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대 한 대 정성껏 수리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죽으면 큰일 → 살려내야 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3434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상태가 제각각 → 재현 불가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50292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502920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468880"/>
            <a:ext cx="466344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— 이미지(Cattle, 가축)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063240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6492240" y="306324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생기면 버리고 새로 교체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703320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버전(v1→v2)만 관리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4343400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어디서나 100% 동일·재현 가능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패러다임 전환: '서버의 개별 상태를 관리'에서 '이미지 버전을 관리'로.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27994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재현 가능한 인프라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Reproducible Infra: 어디서나 똑같이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완벽한 복제: 이미지가 같으면 그 안에서 도는 프로세스 환경도 100% 동일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장애 대응 혁신: 운영 서버 장애 이미지를 노트북에서 그대로 실행 → 즉시 재현·디버깅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버전 관리: 이미지도 소스처럼 v1.1, v1.2 태그로 관리 → 문제 시 이전 이미지로 롤백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서버에 들어가 설정을 되돌릴 필요가 없다(불변 인프라의 실익)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 이미지 = 동일 환경. 이 공식이 컨테이너의 가장 큰 가치.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144728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· 패러다임 전환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배포 패러다임의 변화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방식 (Legacy)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서버 세팅: OS 설치·업데이트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패키지 설치: Java·Python·환경변수(꼭 한두 개 꼬임)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코드 배포: git pull 후 빌드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실행 환경과 배포물이 분리됨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82512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6702552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방식 (Container)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02552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하나: 박제된 CA만 가져옴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어디서든 실행: docker run 한 줄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환경·코드가 한 덩어리(이미지)로 이동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재현성·이식성 보장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줄 요약: 이제 '서버'를 배포하는 게 아니라, '이미지'를 배포한다.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40031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도전과제 ·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도전과제 1-1 · 컨테이너로 설명하기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868680"/>
          </a:xfrm>
          <a:prstGeom prst="roundRect">
            <a:avLst>
              <a:gd name="adj" fmla="val 6316"/>
            </a:avLst>
          </a:prstGeom>
          <a:solidFill>
            <a:srgbClr val="FBF3E2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960120" y="18470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B7791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난이도 ★☆☆    </a:t>
            </a:r>
            <a:r>
              <a:rPr lang="en-US" sz="15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비개발자 동료에게 컨테이너를 60초로 설명한다고 가정하자.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요구사항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'환경 불일치' 문제를 일상 비유(예: 이사, 도시락)로 한 문장으로 표현하기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컨테이너가 VM과 다르다는 점을 한 문장으로 예고하기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컨테이너의 핵심 가치 3가지를 키워드로 정리하기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817352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941832" y="532180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힌트  </a:t>
            </a: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비유 예) '요리(앱) + 재료·조리도구(환경)를 도시락통에 통째로 담아 어디서 열어도 같은 맛'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1799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vs 가상머신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둘 다 '격리'지만, 격리하는 층이 다르다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9590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· 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가상머신(VM)의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 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201168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01168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758952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 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34640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Guest OS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전체 운영체제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2834640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420624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Guest OS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전체 운영체제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834640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7589520" y="2834640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Guest OS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전체 운영체제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987552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8229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987552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9875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 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486400"/>
            <a:ext cx="9875520" cy="54864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98755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물리 하드웨어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VM은 게스트 OS를 통째로 복제 → 강한 격리, 그러나 무겁고 부팅이 느리다(GB·분 단위).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34174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· 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컨테이너의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108960" cy="1280160"/>
          </a:xfrm>
          <a:prstGeom prst="roundRect">
            <a:avLst>
              <a:gd name="adj" fmla="val 3571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 A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라이브러리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2194560"/>
            <a:ext cx="3108960" cy="1280160"/>
          </a:xfrm>
          <a:prstGeom prst="roundRect">
            <a:avLst>
              <a:gd name="adj" fmla="val 3571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420624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 B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라이브러리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194560"/>
            <a:ext cx="3108960" cy="1280160"/>
          </a:xfrm>
          <a:prstGeom prst="roundRect">
            <a:avLst>
              <a:gd name="adj" fmla="val 3571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758952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 C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라이브러리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9875520" cy="731520"/>
          </a:xfrm>
          <a:prstGeom prst="roundRect">
            <a:avLst>
              <a:gd name="adj" fmla="val 625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런타임 (Docker/containerd)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987552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9875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 OS 커널 (공유)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440680"/>
            <a:ext cx="9875520" cy="594360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98755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물리 하드웨어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컨테이너는 커널을 공유 → 게스트 OS가 없다. 가볍고(MB) 빠르다(초 단위).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4060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· 비교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한눈에 비교: VM vs 컨테이너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가상머신 (VM)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게스트 OS 포함 → 용량 GB 단위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부팅 수십 초~분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하이퍼바이저가 하드웨어를 가상화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커널까지 격리 → 격리 수준 강함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OS가 다른 워크로드(Windows on Linux) 가능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82512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6702552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02552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커널 공유 → 용량 MB 단위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시작 수십 ms~초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런타임이 프로세스를 격리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커널 공유 → 격리는 상대적으로 약함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호스트와 같은 커널(주로 Linux) 전제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결론: 격리 강도는 VM, 밀도·속도·이식성은 컨테이너. 실무에선 'VM 위에 컨테이너'로 함께 쓴다.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00384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93302-EB64-4F48-978D-26246632D983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02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실습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36A7C-0F39-FE42-9D5C-FE8167783D6D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직접 느껴보기</a:t>
            </a:r>
            <a:r>
              <a:rPr lang="en-US" altLang="ko-KR" sz="3200" b="1">
                <a:solidFill>
                  <a:srgbClr val="1A1A1A"/>
                </a:solidFill>
                <a:latin typeface="NanumSquare"/>
                <a:ea typeface="NanumSquare"/>
              </a:rPr>
              <a:t>: </a:t>
            </a:r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VirtualBox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로 가상머신 만들기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23AE83B-6D60-AB40-9197-1E7D6BF34B4F}"/>
              </a:ext>
            </a:extLst>
          </p:cNvPr>
          <p:cNvSpPr/>
          <p:nvPr/>
        </p:nvSpPr>
        <p:spPr>
          <a:xfrm>
            <a:off x="762000" y="1943100"/>
            <a:ext cx="457200" cy="457200"/>
          </a:xfrm>
          <a:prstGeom prst="ellipse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FFFFFF"/>
                </a:solidFill>
                <a:latin typeface="NanumSquare"/>
                <a:ea typeface="NanumSquare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46656-E5B2-3E48-9F3A-DC677020675D}"/>
              </a:ext>
            </a:extLst>
          </p:cNvPr>
          <p:cNvSpPr txBox="1"/>
          <p:nvPr/>
        </p:nvSpPr>
        <p:spPr>
          <a:xfrm>
            <a:off x="1422400" y="1854200"/>
            <a:ext cx="939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ko-KR" sz="16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VirtualBox 설치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virtualbox.org에서 내 OS용 설치파일을 받아 설치한다 (무료, Type-2 하이퍼바이저).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BC77DE8-FDBB-BD4D-83F6-F5BFFCC22DCD}"/>
              </a:ext>
            </a:extLst>
          </p:cNvPr>
          <p:cNvSpPr/>
          <p:nvPr/>
        </p:nvSpPr>
        <p:spPr>
          <a:xfrm>
            <a:off x="762000" y="2654300"/>
            <a:ext cx="457200" cy="457200"/>
          </a:xfrm>
          <a:prstGeom prst="ellipse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FFFFFF"/>
                </a:solidFill>
                <a:latin typeface="NanumSquare"/>
                <a:ea typeface="NanumSquare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9679A-FB85-2447-BAD3-C7FC26CC4096}"/>
              </a:ext>
            </a:extLst>
          </p:cNvPr>
          <p:cNvSpPr txBox="1"/>
          <p:nvPr/>
        </p:nvSpPr>
        <p:spPr>
          <a:xfrm>
            <a:off x="1422400" y="2565400"/>
            <a:ext cx="939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ko-KR" sz="16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리눅스 ISO 준비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Ubuntu 등 배포판의 ISO 이미지를 내려받는다.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23C4137-AFA2-414D-8278-69C8A29E4D53}"/>
              </a:ext>
            </a:extLst>
          </p:cNvPr>
          <p:cNvSpPr/>
          <p:nvPr/>
        </p:nvSpPr>
        <p:spPr>
          <a:xfrm>
            <a:off x="762000" y="3365500"/>
            <a:ext cx="457200" cy="457200"/>
          </a:xfrm>
          <a:prstGeom prst="ellipse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FFFFFF"/>
                </a:solidFill>
                <a:latin typeface="NanumSquare"/>
                <a:ea typeface="NanumSquare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69C5F-D5CB-CA42-8090-679174D97A36}"/>
              </a:ext>
            </a:extLst>
          </p:cNvPr>
          <p:cNvSpPr txBox="1"/>
          <p:nvPr/>
        </p:nvSpPr>
        <p:spPr>
          <a:xfrm>
            <a:off x="1422400" y="3276600"/>
            <a:ext cx="939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ko-KR" sz="16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새 가상머신 생성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이름 · OS 종류 · CPU · 메모리(RAM) · 가상 디스크 용량을 지정한다.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822ECDE-FE4E-9749-9218-0912E7322D97}"/>
              </a:ext>
            </a:extLst>
          </p:cNvPr>
          <p:cNvSpPr/>
          <p:nvPr/>
        </p:nvSpPr>
        <p:spPr>
          <a:xfrm>
            <a:off x="762000" y="4076700"/>
            <a:ext cx="457200" cy="457200"/>
          </a:xfrm>
          <a:prstGeom prst="ellipse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FFFFFF"/>
                </a:solidFill>
                <a:latin typeface="NanumSquare"/>
                <a:ea typeface="NanumSquare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6485E-6D47-0345-AEC8-E66338936CA2}"/>
              </a:ext>
            </a:extLst>
          </p:cNvPr>
          <p:cNvSpPr txBox="1"/>
          <p:nvPr/>
        </p:nvSpPr>
        <p:spPr>
          <a:xfrm>
            <a:off x="1422400" y="3987800"/>
            <a:ext cx="939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ko-KR" sz="16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ISO로 부팅해 OS 설치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가상 디스크에 게스트 OS를 처음부터 설치한다.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568A228-4F8E-9741-B2C7-47DE410E7FE0}"/>
              </a:ext>
            </a:extLst>
          </p:cNvPr>
          <p:cNvSpPr/>
          <p:nvPr/>
        </p:nvSpPr>
        <p:spPr>
          <a:xfrm>
            <a:off x="762000" y="4787900"/>
            <a:ext cx="457200" cy="457200"/>
          </a:xfrm>
          <a:prstGeom prst="ellipse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FFFFFF"/>
                </a:solidFill>
                <a:latin typeface="NanumSquare"/>
                <a:ea typeface="NanumSquare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73972-F803-F644-8495-2C5043844268}"/>
              </a:ext>
            </a:extLst>
          </p:cNvPr>
          <p:cNvSpPr txBox="1"/>
          <p:nvPr/>
        </p:nvSpPr>
        <p:spPr>
          <a:xfrm>
            <a:off x="1422400" y="4699000"/>
            <a:ext cx="939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ko-KR" sz="16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게스트 OS 부팅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buNone/>
            </a:pPr>
            <a:r>
              <a:rPr lang="ko-KR" sz="13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독립된 컴퓨터 한 대가 내 창 안에서 켜지는 것을 직접 본다.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7E4F0F0-C58B-7E42-B202-B620D8E765F8}"/>
              </a:ext>
            </a:extLst>
          </p:cNvPr>
          <p:cNvSpPr/>
          <p:nvPr/>
        </p:nvSpPr>
        <p:spPr>
          <a:xfrm>
            <a:off x="685800" y="5537200"/>
            <a:ext cx="10820400" cy="6096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느낄 포인트 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: 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게스트 </a:t>
            </a:r>
            <a:r>
              <a:rPr lang="en" sz="1400" b="1" dirty="0">
                <a:solidFill>
                  <a:srgbClr val="FFFFFF"/>
                </a:solidFill>
                <a:latin typeface="NanumSquare"/>
                <a:ea typeface="NanumSquare"/>
              </a:rPr>
              <a:t>OS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가 통째로 부팅된다 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— 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용량 </a:t>
            </a:r>
            <a:r>
              <a:rPr lang="en" sz="1400" b="1" dirty="0">
                <a:solidFill>
                  <a:srgbClr val="FFFFFF"/>
                </a:solidFill>
                <a:latin typeface="NanumSquare"/>
                <a:ea typeface="NanumSquare"/>
              </a:rPr>
              <a:t>GB, 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부팅 수십 초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. 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다음 슬라이드의 ‘</a:t>
            </a:r>
            <a:r>
              <a:rPr lang="en" sz="1400" b="1" dirty="0">
                <a:solidFill>
                  <a:srgbClr val="FFFFFF"/>
                </a:solidFill>
                <a:latin typeface="NanumSquare"/>
                <a:ea typeface="NanumSquare"/>
              </a:rPr>
              <a:t>VM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은 </a:t>
            </a:r>
            <a:r>
              <a:rPr lang="ko-KR" altLang="en-US" sz="1400" b="1" dirty="0" err="1">
                <a:solidFill>
                  <a:srgbClr val="FFFFFF"/>
                </a:solidFill>
                <a:latin typeface="NanumSquare"/>
                <a:ea typeface="NanumSquare"/>
              </a:rPr>
              <a:t>무겁다’를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 몸으로 이해하는 순간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.</a:t>
            </a:r>
            <a:endParaRPr lang="ko-US" sz="1400" b="1" dirty="0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7F391-8F06-584F-B96C-3B6F25F3CEDC}"/>
              </a:ext>
            </a:extLst>
          </p:cNvPr>
          <p:cNvSpPr txBox="1"/>
          <p:nvPr/>
        </p:nvSpPr>
        <p:spPr>
          <a:xfrm>
            <a:off x="685800" y="64135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VirtualBox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는 무료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Type-2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하이퍼바이저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내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PC(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호스트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OS)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위에 또 하나의 컴퓨터를 띄운다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232828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 실습 환경 구성도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3200400" y="2468880"/>
            <a:ext cx="1005840" cy="96012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 flipH="1">
            <a:off x="5440680" y="3749040"/>
            <a:ext cx="411480" cy="274320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5852160" y="3749040"/>
            <a:ext cx="2788920" cy="274320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2377440" cy="1005840"/>
          </a:xfrm>
          <a:prstGeom prst="roundRect">
            <a:avLst>
              <a:gd name="adj" fmla="val 4545"/>
            </a:avLst>
          </a:prstGeom>
          <a:solidFill>
            <a:srgbClr val="F0F5FC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 노트북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터미널/브라우저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2103120"/>
            <a:ext cx="71323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3931920" y="2103120"/>
            <a:ext cx="713232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228600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42062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Linux VM (Ubuntu)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017520"/>
            <a:ext cx="2926080" cy="731520"/>
          </a:xfrm>
          <a:prstGeom prst="roundRect">
            <a:avLst>
              <a:gd name="adj" fmla="val 625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 Engine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4023360"/>
            <a:ext cx="2103120" cy="822960"/>
          </a:xfrm>
          <a:prstGeom prst="roundRect">
            <a:avLst>
              <a:gd name="adj" fmla="val 5556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6" name="Text 14"/>
          <p:cNvSpPr/>
          <p:nvPr/>
        </p:nvSpPr>
        <p:spPr>
          <a:xfrm>
            <a:off x="438912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nginx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:80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023360"/>
            <a:ext cx="2103120" cy="822960"/>
          </a:xfrm>
          <a:prstGeom prst="roundRect">
            <a:avLst>
              <a:gd name="adj" fmla="val 5556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8" name="Text 16"/>
          <p:cNvSpPr/>
          <p:nvPr/>
        </p:nvSpPr>
        <p:spPr>
          <a:xfrm>
            <a:off x="7589520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:8000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23260" y="2802636"/>
            <a:ext cx="9601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SSH/HTTP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물리 PC → VM → Docker → 컨테이너. 쿠버네티스 노드도 결국 이 구조 위에 얹힌다.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1058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2DBE61-3E17-1649-B42E-EE9D6346DA53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02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실습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364F2-115C-5C4B-944D-D8309DBF7C32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Windows PC 위에 도커까지 쌓기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FC9AA57-21E8-8347-B05D-6BB8D0144E54}"/>
              </a:ext>
            </a:extLst>
          </p:cNvPr>
          <p:cNvSpPr/>
          <p:nvPr/>
        </p:nvSpPr>
        <p:spPr>
          <a:xfrm>
            <a:off x="1143000" y="1727200"/>
            <a:ext cx="9906000" cy="42926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05D17-6351-B642-8495-0B98C09B766F}"/>
              </a:ext>
            </a:extLst>
          </p:cNvPr>
          <p:cNvSpPr txBox="1"/>
          <p:nvPr/>
        </p:nvSpPr>
        <p:spPr>
          <a:xfrm>
            <a:off x="1320800" y="1816100"/>
            <a:ext cx="9550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ko-KR" sz="15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Windows PC (하드웨어 + Windows 커널)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2866BF5-B970-DC47-8AE7-D2FD542CEBFD}"/>
              </a:ext>
            </a:extLst>
          </p:cNvPr>
          <p:cNvSpPr/>
          <p:nvPr/>
        </p:nvSpPr>
        <p:spPr>
          <a:xfrm>
            <a:off x="1422400" y="2184400"/>
            <a:ext cx="9347200" cy="3759200"/>
          </a:xfrm>
          <a:prstGeom prst="roundRect">
            <a:avLst/>
          </a:prstGeom>
          <a:solidFill>
            <a:srgbClr val="E5E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916C7-5DEC-4A48-AE44-FBF0C24BB865}"/>
              </a:ext>
            </a:extLst>
          </p:cNvPr>
          <p:cNvSpPr txBox="1"/>
          <p:nvPr/>
        </p:nvSpPr>
        <p:spPr>
          <a:xfrm>
            <a:off x="1600200" y="2273300"/>
            <a:ext cx="8991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500" b="1">
                <a:solidFill>
                  <a:srgbClr val="1552A8"/>
                </a:solidFill>
                <a:latin typeface="NanumSquare"/>
                <a:ea typeface="NanumSquare"/>
              </a:rPr>
              <a:t>VirtualBox  ·  Type-2 </a:t>
            </a:r>
            <a:r>
              <a:rPr lang="ko-KR" altLang="en-US" sz="1500" b="1">
                <a:solidFill>
                  <a:srgbClr val="1552A8"/>
                </a:solidFill>
                <a:latin typeface="NanumSquare"/>
                <a:ea typeface="NanumSquare"/>
              </a:rPr>
              <a:t>하이퍼바이저</a:t>
            </a:r>
            <a:endParaRPr lang="ko-US" sz="1500" b="1">
              <a:solidFill>
                <a:srgbClr val="1552A8"/>
              </a:solidFill>
              <a:latin typeface="NanumSquare"/>
              <a:ea typeface="NanumSquare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A1424D0-CFDB-0C46-B45A-9B29119F4C59}"/>
              </a:ext>
            </a:extLst>
          </p:cNvPr>
          <p:cNvSpPr/>
          <p:nvPr/>
        </p:nvSpPr>
        <p:spPr>
          <a:xfrm>
            <a:off x="1701800" y="2616200"/>
            <a:ext cx="8788400" cy="32512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B603B-F9BC-F046-854A-5199F2E0F853}"/>
              </a:ext>
            </a:extLst>
          </p:cNvPr>
          <p:cNvSpPr txBox="1"/>
          <p:nvPr/>
        </p:nvSpPr>
        <p:spPr>
          <a:xfrm>
            <a:off x="1879600" y="2705100"/>
            <a:ext cx="84328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C0512A"/>
                </a:solidFill>
                <a:latin typeface="NanumSquare"/>
                <a:ea typeface="NanumSquare"/>
              </a:rPr>
              <a:t>우분투 </a:t>
            </a:r>
            <a:r>
              <a:rPr lang="en" sz="1500" b="1">
                <a:solidFill>
                  <a:srgbClr val="C0512A"/>
                </a:solidFill>
                <a:latin typeface="NanumSquare"/>
                <a:ea typeface="NanumSquare"/>
              </a:rPr>
              <a:t>VM  ·  </a:t>
            </a:r>
            <a:r>
              <a:rPr lang="ko-KR" altLang="en-US" sz="1500" b="1">
                <a:solidFill>
                  <a:srgbClr val="C0512A"/>
                </a:solidFill>
                <a:latin typeface="NanumSquare"/>
                <a:ea typeface="NanumSquare"/>
              </a:rPr>
              <a:t>리눅스 커널 </a:t>
            </a:r>
            <a:r>
              <a:rPr lang="en-US" altLang="ko-KR" sz="1500" b="1">
                <a:solidFill>
                  <a:srgbClr val="C0512A"/>
                </a:solidFill>
                <a:latin typeface="NanumSquare"/>
                <a:ea typeface="NanumSquare"/>
              </a:rPr>
              <a:t>(</a:t>
            </a:r>
            <a:r>
              <a:rPr lang="ko-KR" altLang="en-US" sz="1500" b="1">
                <a:solidFill>
                  <a:srgbClr val="C0512A"/>
                </a:solidFill>
                <a:latin typeface="NanumSquare"/>
                <a:ea typeface="NanumSquare"/>
              </a:rPr>
              <a:t>자체 부팅</a:t>
            </a:r>
            <a:r>
              <a:rPr lang="en-US" altLang="ko-KR" sz="1500" b="1">
                <a:solidFill>
                  <a:srgbClr val="C0512A"/>
                </a:solidFill>
                <a:latin typeface="NanumSquare"/>
                <a:ea typeface="NanumSquare"/>
              </a:rPr>
              <a:t>)</a:t>
            </a:r>
            <a:endParaRPr lang="ko-US" sz="15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2A41E08-D3FC-1844-81A1-56A3C47E6882}"/>
              </a:ext>
            </a:extLst>
          </p:cNvPr>
          <p:cNvSpPr/>
          <p:nvPr/>
        </p:nvSpPr>
        <p:spPr>
          <a:xfrm>
            <a:off x="1981200" y="3048000"/>
            <a:ext cx="8229600" cy="27432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6204D-5CD4-DD4F-9961-F6BD9240E567}"/>
              </a:ext>
            </a:extLst>
          </p:cNvPr>
          <p:cNvSpPr txBox="1"/>
          <p:nvPr/>
        </p:nvSpPr>
        <p:spPr>
          <a:xfrm>
            <a:off x="2159000" y="31369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500" b="1">
                <a:solidFill>
                  <a:srgbClr val="1565A0"/>
                </a:solidFill>
                <a:latin typeface="NanumSquare"/>
                <a:ea typeface="NanumSquare"/>
              </a:rPr>
              <a:t>Docker Engine</a:t>
            </a:r>
            <a:endParaRPr lang="ko-US" sz="15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56310EB-3DA9-184C-B5D8-2724812BEA02}"/>
              </a:ext>
            </a:extLst>
          </p:cNvPr>
          <p:cNvSpPr/>
          <p:nvPr/>
        </p:nvSpPr>
        <p:spPr>
          <a:xfrm>
            <a:off x="8382000" y="3073400"/>
            <a:ext cx="1651000" cy="304800"/>
          </a:xfrm>
          <a:prstGeom prst="roundRect">
            <a:avLst/>
          </a:prstGeom>
          <a:solidFill>
            <a:srgbClr val="2496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  <a:latin typeface="NanumSquare"/>
                <a:ea typeface="NanumSquare"/>
              </a:rPr>
              <a:t>← 지금 설치하는 단계</a:t>
            </a:r>
            <a:endParaRPr lang="ko-US" sz="11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8753030-8B9F-2245-A332-A2CB0675B259}"/>
              </a:ext>
            </a:extLst>
          </p:cNvPr>
          <p:cNvSpPr/>
          <p:nvPr/>
        </p:nvSpPr>
        <p:spPr>
          <a:xfrm>
            <a:off x="2095500" y="3632200"/>
            <a:ext cx="24892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B6A7C5-F4C5-1545-854B-E2A18A02F07B}"/>
              </a:ext>
            </a:extLst>
          </p:cNvPr>
          <p:cNvSpPr txBox="1"/>
          <p:nvPr/>
        </p:nvSpPr>
        <p:spPr>
          <a:xfrm>
            <a:off x="2298700" y="3632200"/>
            <a:ext cx="2184400" cy="180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컨테이너 </a:t>
            </a:r>
            <a:r>
              <a:rPr lang="en" sz="1400" b="1">
                <a:solidFill>
                  <a:srgbClr val="1A1A1A"/>
                </a:solidFill>
                <a:latin typeface="NanumSquare"/>
                <a:ea typeface="NanumSquare"/>
              </a:rPr>
              <a:t>A
nginx (</a:t>
            </a:r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웹서버</a:t>
            </a:r>
            <a:r>
              <a:rPr lang="en-US" altLang="ko-KR" sz="1400" b="1">
                <a:solidFill>
                  <a:srgbClr val="1A1A1A"/>
                </a:solidFill>
                <a:latin typeface="NanumSquare"/>
                <a:ea typeface="NanumSquare"/>
              </a:rPr>
              <a:t>)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A61B15D-FFF0-784B-B1BF-271C4A171CB3}"/>
              </a:ext>
            </a:extLst>
          </p:cNvPr>
          <p:cNvSpPr/>
          <p:nvPr/>
        </p:nvSpPr>
        <p:spPr>
          <a:xfrm>
            <a:off x="4851400" y="3632200"/>
            <a:ext cx="24892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0C4B9B-CADB-7949-9A13-4A7034976440}"/>
              </a:ext>
            </a:extLst>
          </p:cNvPr>
          <p:cNvSpPr txBox="1"/>
          <p:nvPr/>
        </p:nvSpPr>
        <p:spPr>
          <a:xfrm>
            <a:off x="5054600" y="3632200"/>
            <a:ext cx="2184400" cy="180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컨테이너 </a:t>
            </a:r>
            <a:r>
              <a:rPr lang="en" sz="1400" b="1">
                <a:solidFill>
                  <a:srgbClr val="1A1A1A"/>
                </a:solidFill>
                <a:latin typeface="NanumSquare"/>
                <a:ea typeface="NanumSquare"/>
              </a:rPr>
              <a:t>B
Python </a:t>
            </a:r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앱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F13DA9F-F229-CA43-A9F1-37556B7C6D42}"/>
              </a:ext>
            </a:extLst>
          </p:cNvPr>
          <p:cNvSpPr/>
          <p:nvPr/>
        </p:nvSpPr>
        <p:spPr>
          <a:xfrm>
            <a:off x="7607300" y="3632200"/>
            <a:ext cx="24892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AC3A13-F8B0-784D-A384-1E0C264D5D92}"/>
              </a:ext>
            </a:extLst>
          </p:cNvPr>
          <p:cNvSpPr txBox="1"/>
          <p:nvPr/>
        </p:nvSpPr>
        <p:spPr>
          <a:xfrm>
            <a:off x="7810500" y="3632200"/>
            <a:ext cx="2184400" cy="180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컨테이너 </a:t>
            </a:r>
            <a:r>
              <a:rPr lang="en" sz="1400" b="1">
                <a:solidFill>
                  <a:srgbClr val="1A1A1A"/>
                </a:solidFill>
                <a:latin typeface="NanumSquare"/>
                <a:ea typeface="NanumSquare"/>
              </a:rPr>
              <a:t>C
PostgreSQL (DB)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B68205-CD15-7949-A26C-5B708579C336}"/>
              </a:ext>
            </a:extLst>
          </p:cNvPr>
          <p:cNvSpPr txBox="1"/>
          <p:nvPr/>
        </p:nvSpPr>
        <p:spPr>
          <a:xfrm>
            <a:off x="685800" y="63754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컨테이너는 우분투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VM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의 리눅스 커널을 공유한다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VM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은 자기 커널을 부팅하고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그 위 컨테이너들은 그 커널을 빌려 쓴다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408245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· 선택 기준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언제 무엇을 쓰는가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강한 보안 격리 / 다른 OS 커널이 필요 → VM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빠른 배포 · 높은 밀도 · 마이크로서비스 → 컨테이너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실무 표준: 클라우드 VM(또는 베어메탈) 위에 컨테이너를 올리고, 쿠버네티스로 관리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둘은 경쟁이 아니라 '계층'이다 — 하드웨어 → VM → 컨테이너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 노드 자체가 보통 VM이다. 그 위에서 컨테이너(Pod)가 돈다.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244867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핵심 기술: Namespace &amp; cgroups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마법이 아니다 — 리눅스 커널의 기능이 격리를 만든다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53016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실체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컨테이너의 실체 = 격리된 '프로세스' 하나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새 컴퓨터를 부팅하는 게 아니라, 켜져 있는 호스트에서 '특수한 벽'을 가진 프로세스를 하나 더 실행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생존 조건: 컨테이너 메인 프로세스(PID 1)가 살아있는 동안만 '실행 중(Up)'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사멸 조건: PID 1이 종료/완료되면 컨테이너는 즉시 '종료(Exited)'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예) docker run ubuntu echo "hi" → 출력하고 곧바로 종료(할 일이 끝났으니까)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웹서버 컨테이너=nginx가 죽으면 컨테이너도 죽음. VM(systemd 상주)과 근본적으로 다른 점.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155408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큰 그림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격리는 두 축으로 이루어진다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Namespace: '무엇을 볼 수 있는가'를 격리 (시야 격리)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cgroups: '얼마나 쓸 수 있는가'를 제한 (자원 격리)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= Namespace(격리된 시야) + cgroups(제한된 자원) + 파일시스템(이미지)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특별한 가상화가 아니라, 호스트 커널의 기능을 조합한 '프로세스'일 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슬라이드 한 장이 컨테이너 기술의 핵심이다.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328809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격리의 뿌리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chroot: '가짜 뿌리'를 내리다 (격리의 시작)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chroot(Change Root): 프로세스가 보는 루트 디렉터리(/)를 특정 폴더로 바꾸는 기술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원리: 프로세스에게 '너의 세상은 여기서부터'라고 속여, 지정 폴더 밖 파일시스템을 못 보게 가둠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한계: 파일시스템만 격리할 뿐 네트워크·프로세스 정보는 여전히 공유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한계를 넘어서기 위해 Namespace(시야 격리)가 등장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격리 = chroot(뿌리) + Namespace(시야) + cgroups(자원)의 조합.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94748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Namespace: 격리된 '나만의 세상'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프로세스에게 시스템 자원을 독립적으로 보이게 하는 커널 기능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PID namespace: 컨테이너 안에선 자기 프로세스가 PID 1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NET namespace: 독립된 네트워크 인터페이스·IP·포트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MNT namespace: 독립된 파일시스템 마운트 뷰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UTS / IPC / USER namespace: 호스트명 · 통신 · 사용자 격리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안에서 ps를 쳐도 호스트의 다른 프로세스가 보이지 않는 이유.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806663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커널, 다른 시야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23160" y="4572000"/>
            <a:ext cx="3657600" cy="5486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6080760" y="4572000"/>
            <a:ext cx="914" cy="5486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 flipH="1">
            <a:off x="6080760" y="4572000"/>
            <a:ext cx="3657600" cy="5486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3657600" y="5120640"/>
            <a:ext cx="48463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365760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공유되는 단일 리눅스 커널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3200400" cy="2468880"/>
          </a:xfrm>
          <a:prstGeom prst="roundRect">
            <a:avLst>
              <a:gd name="adj" fmla="val 1852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2004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A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PID 1 = nginx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자기만의 IP/마운트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103120"/>
            <a:ext cx="3200400" cy="2468880"/>
          </a:xfrm>
          <a:prstGeom prst="roundRect">
            <a:avLst>
              <a:gd name="adj" fmla="val 1852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32004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B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PID 1 = python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자기만의 IP/마운트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200400" cy="2468880"/>
          </a:xfrm>
          <a:prstGeom prst="roundRect">
            <a:avLst>
              <a:gd name="adj" fmla="val 1852"/>
            </a:avLst>
          </a:prstGeom>
          <a:solidFill>
            <a:srgbClr val="F0F5FC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8138160" y="2103120"/>
            <a:ext cx="32004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 시야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모든 PID가 보임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Namespace는 '보이는 범위'를 자른다. 커널은 하나지만 컨테이너마다 다른 세상을 본다.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86392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cgroups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cgroups: 자원 사용의 '상한선'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 groups — 프로세스 그룹의 CPU·메모리·I/O 사용량을 제한·측정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메모리 제한: 한 컨테이너가 RAM을 독차지하지 못하게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CPU 제한: CPU 점유율·코어 수 상한 설정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초과 시 OOM Kill(메모리) 또는 throttling(CPU)으로 통제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쿠버네티스의 requests/limits가 결국 cgroups로 적용된다(4일차 연결)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Namespace가 '시야', cgroups가 '한도'. 둘이 합쳐져 안전한 멀티테넌시가 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49544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· cgroups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자원을 나눠 갖기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H="1">
            <a:off x="2381362" y="2286000"/>
            <a:ext cx="1641998" cy="667512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 flipH="1">
            <a:off x="6080760" y="2651760"/>
            <a:ext cx="0" cy="45720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8138160" y="2286000"/>
            <a:ext cx="1385218" cy="667512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6080760" y="4572000"/>
            <a:ext cx="914" cy="36576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>
            <a:off x="4023360" y="192024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4114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 자원 (예: 8 CPU / 16GB)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32918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A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limit: 2 CPU / 4GB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310896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4434840" y="3108960"/>
            <a:ext cx="32918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B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limit: 1 CPU / 2GB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108960"/>
            <a:ext cx="3291840" cy="1463040"/>
          </a:xfrm>
          <a:prstGeom prst="roundRect">
            <a:avLst>
              <a:gd name="adj" fmla="val 3125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8046720" y="3108960"/>
            <a:ext cx="32918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C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limit: 1 CPU / 1GB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493776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4434840" y="4937760"/>
            <a:ext cx="3291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초과 → OOM Kill / Throttle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cgroups가 없으면 한 컨테이너의 폭주가 전체 호스트를 마비시킨다.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72822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9DCC9-8B0B-AC49-9056-2D495C2AB0E3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03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도커 문법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A617E-EC6D-4D44-B5A7-C7C6A023B38D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컨테이너 실습을 위한 도커 기본 문법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55BD37-9456-A442-9675-BE6281E331F4}"/>
              </a:ext>
            </a:extLst>
          </p:cNvPr>
          <p:cNvSpPr txBox="1"/>
          <p:nvPr/>
        </p:nvSpPr>
        <p:spPr>
          <a:xfrm>
            <a:off x="685800" y="15240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Consolas"/>
                <a:cs typeface="Consolas"/>
              </a:rPr>
              <a:t>기본 형태 </a:t>
            </a:r>
            <a:r>
              <a:rPr lang="en-US" altLang="ko-KR" sz="1300">
                <a:solidFill>
                  <a:srgbClr val="5C5C5C"/>
                </a:solidFill>
                <a:latin typeface="Consolas"/>
                <a:cs typeface="Consolas"/>
              </a:rPr>
              <a:t>—  </a:t>
            </a:r>
            <a:r>
              <a:rPr lang="en" sz="1300">
                <a:solidFill>
                  <a:srgbClr val="5C5C5C"/>
                </a:solidFill>
                <a:latin typeface="Consolas"/>
                <a:cs typeface="Consolas"/>
              </a:rPr>
              <a:t>docker [</a:t>
            </a:r>
            <a:r>
              <a:rPr lang="ko-KR" altLang="en-US" sz="1300">
                <a:solidFill>
                  <a:srgbClr val="5C5C5C"/>
                </a:solidFill>
                <a:latin typeface="Consolas"/>
                <a:cs typeface="Consolas"/>
              </a:rPr>
              <a:t>명령</a:t>
            </a:r>
            <a:r>
              <a:rPr lang="en-US" altLang="ko-KR" sz="1300">
                <a:solidFill>
                  <a:srgbClr val="5C5C5C"/>
                </a:solidFill>
                <a:latin typeface="Consolas"/>
                <a:cs typeface="Consolas"/>
              </a:rPr>
              <a:t>] [</a:t>
            </a:r>
            <a:r>
              <a:rPr lang="ko-KR" altLang="en-US" sz="1300">
                <a:solidFill>
                  <a:srgbClr val="5C5C5C"/>
                </a:solidFill>
                <a:latin typeface="Consolas"/>
                <a:cs typeface="Consolas"/>
              </a:rPr>
              <a:t>옵션</a:t>
            </a:r>
            <a:r>
              <a:rPr lang="en-US" altLang="ko-KR" sz="1300">
                <a:solidFill>
                  <a:srgbClr val="5C5C5C"/>
                </a:solidFill>
                <a:latin typeface="Consolas"/>
                <a:cs typeface="Consolas"/>
              </a:rPr>
              <a:t>] [</a:t>
            </a:r>
            <a:r>
              <a:rPr lang="ko-KR" altLang="en-US" sz="1300">
                <a:solidFill>
                  <a:srgbClr val="5C5C5C"/>
                </a:solidFill>
                <a:latin typeface="Consolas"/>
                <a:cs typeface="Consolas"/>
              </a:rPr>
              <a:t>이미지 또는 컨테이너</a:t>
            </a:r>
            <a:r>
              <a:rPr lang="en-US" altLang="ko-KR" sz="1300">
                <a:solidFill>
                  <a:srgbClr val="5C5C5C"/>
                </a:solidFill>
                <a:latin typeface="Consolas"/>
                <a:cs typeface="Consolas"/>
              </a:rPr>
              <a:t>]</a:t>
            </a:r>
            <a:endParaRPr lang="ko-US" sz="1300">
              <a:solidFill>
                <a:srgbClr val="5C5C5C"/>
              </a:solidFill>
              <a:cs typeface="Consolas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504D0F2-81CA-2C40-A40A-DDC4C60C617C}"/>
              </a:ext>
            </a:extLst>
          </p:cNvPr>
          <p:cNvSpPr/>
          <p:nvPr/>
        </p:nvSpPr>
        <p:spPr>
          <a:xfrm>
            <a:off x="685800" y="1981200"/>
            <a:ext cx="3403600" cy="32258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0EEBE-79D0-624F-8A54-FAED7292B44A}"/>
              </a:ext>
            </a:extLst>
          </p:cNvPr>
          <p:cNvSpPr txBox="1"/>
          <p:nvPr/>
        </p:nvSpPr>
        <p:spPr>
          <a:xfrm>
            <a:off x="889000" y="21590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565A0"/>
                </a:solidFill>
                <a:latin typeface="NanumSquare"/>
                <a:ea typeface="NanumSquare"/>
              </a:rPr>
              <a:t>이미지 다루기</a:t>
            </a:r>
            <a:endParaRPr lang="ko-US" sz="15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F1847-A18A-D045-9F88-FD4EBE82B11F}"/>
              </a:ext>
            </a:extLst>
          </p:cNvPr>
          <p:cNvSpPr txBox="1"/>
          <p:nvPr/>
        </p:nvSpPr>
        <p:spPr>
          <a:xfrm>
            <a:off x="889000" y="2565400"/>
            <a:ext cx="30226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565A0"/>
                </a:solidFill>
                <a:latin typeface="Consolas"/>
                <a:cs typeface="Consolas"/>
              </a:rPr>
              <a:t>docker pull &lt;이미지&gt;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레지스트리에서 이미지 받기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565A0"/>
                </a:solidFill>
                <a:latin typeface="Consolas"/>
                <a:cs typeface="Consolas"/>
              </a:rPr>
              <a:t>docker images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받은 이미지 목록 보기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565A0"/>
                </a:solidFill>
                <a:latin typeface="Consolas"/>
                <a:cs typeface="Consolas"/>
              </a:rPr>
              <a:t>docker rmi &lt;이미지&gt;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이미지 삭제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1C39666-CFD1-6B49-897C-FA55014704CB}"/>
              </a:ext>
            </a:extLst>
          </p:cNvPr>
          <p:cNvSpPr/>
          <p:nvPr/>
        </p:nvSpPr>
        <p:spPr>
          <a:xfrm>
            <a:off x="4394200" y="1981200"/>
            <a:ext cx="3403600" cy="32258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B7ADA-FC46-1342-A988-564B9AF591E1}"/>
              </a:ext>
            </a:extLst>
          </p:cNvPr>
          <p:cNvSpPr txBox="1"/>
          <p:nvPr/>
        </p:nvSpPr>
        <p:spPr>
          <a:xfrm>
            <a:off x="4597400" y="21590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C0512A"/>
                </a:solidFill>
                <a:latin typeface="NanumSquare"/>
                <a:ea typeface="NanumSquare"/>
              </a:rPr>
              <a:t>컨테이너 실행</a:t>
            </a:r>
            <a:r>
              <a:rPr lang="en-US" altLang="ko-KR" sz="1500" b="1">
                <a:solidFill>
                  <a:srgbClr val="C0512A"/>
                </a:solidFill>
                <a:latin typeface="NanumSquare"/>
                <a:ea typeface="NanumSquare"/>
              </a:rPr>
              <a:t>·</a:t>
            </a:r>
            <a:r>
              <a:rPr lang="ko-KR" altLang="en-US" sz="1500" b="1">
                <a:solidFill>
                  <a:srgbClr val="C0512A"/>
                </a:solidFill>
                <a:latin typeface="NanumSquare"/>
                <a:ea typeface="NanumSquare"/>
              </a:rPr>
              <a:t>관리</a:t>
            </a:r>
            <a:endParaRPr lang="ko-US" sz="15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B8977-C4C4-E842-AC00-35623876C00B}"/>
              </a:ext>
            </a:extLst>
          </p:cNvPr>
          <p:cNvSpPr txBox="1"/>
          <p:nvPr/>
        </p:nvSpPr>
        <p:spPr>
          <a:xfrm>
            <a:off x="4597400" y="2565400"/>
            <a:ext cx="30226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0512A"/>
                </a:solidFill>
                <a:latin typeface="Consolas"/>
                <a:cs typeface="Consolas"/>
              </a:rPr>
              <a:t>docker run &lt;이미지&gt;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이미지로 새 컨테이너 실행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0512A"/>
                </a:solidFill>
                <a:latin typeface="Consolas"/>
                <a:cs typeface="Consolas"/>
              </a:rPr>
              <a:t>docker ps  (ps -a)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실행 중(전체) 컨테이너 목록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0512A"/>
                </a:solidFill>
                <a:latin typeface="Consolas"/>
                <a:cs typeface="Consolas"/>
              </a:rPr>
              <a:t>docker stop / start / rm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정지 · 재시작 · 삭제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89CAF52-415E-5E45-8AF0-A21F53E294C5}"/>
              </a:ext>
            </a:extLst>
          </p:cNvPr>
          <p:cNvSpPr/>
          <p:nvPr/>
        </p:nvSpPr>
        <p:spPr>
          <a:xfrm>
            <a:off x="8102600" y="1981200"/>
            <a:ext cx="3403600" cy="32258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BAE46-CA7B-3B46-A391-E1B94ECDD45F}"/>
              </a:ext>
            </a:extLst>
          </p:cNvPr>
          <p:cNvSpPr txBox="1"/>
          <p:nvPr/>
        </p:nvSpPr>
        <p:spPr>
          <a:xfrm>
            <a:off x="8305800" y="21590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2E7D5B"/>
                </a:solidFill>
                <a:latin typeface="NanumSquare"/>
                <a:ea typeface="NanumSquare"/>
              </a:rPr>
              <a:t>안을 들여다보기</a:t>
            </a:r>
            <a:endParaRPr lang="ko-US" sz="15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2320AB-F983-D84B-B4BA-4208C7738303}"/>
              </a:ext>
            </a:extLst>
          </p:cNvPr>
          <p:cNvSpPr txBox="1"/>
          <p:nvPr/>
        </p:nvSpPr>
        <p:spPr>
          <a:xfrm>
            <a:off x="8305800" y="2565400"/>
            <a:ext cx="30226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onsolas"/>
                <a:cs typeface="Consolas"/>
              </a:rPr>
              <a:t>docker logs &lt;컨테이너&gt;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컨테이너 로그 확인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onsolas"/>
                <a:cs typeface="Consolas"/>
              </a:rPr>
              <a:t>docker exec -it 대상 bash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컨테이너 안으로 들어가기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7D5B"/>
                </a:solidFill>
                <a:latin typeface="Consolas"/>
                <a:cs typeface="Consolas"/>
              </a:rPr>
              <a:t>docker inspect &lt;대상&gt;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550"/>
              </a:spcAft>
              <a:buNone/>
            </a:pPr>
            <a:r>
              <a:rPr lang="ko-KR" sz="115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상세 정보 (IP·마운트 등)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48A4A34-D313-EA43-B0BD-703B39FAEF69}"/>
              </a:ext>
            </a:extLst>
          </p:cNvPr>
          <p:cNvSpPr/>
          <p:nvPr/>
        </p:nvSpPr>
        <p:spPr>
          <a:xfrm>
            <a:off x="685800" y="5334000"/>
            <a:ext cx="10820400" cy="711200"/>
          </a:xfrm>
          <a:prstGeom prst="round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7D2E4A-FF45-9147-AD8D-1959CF75D78A}"/>
              </a:ext>
            </a:extLst>
          </p:cNvPr>
          <p:cNvSpPr txBox="1"/>
          <p:nvPr/>
        </p:nvSpPr>
        <p:spPr>
          <a:xfrm>
            <a:off x="939800" y="5422900"/>
            <a:ext cx="10312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500" b="1" dirty="0">
                <a:solidFill>
                  <a:srgbClr val="FFFFFF"/>
                </a:solidFill>
                <a:latin typeface="Consolas"/>
                <a:cs typeface="Consolas"/>
              </a:rPr>
              <a:t>docker run -d -p 8080:80 --name web nginx</a:t>
            </a:r>
            <a:endParaRPr lang="ko-US" sz="1500" b="1" dirty="0">
              <a:solidFill>
                <a:srgbClr val="FFFFFF"/>
              </a:solidFill>
              <a:cs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9ECE31-AF8A-6A40-A44D-30E1EF3CD0C5}"/>
              </a:ext>
            </a:extLst>
          </p:cNvPr>
          <p:cNvSpPr txBox="1"/>
          <p:nvPr/>
        </p:nvSpPr>
        <p:spPr>
          <a:xfrm>
            <a:off x="939800" y="5727700"/>
            <a:ext cx="10312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100">
                <a:solidFill>
                  <a:srgbClr val="AAB4C0"/>
                </a:solidFill>
                <a:latin typeface="NanumSquare"/>
                <a:ea typeface="NanumSquare"/>
              </a:rPr>
              <a:t>-d </a:t>
            </a:r>
            <a:r>
              <a:rPr lang="ko-KR" altLang="en-US" sz="1100">
                <a:solidFill>
                  <a:srgbClr val="AAB4C0"/>
                </a:solidFill>
                <a:latin typeface="NanumSquare"/>
                <a:ea typeface="NanumSquare"/>
              </a:rPr>
              <a:t>백그라운드 실행  </a:t>
            </a:r>
            <a:r>
              <a:rPr lang="en-US" altLang="ko-KR" sz="1100">
                <a:solidFill>
                  <a:srgbClr val="AAB4C0"/>
                </a:solidFill>
                <a:latin typeface="NanumSquare"/>
                <a:ea typeface="NanumSquare"/>
              </a:rPr>
              <a:t>·  -</a:t>
            </a:r>
            <a:r>
              <a:rPr lang="en" sz="1100">
                <a:solidFill>
                  <a:srgbClr val="AAB4C0"/>
                </a:solidFill>
                <a:latin typeface="NanumSquare"/>
                <a:ea typeface="NanumSquare"/>
              </a:rPr>
              <a:t>p </a:t>
            </a:r>
            <a:r>
              <a:rPr lang="ko-KR" altLang="en-US" sz="1100">
                <a:solidFill>
                  <a:srgbClr val="AAB4C0"/>
                </a:solidFill>
                <a:latin typeface="NanumSquare"/>
                <a:ea typeface="NanumSquare"/>
              </a:rPr>
              <a:t>호스트</a:t>
            </a:r>
            <a:r>
              <a:rPr lang="en-US" altLang="ko-KR" sz="1100">
                <a:solidFill>
                  <a:srgbClr val="AAB4C0"/>
                </a:solidFill>
                <a:latin typeface="NanumSquare"/>
                <a:ea typeface="NanumSquare"/>
              </a:rPr>
              <a:t>:</a:t>
            </a:r>
            <a:r>
              <a:rPr lang="ko-KR" altLang="en-US" sz="1100">
                <a:solidFill>
                  <a:srgbClr val="AAB4C0"/>
                </a:solidFill>
                <a:latin typeface="NanumSquare"/>
                <a:ea typeface="NanumSquare"/>
              </a:rPr>
              <a:t>컨테이너 포트  </a:t>
            </a:r>
            <a:r>
              <a:rPr lang="en-US" altLang="ko-KR" sz="1100">
                <a:solidFill>
                  <a:srgbClr val="AAB4C0"/>
                </a:solidFill>
                <a:latin typeface="NanumSquare"/>
                <a:ea typeface="NanumSquare"/>
              </a:rPr>
              <a:t>·  --</a:t>
            </a:r>
            <a:r>
              <a:rPr lang="en" sz="1100">
                <a:solidFill>
                  <a:srgbClr val="AAB4C0"/>
                </a:solidFill>
                <a:latin typeface="NanumSquare"/>
                <a:ea typeface="NanumSquare"/>
              </a:rPr>
              <a:t>name </a:t>
            </a:r>
            <a:r>
              <a:rPr lang="ko-KR" altLang="en-US" sz="1100">
                <a:solidFill>
                  <a:srgbClr val="AAB4C0"/>
                </a:solidFill>
                <a:latin typeface="NanumSquare"/>
                <a:ea typeface="NanumSquare"/>
              </a:rPr>
              <a:t>컨테이너 이름  </a:t>
            </a:r>
            <a:r>
              <a:rPr lang="en-US" altLang="ko-KR" sz="1100">
                <a:solidFill>
                  <a:srgbClr val="AAB4C0"/>
                </a:solidFill>
                <a:latin typeface="NanumSquare"/>
                <a:ea typeface="NanumSquare"/>
              </a:rPr>
              <a:t>·  </a:t>
            </a:r>
            <a:r>
              <a:rPr lang="en" sz="1100">
                <a:solidFill>
                  <a:srgbClr val="AAB4C0"/>
                </a:solidFill>
                <a:latin typeface="NanumSquare"/>
                <a:ea typeface="NanumSquare"/>
              </a:rPr>
              <a:t>nginx </a:t>
            </a:r>
            <a:r>
              <a:rPr lang="ko-KR" altLang="en-US" sz="1100">
                <a:solidFill>
                  <a:srgbClr val="AAB4C0"/>
                </a:solidFill>
                <a:latin typeface="NanumSquare"/>
                <a:ea typeface="NanumSquare"/>
              </a:rPr>
              <a:t>사용할 이미지</a:t>
            </a:r>
            <a:endParaRPr lang="ko-US" sz="1100">
              <a:solidFill>
                <a:srgbClr val="AAB4C0"/>
              </a:solidFill>
              <a:latin typeface="NanumSquare"/>
              <a:ea typeface="NanumSquar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316516-F081-EC4C-9314-0111CCC77FB3}"/>
              </a:ext>
            </a:extLst>
          </p:cNvPr>
          <p:cNvSpPr txBox="1"/>
          <p:nvPr/>
        </p:nvSpPr>
        <p:spPr>
          <a:xfrm>
            <a:off x="685800" y="63754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이미지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=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설계도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, 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컨테이너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=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그 설계도로 찍어낸 실행 인스턴스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939468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정리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03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컨테이너는 마법이 아니라 '커널 기능의 조합'이다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Namespace = 시야 격리(PID/NET/MNT/UTS/IPC/USER)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cgroups = 자원 제한(CPU/메모리/IO)과 측정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둘이 쿠버네티스의 격리·requests/limits로 이어진다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48941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이미지 구조 이해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이미지는 '레이어의 쌓임' — 그래서 가볍고 빠르다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57331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·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vs 컨테이너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이미지(Image): 읽기 전용 템플릿(설계도). 빌드의 결과물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컨테이너(Container): 이미지를 실행한 인스턴스(실행체)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하나의 이미지로 여러 컨테이너를 동시에 띄울 수 있다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비유: 이미지=클래스, 컨테이너=객체 / 이미지=ISO, 컨테이너=부팅된 PC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이미지는 변하지 않는다. 컨테이너는 그 위에 '쓰기 가능한 층'을 얹어 동작한다.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580010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· 레이어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이미지는 레이어로 쌓인다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6126480" y="5303520"/>
            <a:ext cx="914" cy="914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 flipV="1">
            <a:off x="6126480" y="4572000"/>
            <a:ext cx="914" cy="914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 flipV="1">
            <a:off x="6126480" y="3840480"/>
            <a:ext cx="914" cy="914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 flipV="1">
            <a:off x="6126480" y="3017520"/>
            <a:ext cx="914" cy="182880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>
            <a:off x="3383280" y="539496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338328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base: ubuntu:22.04 (읽기 전용)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466344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3383280" y="466344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 apt-get install python (레이어)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338328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COPY requirements.txt + pip install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20040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COPY app/ (내 코드 레이어)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37744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쓰기 가능 레이어 (실행 시)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각 명령이 하나의 레이어. 아래는 읽기전용, 맨 위만 쓰기 가능(Copy-on-Write).</a:t>
            </a:r>
            <a:endParaRPr lang="en-US" sz="900" dirty="0"/>
          </a:p>
        </p:txBody>
      </p:sp>
      <p:sp>
        <p:nvSpPr>
          <p:cNvPr id="19" name="오른쪽 중괄호[R] 18">
            <a:extLst>
              <a:ext uri="{FF2B5EF4-FFF2-40B4-BE49-F238E27FC236}">
                <a16:creationId xmlns:a16="http://schemas.microsoft.com/office/drawing/2014/main" id="{57EC22FE-E183-E1FB-9F28-5ADCEB30D583}"/>
              </a:ext>
            </a:extLst>
          </p:cNvPr>
          <p:cNvSpPr/>
          <p:nvPr/>
        </p:nvSpPr>
        <p:spPr>
          <a:xfrm>
            <a:off x="9095362" y="3246120"/>
            <a:ext cx="388780" cy="2743200"/>
          </a:xfrm>
          <a:prstGeom prst="rightBrace">
            <a:avLst>
              <a:gd name="adj1" fmla="val 36904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DF535B-C4BC-64F9-C9D7-37487A0304BB}"/>
              </a:ext>
            </a:extLst>
          </p:cNvPr>
          <p:cNvSpPr txBox="1"/>
          <p:nvPr/>
        </p:nvSpPr>
        <p:spPr>
          <a:xfrm>
            <a:off x="9613360" y="443305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</a:t>
            </a:r>
            <a:r>
              <a:rPr lang="en-US" sz="18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800" b="1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</a:t>
            </a: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354459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· 레이어 캐시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레이어가 주는 이점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공유: 여러 이미지가 같은 base 레이어를 재사용 → 디스크·전송 절약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캐시: 바뀐 레이어부터만 다시 빌드 → 빌드가 빨라진다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Copy-on-Write: 컨테이너가 파일을 수정하면 그 파일만 복사해 위층에 기록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그래서 'COPY app/'은 Dockerfile 끝에 두는 게 유리하다(자주 바뀌니까)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자주 바뀌는 것은 아래(뒤)로, 거의 안 바뀌는 것은 위(앞)로 → 캐시 적중률↑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938055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9E270-9A82-754B-8B65-27EB210DE1CC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04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이미지 주소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BAB2A-DCA7-E440-9CA4-A2CAC7E9C347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이미지는 어디서</a:t>
            </a:r>
            <a:r>
              <a:rPr lang="en-US" altLang="ko-KR" sz="3200" b="1">
                <a:solidFill>
                  <a:srgbClr val="1A1A1A"/>
                </a:solidFill>
                <a:latin typeface="NanumSquare"/>
                <a:ea typeface="NanumSquare"/>
              </a:rPr>
              <a:t>, 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어떻게 가져오는가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23AA5-EC23-704D-A563-7F1FFF47859F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이미지는 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'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레지스트리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이미지 저장소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)'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에 보관돼 있다 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기본 레지스트리는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Docker Hub.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입력한 이름을 주소로 해석해 내려받는다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A7D5D-D2DD-1E42-AAC2-B1730F64031F}"/>
              </a:ext>
            </a:extLst>
          </p:cNvPr>
          <p:cNvSpPr txBox="1"/>
          <p:nvPr/>
        </p:nvSpPr>
        <p:spPr>
          <a:xfrm>
            <a:off x="685800" y="19558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A1A1A"/>
                </a:solidFill>
                <a:latin typeface="NanumSquare"/>
                <a:ea typeface="NanumSquare"/>
              </a:rPr>
              <a:t>① </a:t>
            </a:r>
            <a:r>
              <a:rPr lang="ko-KR" altLang="en-US" sz="1600" b="1">
                <a:solidFill>
                  <a:srgbClr val="1A1A1A"/>
                </a:solidFill>
                <a:latin typeface="NanumSquare"/>
                <a:ea typeface="NanumSquare"/>
              </a:rPr>
              <a:t>이미지 이름은 사실 </a:t>
            </a:r>
            <a:r>
              <a:rPr lang="en-US" altLang="ko-KR" sz="1600" b="1">
                <a:solidFill>
                  <a:srgbClr val="1A1A1A"/>
                </a:solidFill>
                <a:latin typeface="NanumSquare"/>
                <a:ea typeface="NanumSquare"/>
              </a:rPr>
              <a:t>'</a:t>
            </a:r>
            <a:r>
              <a:rPr lang="ko-KR" altLang="en-US" sz="1600" b="1">
                <a:solidFill>
                  <a:srgbClr val="1A1A1A"/>
                </a:solidFill>
                <a:latin typeface="NanumSquare"/>
                <a:ea typeface="NanumSquare"/>
              </a:rPr>
              <a:t>주소</a:t>
            </a:r>
            <a:r>
              <a:rPr lang="en-US" altLang="ko-KR" sz="1600" b="1">
                <a:solidFill>
                  <a:srgbClr val="1A1A1A"/>
                </a:solidFill>
                <a:latin typeface="NanumSquare"/>
                <a:ea typeface="NanumSquare"/>
              </a:rPr>
              <a:t>'</a:t>
            </a:r>
            <a:r>
              <a:rPr lang="ko-KR" altLang="en-US" sz="1600" b="1">
                <a:solidFill>
                  <a:srgbClr val="1A1A1A"/>
                </a:solidFill>
                <a:latin typeface="NanumSquare"/>
                <a:ea typeface="NanumSquare"/>
              </a:rPr>
              <a:t>다</a:t>
            </a:r>
            <a:endParaRPr lang="ko-US" sz="16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1C140-CC69-474A-BB58-6D4F07377577}"/>
              </a:ext>
            </a:extLst>
          </p:cNvPr>
          <p:cNvSpPr/>
          <p:nvPr/>
        </p:nvSpPr>
        <p:spPr>
          <a:xfrm>
            <a:off x="685800" y="2336800"/>
            <a:ext cx="2438400" cy="5588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500" b="1">
                <a:solidFill>
                  <a:srgbClr val="1565A0"/>
                </a:solidFill>
                <a:cs typeface="Consolas"/>
              </a:rPr>
              <a:t>docker.io</a:t>
            </a:r>
            <a:endParaRPr lang="ko-US" sz="1500" b="1">
              <a:solidFill>
                <a:srgbClr val="1565A0"/>
              </a:solidFill>
              <a:cs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6B3C5-9FB1-D04E-91A2-4E00AB8658D5}"/>
              </a:ext>
            </a:extLst>
          </p:cNvPr>
          <p:cNvSpPr txBox="1"/>
          <p:nvPr/>
        </p:nvSpPr>
        <p:spPr>
          <a:xfrm>
            <a:off x="685800" y="2946400"/>
            <a:ext cx="24384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레지스트리 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생략 시 </a:t>
            </a:r>
            <a:r>
              <a:rPr lang="en" sz="1100">
                <a:solidFill>
                  <a:srgbClr val="5C5C5C"/>
                </a:solidFill>
                <a:latin typeface="NanumSquare"/>
                <a:ea typeface="NanumSquare"/>
              </a:rPr>
              <a:t>Docker Hub)</a:t>
            </a:r>
            <a:endParaRPr lang="ko-US" sz="11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24E0785-B1B5-714A-8DC8-4E00FC09CC2C}"/>
              </a:ext>
            </a:extLst>
          </p:cNvPr>
          <p:cNvSpPr/>
          <p:nvPr/>
        </p:nvSpPr>
        <p:spPr>
          <a:xfrm>
            <a:off x="3251200" y="2336800"/>
            <a:ext cx="2438400" cy="5588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500" b="1">
                <a:solidFill>
                  <a:srgbClr val="C0512A"/>
                </a:solidFill>
                <a:cs typeface="Consolas"/>
              </a:rPr>
              <a:t>library</a:t>
            </a:r>
            <a:endParaRPr lang="ko-US" sz="1500" b="1">
              <a:solidFill>
                <a:srgbClr val="C0512A"/>
              </a:solidFill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8EB96-C75F-4D43-9C04-011A97C899E1}"/>
              </a:ext>
            </a:extLst>
          </p:cNvPr>
          <p:cNvSpPr txBox="1"/>
          <p:nvPr/>
        </p:nvSpPr>
        <p:spPr>
          <a:xfrm>
            <a:off x="3251200" y="2946400"/>
            <a:ext cx="24384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네임스페이스 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생략 시 </a:t>
            </a:r>
            <a:r>
              <a:rPr lang="en" sz="1100">
                <a:solidFill>
                  <a:srgbClr val="5C5C5C"/>
                </a:solidFill>
                <a:latin typeface="NanumSquare"/>
                <a:ea typeface="NanumSquare"/>
              </a:rPr>
              <a:t>library=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공식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)</a:t>
            </a:r>
            <a:endParaRPr lang="ko-US" sz="11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C96F687-C856-7545-9E9B-3FB808F5E440}"/>
              </a:ext>
            </a:extLst>
          </p:cNvPr>
          <p:cNvSpPr/>
          <p:nvPr/>
        </p:nvSpPr>
        <p:spPr>
          <a:xfrm>
            <a:off x="5816600" y="2336800"/>
            <a:ext cx="2438400" cy="5588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500" b="1">
                <a:solidFill>
                  <a:srgbClr val="2E7D5B"/>
                </a:solidFill>
                <a:cs typeface="Consolas"/>
              </a:rPr>
              <a:t>nginx</a:t>
            </a:r>
            <a:endParaRPr lang="ko-US" sz="1500" b="1">
              <a:solidFill>
                <a:srgbClr val="2E7D5B"/>
              </a:solidFill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CA9A8-2B83-0148-8981-AEB2CE97DBD8}"/>
              </a:ext>
            </a:extLst>
          </p:cNvPr>
          <p:cNvSpPr txBox="1"/>
          <p:nvPr/>
        </p:nvSpPr>
        <p:spPr>
          <a:xfrm>
            <a:off x="5816600" y="2946400"/>
            <a:ext cx="24384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이미지 이름 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리포지토리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)</a:t>
            </a:r>
            <a:endParaRPr lang="ko-US" sz="11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1F26C30-D64E-5245-9A21-5FE1DFC0677B}"/>
              </a:ext>
            </a:extLst>
          </p:cNvPr>
          <p:cNvSpPr/>
          <p:nvPr/>
        </p:nvSpPr>
        <p:spPr>
          <a:xfrm>
            <a:off x="8382000" y="2336800"/>
            <a:ext cx="2438400" cy="558800"/>
          </a:xfrm>
          <a:prstGeom prst="roundRect">
            <a:avLst/>
          </a:prstGeom>
          <a:solidFill>
            <a:srgbClr val="EFE7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500" b="1">
                <a:solidFill>
                  <a:srgbClr val="6B3FA0"/>
                </a:solidFill>
                <a:cs typeface="Consolas"/>
              </a:rPr>
              <a:t>latest</a:t>
            </a:r>
            <a:endParaRPr lang="ko-US" sz="1500" b="1">
              <a:solidFill>
                <a:srgbClr val="6B3FA0"/>
              </a:solidFill>
              <a:cs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A53E9-B993-3E45-A2E7-696A24366EAC}"/>
              </a:ext>
            </a:extLst>
          </p:cNvPr>
          <p:cNvSpPr txBox="1"/>
          <p:nvPr/>
        </p:nvSpPr>
        <p:spPr>
          <a:xfrm>
            <a:off x="8382000" y="2946400"/>
            <a:ext cx="24384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태그 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생략 시 </a:t>
            </a:r>
            <a:r>
              <a:rPr lang="en" sz="1100">
                <a:solidFill>
                  <a:srgbClr val="5C5C5C"/>
                </a:solidFill>
                <a:latin typeface="NanumSquare"/>
                <a:ea typeface="NanumSquare"/>
              </a:rPr>
              <a:t>latest)</a:t>
            </a:r>
            <a:endParaRPr lang="ko-US" sz="11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8BFDA-3BFD-424F-B3E3-710DDDB17BFE}"/>
              </a:ext>
            </a:extLst>
          </p:cNvPr>
          <p:cNvSpPr txBox="1"/>
          <p:nvPr/>
        </p:nvSpPr>
        <p:spPr>
          <a:xfrm>
            <a:off x="3073400" y="2438400"/>
            <a:ext cx="304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US" b="1">
                <a:solidFill>
                  <a:srgbClr val="9AA5B1"/>
                </a:solidFill>
                <a:latin typeface="NanumSquare"/>
                <a:ea typeface="NanumSquare"/>
              </a:rPr>
              <a:t>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A39F2E-3C20-DE48-B31E-74A8812F9F96}"/>
              </a:ext>
            </a:extLst>
          </p:cNvPr>
          <p:cNvSpPr txBox="1"/>
          <p:nvPr/>
        </p:nvSpPr>
        <p:spPr>
          <a:xfrm>
            <a:off x="5638800" y="2438400"/>
            <a:ext cx="304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US" b="1">
                <a:solidFill>
                  <a:srgbClr val="9AA5B1"/>
                </a:solidFill>
                <a:latin typeface="NanumSquare"/>
                <a:ea typeface="NanumSquare"/>
              </a:rPr>
              <a:t>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6C796-E0FA-9F44-8A16-FAF28ED13791}"/>
              </a:ext>
            </a:extLst>
          </p:cNvPr>
          <p:cNvSpPr txBox="1"/>
          <p:nvPr/>
        </p:nvSpPr>
        <p:spPr>
          <a:xfrm>
            <a:off x="8204200" y="2438400"/>
            <a:ext cx="304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US" b="1">
                <a:solidFill>
                  <a:srgbClr val="9AA5B1"/>
                </a:solidFill>
                <a:latin typeface="NanumSquare"/>
                <a:ea typeface="NanumSquare"/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9F7E91-6950-C348-BF73-77775A65C4FA}"/>
              </a:ext>
            </a:extLst>
          </p:cNvPr>
          <p:cNvSpPr txBox="1"/>
          <p:nvPr/>
        </p:nvSpPr>
        <p:spPr>
          <a:xfrm>
            <a:off x="685800" y="35306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A1A1A"/>
                </a:solidFill>
                <a:latin typeface="NanumSquare"/>
                <a:ea typeface="NanumSquare"/>
              </a:rPr>
              <a:t>② </a:t>
            </a:r>
            <a:r>
              <a:rPr lang="ko-KR" altLang="en-US" sz="1600" b="1">
                <a:solidFill>
                  <a:srgbClr val="1A1A1A"/>
                </a:solidFill>
                <a:latin typeface="NanumSquare"/>
                <a:ea typeface="NanumSquare"/>
              </a:rPr>
              <a:t>이름을 해석해 가져오는 과정</a:t>
            </a:r>
            <a:endParaRPr lang="ko-US" sz="16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49E0249-E98B-6045-BE4E-D91DA094B611}"/>
              </a:ext>
            </a:extLst>
          </p:cNvPr>
          <p:cNvSpPr/>
          <p:nvPr/>
        </p:nvSpPr>
        <p:spPr>
          <a:xfrm>
            <a:off x="685800" y="3937000"/>
            <a:ext cx="3207026" cy="1092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1A1A1A"/>
                </a:solidFill>
                <a:latin typeface="NanumSquare"/>
                <a:ea typeface="NanumSquare"/>
              </a:rPr>
              <a:t>docker run nginx
</a:t>
            </a:r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로컬 캐시 먼저 확인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5EDDFCF-1A27-BB44-9439-67B05684D0E8}"/>
              </a:ext>
            </a:extLst>
          </p:cNvPr>
          <p:cNvSpPr/>
          <p:nvPr/>
        </p:nvSpPr>
        <p:spPr>
          <a:xfrm>
            <a:off x="4419600" y="3937000"/>
            <a:ext cx="3207026" cy="1092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레지스트리 접속
매니페스트 </a:t>
            </a:r>
            <a:r>
              <a:rPr lang="en-US" altLang="ko-KR" sz="1300" b="1">
                <a:solidFill>
                  <a:srgbClr val="1A1A1A"/>
                </a:solidFill>
                <a:latin typeface="NanumSquare"/>
                <a:ea typeface="NanumSquare"/>
              </a:rPr>
              <a:t>+ </a:t>
            </a:r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레이어 다운로드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F88797E-7235-F941-8EF2-971D42FE3094}"/>
              </a:ext>
            </a:extLst>
          </p:cNvPr>
          <p:cNvSpPr/>
          <p:nvPr/>
        </p:nvSpPr>
        <p:spPr>
          <a:xfrm>
            <a:off x="8153400" y="3937000"/>
            <a:ext cx="3207026" cy="1092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로컬에 저장
컨테이너로 실행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67E916DE-DFA1-3043-A743-D2A914AB0361}"/>
              </a:ext>
            </a:extLst>
          </p:cNvPr>
          <p:cNvSpPr/>
          <p:nvPr/>
        </p:nvSpPr>
        <p:spPr>
          <a:xfrm>
            <a:off x="4075814" y="4343400"/>
            <a:ext cx="291830" cy="3048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2" name="오른쪽 화살표[R] 21">
            <a:extLst>
              <a:ext uri="{FF2B5EF4-FFF2-40B4-BE49-F238E27FC236}">
                <a16:creationId xmlns:a16="http://schemas.microsoft.com/office/drawing/2014/main" id="{63C33B39-5F5A-7F42-B275-8DA6F1AA668A}"/>
              </a:ext>
            </a:extLst>
          </p:cNvPr>
          <p:cNvSpPr/>
          <p:nvPr/>
        </p:nvSpPr>
        <p:spPr>
          <a:xfrm>
            <a:off x="7809614" y="4343400"/>
            <a:ext cx="291830" cy="3048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2D25413-D8FB-0B47-A6CE-8DA86608EF1A}"/>
              </a:ext>
            </a:extLst>
          </p:cNvPr>
          <p:cNvSpPr/>
          <p:nvPr/>
        </p:nvSpPr>
        <p:spPr>
          <a:xfrm>
            <a:off x="685800" y="5257800"/>
            <a:ext cx="10820400" cy="6604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한 번 받은 이미지는 로컬에 </a:t>
            </a:r>
            <a:r>
              <a:rPr lang="ko-KR" altLang="en-US" sz="1400" b="1" dirty="0" err="1">
                <a:solidFill>
                  <a:srgbClr val="FFFFFF"/>
                </a:solidFill>
                <a:latin typeface="NanumSquare"/>
                <a:ea typeface="NanumSquare"/>
              </a:rPr>
              <a:t>캐시된다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 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— 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다음 실행부터는 다운로드 없이 즉시 시작</a:t>
            </a:r>
            <a:endParaRPr lang="ko-US" sz="1400" b="1" dirty="0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A1231A-FAB6-4D4B-8BAF-9D8F1972EEE3}"/>
              </a:ext>
            </a:extLst>
          </p:cNvPr>
          <p:cNvSpPr txBox="1"/>
          <p:nvPr/>
        </p:nvSpPr>
        <p:spPr>
          <a:xfrm>
            <a:off x="685800" y="63754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docker.io / library / nginx : latest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처럼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생략된 부분은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Docker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가 기본값으로 자동 채운다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42180023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AF27A6-0373-4546-9E74-26E83F5B11CA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04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스스로 하기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8FE68-70C1-174E-AA9E-1861972BD28A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스스로 하기 과제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FFE13D6-536C-B244-9CF3-887E14B7DE88}"/>
              </a:ext>
            </a:extLst>
          </p:cNvPr>
          <p:cNvSpPr/>
          <p:nvPr/>
        </p:nvSpPr>
        <p:spPr>
          <a:xfrm>
            <a:off x="685800" y="1699591"/>
            <a:ext cx="5308600" cy="4777409"/>
          </a:xfrm>
          <a:prstGeom prst="round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F8A1857-8930-E642-955D-579E0CCC1EDD}"/>
              </a:ext>
            </a:extLst>
          </p:cNvPr>
          <p:cNvSpPr/>
          <p:nvPr/>
        </p:nvSpPr>
        <p:spPr>
          <a:xfrm>
            <a:off x="6197600" y="1699591"/>
            <a:ext cx="5308600" cy="4777409"/>
          </a:xfrm>
          <a:prstGeom prst="round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BF29C-2279-484B-99BF-99E3D7959F55}"/>
              </a:ext>
            </a:extLst>
          </p:cNvPr>
          <p:cNvSpPr txBox="1"/>
          <p:nvPr/>
        </p:nvSpPr>
        <p:spPr>
          <a:xfrm>
            <a:off x="889000" y="20828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565A0"/>
                </a:solidFill>
                <a:latin typeface="NanumSquare"/>
                <a:ea typeface="NanumSquare"/>
              </a:rPr>
              <a:t>문제 </a:t>
            </a:r>
            <a:r>
              <a:rPr lang="en-US" altLang="ko-KR" sz="1600" b="1">
                <a:solidFill>
                  <a:srgbClr val="1565A0"/>
                </a:solidFill>
                <a:latin typeface="NanumSquare"/>
                <a:ea typeface="NanumSquare"/>
              </a:rPr>
              <a:t>1.  </a:t>
            </a:r>
            <a:r>
              <a:rPr lang="ko-KR" altLang="en-US" sz="1600" b="1">
                <a:solidFill>
                  <a:srgbClr val="1565A0"/>
                </a:solidFill>
                <a:latin typeface="NanumSquare"/>
                <a:ea typeface="NanumSquare"/>
              </a:rPr>
              <a:t>컨테이너 실행</a:t>
            </a:r>
            <a:endParaRPr lang="ko-US" sz="16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9BE0A-55F3-D247-9FFF-33F23CB00315}"/>
              </a:ext>
            </a:extLst>
          </p:cNvPr>
          <p:cNvSpPr txBox="1"/>
          <p:nvPr/>
        </p:nvSpPr>
        <p:spPr>
          <a:xfrm>
            <a:off x="889000" y="2438400"/>
            <a:ext cx="4902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5C5C5C"/>
                </a:solidFill>
                <a:latin typeface="NanumSquare"/>
                <a:ea typeface="NanumSquare"/>
              </a:rPr>
              <a:t>다음 조건에 맞춰 컨테이너를 실행하세요</a:t>
            </a:r>
            <a:r>
              <a:rPr lang="en-US" altLang="ko-KR" sz="12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2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7D87FB0-6B36-154D-872F-EB1A07908470}"/>
              </a:ext>
            </a:extLst>
          </p:cNvPr>
          <p:cNvGraphicFramePr>
            <a:graphicFrameLocks noGrp="1"/>
          </p:cNvGraphicFramePr>
          <p:nvPr/>
        </p:nvGraphicFramePr>
        <p:xfrm>
          <a:off x="889000" y="2743200"/>
          <a:ext cx="4902200" cy="25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956020598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53210230"/>
                    </a:ext>
                  </a:extLst>
                </a:gridCol>
              </a:tblGrid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4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</a:rPr>
                        <a:t>항목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4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</a:rPr>
                        <a:t>값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583788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300" b="1">
                          <a:solidFill>
                            <a:srgbClr val="1A1A1A"/>
                          </a:solidFill>
                          <a:latin typeface="NanumSquare"/>
                          <a:ea typeface="NanumSquare"/>
                        </a:rPr>
                        <a:t>이미지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300" b="0">
                          <a:solidFill>
                            <a:srgbClr val="1A1A1A"/>
                          </a:solidFill>
                          <a:latin typeface="NanumSquare"/>
                          <a:ea typeface="NanumSquare"/>
                          <a:cs typeface="Consolas"/>
                        </a:rPr>
                        <a:t>docker/getting-started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05308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300" b="1">
                          <a:solidFill>
                            <a:srgbClr val="1A1A1A"/>
                          </a:solidFill>
                          <a:latin typeface="NanumSquare"/>
                          <a:ea typeface="NanumSquare"/>
                        </a:rPr>
                        <a:t>태그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300" b="0">
                          <a:solidFill>
                            <a:srgbClr val="1A1A1A"/>
                          </a:solidFill>
                          <a:latin typeface="NanumSquare"/>
                          <a:ea typeface="NanumSquare"/>
                          <a:cs typeface="Consolas"/>
                        </a:rPr>
                        <a:t>지정하지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26892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300" b="1">
                          <a:solidFill>
                            <a:srgbClr val="1A1A1A"/>
                          </a:solidFill>
                          <a:latin typeface="NanumSquare"/>
                          <a:ea typeface="NanumSquare"/>
                        </a:rPr>
                        <a:t>컨테이너 이름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300" b="0">
                          <a:solidFill>
                            <a:srgbClr val="1A1A1A"/>
                          </a:solidFill>
                          <a:latin typeface="NanumSquare"/>
                          <a:ea typeface="NanumSquare"/>
                          <a:cs typeface="Consolas"/>
                        </a:rPr>
                        <a:t>guide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949452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300" b="1">
                          <a:solidFill>
                            <a:srgbClr val="1A1A1A"/>
                          </a:solidFill>
                          <a:latin typeface="NanumSquare"/>
                          <a:ea typeface="NanumSquare"/>
                        </a:rPr>
                        <a:t>서비스 포트(컨테이너)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300" b="0">
                          <a:solidFill>
                            <a:srgbClr val="1A1A1A"/>
                          </a:solidFill>
                          <a:latin typeface="NanumSquare"/>
                          <a:ea typeface="NanumSquare"/>
                          <a:cs typeface="Consolas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268244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300" b="1">
                          <a:solidFill>
                            <a:srgbClr val="1A1A1A"/>
                          </a:solidFill>
                          <a:latin typeface="NanumSquare"/>
                          <a:ea typeface="NanumSquare"/>
                        </a:rPr>
                        <a:t>호스트 포트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300" b="0">
                          <a:solidFill>
                            <a:srgbClr val="1A1A1A"/>
                          </a:solidFill>
                          <a:latin typeface="NanumSquare"/>
                          <a:ea typeface="NanumSquare"/>
                          <a:cs typeface="Consolas"/>
                        </a:rPr>
                        <a:t>1234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08266"/>
                  </a:ext>
                </a:extLst>
              </a:tr>
              <a:tr h="362857">
                <a:tc>
                  <a:txBody>
                    <a:bodyPr/>
                    <a:lstStyle/>
                    <a:p>
                      <a:pPr algn="l"/>
                      <a:r>
                        <a:rPr lang="ko-US" sz="1300" b="1">
                          <a:solidFill>
                            <a:srgbClr val="1A1A1A"/>
                          </a:solidFill>
                          <a:latin typeface="NanumSquare"/>
                          <a:ea typeface="NanumSquare"/>
                        </a:rPr>
                        <a:t>실행 방식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US" sz="1300" b="0">
                          <a:solidFill>
                            <a:srgbClr val="1A1A1A"/>
                          </a:solidFill>
                          <a:latin typeface="NanumSquare"/>
                          <a:ea typeface="NanumSquare"/>
                          <a:cs typeface="Consolas"/>
                        </a:rPr>
                        <a:t>백그라운드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7631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FE5A468-D0E8-BC42-9E41-5D3929C7A8BE}"/>
              </a:ext>
            </a:extLst>
          </p:cNvPr>
          <p:cNvSpPr txBox="1"/>
          <p:nvPr/>
        </p:nvSpPr>
        <p:spPr>
          <a:xfrm>
            <a:off x="889000" y="5664199"/>
            <a:ext cx="49022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실행 후 </a:t>
            </a:r>
            <a:r>
              <a:rPr lang="en" sz="1200">
                <a:solidFill>
                  <a:srgbClr val="1A1A1A"/>
                </a:solidFill>
                <a:latin typeface="NanumSquare"/>
                <a:ea typeface="NanumSquare"/>
              </a:rPr>
              <a:t>VM</a:t>
            </a:r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의 </a:t>
            </a:r>
            <a:r>
              <a:rPr lang="en-US" altLang="ko-KR" sz="1200">
                <a:solidFill>
                  <a:srgbClr val="1A1A1A"/>
                </a:solidFill>
                <a:latin typeface="NanumSquare"/>
                <a:ea typeface="NanumSquare"/>
              </a:rPr>
              <a:t>192.168.</a:t>
            </a:r>
            <a:r>
              <a:rPr lang="en" sz="1200">
                <a:solidFill>
                  <a:srgbClr val="1A1A1A"/>
                </a:solidFill>
                <a:latin typeface="NanumSquare"/>
                <a:ea typeface="NanumSquare"/>
              </a:rPr>
              <a:t>x.x:1234 </a:t>
            </a:r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로 브라우저 접속 → 페이지가 뜨는지 확인</a:t>
            </a:r>
            <a:endParaRPr lang="ko-US" sz="120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ABDB6-9517-0945-BB35-1AA0CD2AB3F5}"/>
              </a:ext>
            </a:extLst>
          </p:cNvPr>
          <p:cNvSpPr txBox="1"/>
          <p:nvPr/>
        </p:nvSpPr>
        <p:spPr>
          <a:xfrm>
            <a:off x="6400800" y="20828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2E7D5B"/>
                </a:solidFill>
                <a:latin typeface="NanumSquare"/>
                <a:ea typeface="NanumSquare"/>
              </a:rPr>
              <a:t>문제 </a:t>
            </a:r>
            <a:r>
              <a:rPr lang="en-US" altLang="ko-KR" sz="1600" b="1" dirty="0">
                <a:solidFill>
                  <a:srgbClr val="2E7D5B"/>
                </a:solidFill>
                <a:latin typeface="NanumSquare"/>
                <a:ea typeface="NanumSquare"/>
              </a:rPr>
              <a:t>2.  </a:t>
            </a:r>
            <a:r>
              <a:rPr lang="ko-KR" altLang="en-US" sz="1600" b="1" dirty="0">
                <a:solidFill>
                  <a:srgbClr val="2E7D5B"/>
                </a:solidFill>
                <a:latin typeface="NanumSquare"/>
                <a:ea typeface="NanumSquare"/>
              </a:rPr>
              <a:t>컨테이너 내부 파일 확인</a:t>
            </a:r>
            <a:endParaRPr lang="ko-US" sz="1600" b="1" dirty="0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D63F2-3B99-D54E-9440-89DEB916E6B6}"/>
              </a:ext>
            </a:extLst>
          </p:cNvPr>
          <p:cNvSpPr txBox="1"/>
          <p:nvPr/>
        </p:nvSpPr>
        <p:spPr>
          <a:xfrm>
            <a:off x="6400800" y="2489200"/>
            <a:ext cx="49022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dirty="0">
                <a:solidFill>
                  <a:srgbClr val="1A1A1A"/>
                </a:solidFill>
                <a:latin typeface="NanumSquare"/>
                <a:ea typeface="NanumSquare"/>
              </a:rPr>
              <a:t>실행 중인 </a:t>
            </a:r>
            <a:r>
              <a:rPr lang="en" sz="1400" dirty="0">
                <a:solidFill>
                  <a:srgbClr val="1A1A1A"/>
                </a:solidFill>
                <a:latin typeface="NanumSquare"/>
                <a:ea typeface="NanumSquare"/>
              </a:rPr>
              <a:t>guide </a:t>
            </a:r>
            <a:r>
              <a:rPr lang="ko-KR" altLang="en-US" sz="1400" dirty="0">
                <a:solidFill>
                  <a:srgbClr val="1A1A1A"/>
                </a:solidFill>
                <a:latin typeface="NanumSquare"/>
                <a:ea typeface="NanumSquare"/>
              </a:rPr>
              <a:t>컨테이너 내부에 접속해서 </a:t>
            </a:r>
            <a:r>
              <a:rPr lang="en-US" altLang="ko-KR" sz="1400" dirty="0">
                <a:solidFill>
                  <a:srgbClr val="1A1A1A"/>
                </a:solidFill>
                <a:latin typeface="NanumSquare"/>
                <a:ea typeface="NanumSquare"/>
              </a:rPr>
              <a:t>/</a:t>
            </a:r>
            <a:r>
              <a:rPr lang="en" sz="1400" dirty="0" err="1">
                <a:solidFill>
                  <a:srgbClr val="1A1A1A"/>
                </a:solidFill>
                <a:latin typeface="NanumSquare"/>
                <a:ea typeface="NanumSquare"/>
              </a:rPr>
              <a:t>usr</a:t>
            </a:r>
            <a:r>
              <a:rPr lang="en" sz="1400" dirty="0">
                <a:solidFill>
                  <a:srgbClr val="1A1A1A"/>
                </a:solidFill>
                <a:latin typeface="NanumSquare"/>
                <a:ea typeface="NanumSquare"/>
              </a:rPr>
              <a:t>/share/nginx/html/50x.html </a:t>
            </a:r>
            <a:r>
              <a:rPr lang="ko-KR" altLang="en-US" sz="1400" dirty="0">
                <a:solidFill>
                  <a:srgbClr val="1A1A1A"/>
                </a:solidFill>
                <a:latin typeface="NanumSquare"/>
                <a:ea typeface="NanumSquare"/>
              </a:rPr>
              <a:t>파일을 열고</a:t>
            </a:r>
            <a:r>
              <a:rPr lang="en-US" altLang="ko-KR" sz="1400" dirty="0">
                <a:solidFill>
                  <a:srgbClr val="1A1A1A"/>
                </a:solidFill>
                <a:latin typeface="NanumSquare"/>
                <a:ea typeface="NanumSquare"/>
              </a:rPr>
              <a:t>, &lt;</a:t>
            </a:r>
            <a:r>
              <a:rPr lang="en" sz="1400" dirty="0">
                <a:solidFill>
                  <a:srgbClr val="1A1A1A"/>
                </a:solidFill>
                <a:latin typeface="NanumSquare"/>
                <a:ea typeface="NanumSquare"/>
              </a:rPr>
              <a:t>title&gt; </a:t>
            </a:r>
            <a:r>
              <a:rPr lang="ko-KR" altLang="en-US" sz="1400" dirty="0">
                <a:solidFill>
                  <a:srgbClr val="1A1A1A"/>
                </a:solidFill>
                <a:latin typeface="NanumSquare"/>
                <a:ea typeface="NanumSquare"/>
              </a:rPr>
              <a:t>태그 안에 들어간 문구가 무엇인지 찾아내세요</a:t>
            </a:r>
            <a:r>
              <a:rPr lang="en-US" altLang="ko-KR" sz="1400" dirty="0">
                <a:solidFill>
                  <a:srgbClr val="1A1A1A"/>
                </a:solidFill>
                <a:latin typeface="NanumSquare"/>
                <a:ea typeface="NanumSquare"/>
              </a:rPr>
              <a:t>.</a:t>
            </a:r>
            <a:endParaRPr lang="ko-US" sz="1400" dirty="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E51BB01-6671-5F43-A1FF-CD402487D13F}"/>
              </a:ext>
            </a:extLst>
          </p:cNvPr>
          <p:cNvSpPr/>
          <p:nvPr/>
        </p:nvSpPr>
        <p:spPr>
          <a:xfrm>
            <a:off x="6400800" y="4064000"/>
            <a:ext cx="4902200" cy="1219200"/>
          </a:xfrm>
          <a:prstGeom prst="roundRect">
            <a:avLst/>
          </a:prstGeom>
          <a:solidFill>
            <a:srgbClr val="FFF7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1C9B8-4D66-294D-AD24-F3CBD2C794E3}"/>
              </a:ext>
            </a:extLst>
          </p:cNvPr>
          <p:cNvSpPr txBox="1"/>
          <p:nvPr/>
        </p:nvSpPr>
        <p:spPr>
          <a:xfrm>
            <a:off x="6578600" y="4191000"/>
            <a:ext cx="45466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8A6D00"/>
                </a:solidFill>
                <a:latin typeface="NanumSquare"/>
                <a:ea typeface="NanumSquare"/>
              </a:rPr>
              <a:t>힌트 </a:t>
            </a:r>
            <a:r>
              <a:rPr lang="en-US" altLang="ko-KR" sz="1300" b="1">
                <a:solidFill>
                  <a:srgbClr val="8A6D00"/>
                </a:solidFill>
                <a:latin typeface="NanumSquare"/>
                <a:ea typeface="NanumSquare"/>
              </a:rPr>
              <a:t>— </a:t>
            </a:r>
            <a:r>
              <a:rPr lang="ko-KR" altLang="en-US" sz="1300" b="1">
                <a:solidFill>
                  <a:srgbClr val="8A6D00"/>
                </a:solidFill>
                <a:latin typeface="NanumSquare"/>
                <a:ea typeface="NanumSquare"/>
              </a:rPr>
              <a:t>이 컨테이너에는 </a:t>
            </a:r>
            <a:r>
              <a:rPr lang="en" sz="1300" b="1">
                <a:solidFill>
                  <a:srgbClr val="8A6D00"/>
                </a:solidFill>
                <a:latin typeface="NanumSquare"/>
                <a:ea typeface="NanumSquare"/>
              </a:rPr>
              <a:t>bash</a:t>
            </a:r>
            <a:r>
              <a:rPr lang="ko-KR" altLang="en-US" sz="1300" b="1">
                <a:solidFill>
                  <a:srgbClr val="8A6D00"/>
                </a:solidFill>
                <a:latin typeface="NanumSquare"/>
                <a:ea typeface="NanumSquare"/>
              </a:rPr>
              <a:t>가 없습니다</a:t>
            </a:r>
            <a:r>
              <a:rPr lang="en-US" altLang="ko-KR" sz="1300" b="1">
                <a:solidFill>
                  <a:srgbClr val="8A6D00"/>
                </a:solidFill>
                <a:latin typeface="NanumSquare"/>
                <a:ea typeface="NanumSquare"/>
              </a:rPr>
              <a:t>. </a:t>
            </a:r>
            <a:r>
              <a:rPr lang="en" sz="1300" b="1">
                <a:solidFill>
                  <a:srgbClr val="8A6D00"/>
                </a:solidFill>
                <a:latin typeface="NanumSquare"/>
                <a:ea typeface="NanumSquare"/>
              </a:rPr>
              <a:t>sh</a:t>
            </a:r>
            <a:r>
              <a:rPr lang="ko-KR" altLang="en-US" sz="1300" b="1">
                <a:solidFill>
                  <a:srgbClr val="8A6D00"/>
                </a:solidFill>
                <a:latin typeface="NanumSquare"/>
                <a:ea typeface="NanumSquare"/>
              </a:rPr>
              <a:t>로 접속하세요</a:t>
            </a:r>
            <a:r>
              <a:rPr lang="en-US" altLang="ko-KR" sz="1300" b="1">
                <a:solidFill>
                  <a:srgbClr val="8A6D00"/>
                </a:solidFill>
                <a:latin typeface="NanumSquare"/>
                <a:ea typeface="NanumSquare"/>
              </a:rPr>
              <a:t>.</a:t>
            </a:r>
            <a:endParaRPr lang="ko-US" sz="1300" b="1">
              <a:solidFill>
                <a:srgbClr val="8A6D00"/>
              </a:solidFill>
              <a:latin typeface="NanumSquare"/>
              <a:ea typeface="NanumSqua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FF7907-F253-EC4D-A243-885177F021E0}"/>
              </a:ext>
            </a:extLst>
          </p:cNvPr>
          <p:cNvSpPr txBox="1"/>
          <p:nvPr/>
        </p:nvSpPr>
        <p:spPr>
          <a:xfrm>
            <a:off x="6578600" y="4724400"/>
            <a:ext cx="4546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>
                <a:solidFill>
                  <a:srgbClr val="5C5C5C"/>
                </a:solidFill>
                <a:latin typeface="Consolas"/>
                <a:cs typeface="Consolas"/>
              </a:rPr>
              <a:t>docker exec -it guide sh</a:t>
            </a:r>
            <a:endParaRPr lang="ko-US" sz="1300">
              <a:solidFill>
                <a:srgbClr val="5C5C5C"/>
              </a:solidFill>
              <a:cs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342985-CDFA-9944-9C59-5677889F4550}"/>
              </a:ext>
            </a:extLst>
          </p:cNvPr>
          <p:cNvSpPr txBox="1"/>
          <p:nvPr/>
        </p:nvSpPr>
        <p:spPr>
          <a:xfrm>
            <a:off x="6400800" y="54610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2E7D5B"/>
                </a:solidFill>
                <a:latin typeface="NanumSquare"/>
                <a:ea typeface="NanumSquare"/>
              </a:rPr>
              <a:t>찾을 것 </a:t>
            </a:r>
            <a:r>
              <a:rPr lang="en-US" altLang="ko-KR" sz="1200" b="1">
                <a:solidFill>
                  <a:srgbClr val="2E7D5B"/>
                </a:solidFill>
                <a:latin typeface="NanumSquare"/>
                <a:ea typeface="NanumSquare"/>
              </a:rPr>
              <a:t>: &lt;</a:t>
            </a:r>
            <a:r>
              <a:rPr lang="en" sz="1200" b="1">
                <a:solidFill>
                  <a:srgbClr val="2E7D5B"/>
                </a:solidFill>
                <a:latin typeface="NanumSquare"/>
                <a:ea typeface="NanumSquare"/>
              </a:rPr>
              <a:t>title&gt; … &lt;/title&gt; </a:t>
            </a:r>
            <a:r>
              <a:rPr lang="ko-KR" altLang="en-US" sz="1200" b="1">
                <a:solidFill>
                  <a:srgbClr val="2E7D5B"/>
                </a:solidFill>
                <a:latin typeface="NanumSquare"/>
                <a:ea typeface="NanumSquare"/>
              </a:rPr>
              <a:t>안의 문구</a:t>
            </a:r>
            <a:endParaRPr lang="ko-US" sz="12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358436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 animBg="1"/>
      <p:bldP spid="14" grpId="0"/>
      <p:bldP spid="15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· Dockerfile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설계도: Dockerfile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Dockerfile = 이미지를 만드는 명령들의 모음(레시피)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각 명령(FROM/RUN/COPY/CMD…)이 하나의 레이어를 만든다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10817352" cy="3200400"/>
          </a:xfrm>
          <a:prstGeom prst="roundRect">
            <a:avLst>
              <a:gd name="adj" fmla="val 1429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41832" y="298094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3364992"/>
            <a:ext cx="1036015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FROM python:3.11-slim            # 베이스 이미지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WORKDIR /app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COPY requirements.txt .          # 의존성 먼저 (캐시 활용)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RUN pip install -r requirements.txt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COPY . .                         # 내 소스 (자주 바뀜 → 뒤로)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EXPOSE 8000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CMD ["python", "app.py"]         # 컨테이너 시작 명령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85673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</a:t>
            </a:r>
            <a:r>
              <a:rPr lang="en-US" altLang="ko-KR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 Hub 이해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이미지를 저장·공유하는 '레지스트리'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79723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레지스트리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빌드 → 푸시 → 풀 → 실행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0" y="3429000"/>
            <a:ext cx="1920240" cy="914"/>
          </a:xfrm>
          <a:prstGeom prst="line">
            <a:avLst/>
          </a:prstGeom>
          <a:noFill/>
          <a:ln w="22225">
            <a:solidFill>
              <a:srgbClr val="1D6F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7315200" y="3429000"/>
            <a:ext cx="1828800" cy="914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194560" cy="1005840"/>
          </a:xfrm>
          <a:prstGeom prst="roundRect">
            <a:avLst>
              <a:gd name="adj" fmla="val 4545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 build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로컬 이미지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274320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F1ECFB"/>
          </a:solidFill>
          <a:ln w="19050">
            <a:solidFill>
              <a:srgbClr val="6B46C1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 Hub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레지스트리(저장소)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2926080"/>
            <a:ext cx="2194560" cy="1005840"/>
          </a:xfrm>
          <a:prstGeom prst="roundRect">
            <a:avLst>
              <a:gd name="adj" fmla="val 4545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914400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4. run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다른 서버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28269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D6FE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2. push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52360" y="3282696"/>
            <a:ext cx="1554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E8E5A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 pull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레지스트리는 이미지의 'GitHub'. 한 번 push하면 어디서든 pull해 같은 이미지를 실행한다.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357850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네이밍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이름과 태그 읽는 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전체 형식: [레지스트리]/[사용자·조직]/[이미지]:[태그]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태그를 생략하면 :latest (운영에선 latest 사용 지양 — 버전 고정 권장)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이미지는 사용자명 없이 짧게(예: nginx, redis)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10817352" cy="2468880"/>
          </a:xfrm>
          <a:prstGeom prst="roundRect">
            <a:avLst>
              <a:gd name="adj" fmla="val 1852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41832" y="334670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3730752"/>
            <a:ext cx="1036015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nginx:1.27                      # 공식 이미지, 버전 고정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docker.io/library/redis:7        # 풀네임(기본 레지스트리)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myteam/payment-api:2.3.1         # 조직/앱:버전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registry.company.com/web:stable  # 사내 프라이빗 레지스트리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938642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용어 구분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Registry vs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Registry(레지스트리) = 이미지를 모아둔 '중앙 저장소(도서관)'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Repository(리포지토리) = 도서관 안의 '특정 책꽂이' — 한 앱의 여러 버전(태그)을 담음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예: nginx 리포지토리 안에 nginx:1.27 · nginx:latest · nginx:alpine 등이 존재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주소 체계: [Registry]/[Repository]:[Tag]  (Registry 생략 시 Docker Hub)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도서관(Registry) → 책꽂이(Repository) → 책의 판본(Tag). 계층을 구분하면 주소가 보인다.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87250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종류와 표준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Public·Private·클라우드 레지스트리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Public: Docker Hub(세계 최대), GitHub Packages, Quay.io — 누구나 push/pull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Private: 사내 핵심 소스가 담긴 이미지는 외부 노출 금지 → 사설 레지스트리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클라우드: ECR(AWS) · ACR(Azure) · GCR/AR(GCP) — 보안·속도 유리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OCI 표준 덕분에 도커로 만든 이미지를 쿠버네티스 등 어디서나 그대로 사용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운영에선 보통 클라우드/사설 레지스트리 + 버전 고정 태그를 함께 쓴다.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19100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DCAF3C-C6F8-1644-8726-9DC560AB1333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 dirty="0">
                <a:solidFill>
                  <a:srgbClr val="1D6FE0"/>
                </a:solidFill>
                <a:latin typeface="NanumSquare"/>
                <a:ea typeface="NanumSquare"/>
              </a:rPr>
              <a:t>05 · </a:t>
            </a:r>
            <a:r>
              <a:rPr lang="ko-KR" altLang="en-US" sz="1300" b="1" dirty="0">
                <a:solidFill>
                  <a:srgbClr val="1D6FE0"/>
                </a:solidFill>
                <a:latin typeface="NanumSquare"/>
                <a:ea typeface="NanumSquare"/>
              </a:rPr>
              <a:t>워크플로우</a:t>
            </a:r>
            <a:endParaRPr lang="ko-US" sz="1300" b="1" dirty="0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9AD0A-F440-7E49-AB93-2CABD5C7E5CC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1A"/>
                </a:solidFill>
                <a:latin typeface="NanumSquare"/>
                <a:ea typeface="NanumSquare"/>
                <a:cs typeface="NanumSquare"/>
              </a:rPr>
              <a:t>이미지의 한살이: build · tag · push · pull · run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EB248-F032-A349-942E-DD27C3E6153F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이미지를 만들어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build)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레지스트리에 올리고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push),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다른 곳에서 받아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pull)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컨테이너로 실행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run)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한다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D47F581-0773-4A4E-A7CC-C65F91A5266D}"/>
              </a:ext>
            </a:extLst>
          </p:cNvPr>
          <p:cNvSpPr/>
          <p:nvPr/>
        </p:nvSpPr>
        <p:spPr>
          <a:xfrm>
            <a:off x="1800087" y="2108200"/>
            <a:ext cx="2921000" cy="74295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 b="1">
                <a:solidFill>
                  <a:srgbClr val="1A1A1A"/>
                </a:solidFill>
                <a:latin typeface="NanumSquare"/>
                <a:ea typeface="NanumSquare"/>
              </a:rPr>
              <a:t>Dockerfile
</a:t>
            </a:r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빌드 설계도</a:t>
            </a:r>
            <a:endParaRPr lang="ko-US" sz="16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6" name="아래쪽 화살표[D] 5">
            <a:extLst>
              <a:ext uri="{FF2B5EF4-FFF2-40B4-BE49-F238E27FC236}">
                <a16:creationId xmlns:a16="http://schemas.microsoft.com/office/drawing/2014/main" id="{473B00FD-F25E-F848-808C-7F316A957700}"/>
              </a:ext>
            </a:extLst>
          </p:cNvPr>
          <p:cNvSpPr/>
          <p:nvPr/>
        </p:nvSpPr>
        <p:spPr>
          <a:xfrm>
            <a:off x="3120887" y="2901950"/>
            <a:ext cx="330200" cy="3302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6251E-6EEA-6141-8887-3742DECD0634}"/>
              </a:ext>
            </a:extLst>
          </p:cNvPr>
          <p:cNvSpPr txBox="1"/>
          <p:nvPr/>
        </p:nvSpPr>
        <p:spPr>
          <a:xfrm>
            <a:off x="3527287" y="292735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sz="1200" b="1">
                <a:solidFill>
                  <a:srgbClr val="5C5C5C"/>
                </a:solidFill>
                <a:latin typeface="NanumSquare"/>
                <a:ea typeface="NanumSquare"/>
              </a:rPr>
              <a:t>docker build</a:t>
            </a:r>
            <a:endParaRPr lang="ko-US" sz="1200" b="1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DBB5A87-82D8-1147-86C4-2965A1C2E775}"/>
              </a:ext>
            </a:extLst>
          </p:cNvPr>
          <p:cNvSpPr/>
          <p:nvPr/>
        </p:nvSpPr>
        <p:spPr>
          <a:xfrm>
            <a:off x="1800087" y="3308350"/>
            <a:ext cx="2921000" cy="12446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565A0"/>
                </a:solidFill>
                <a:latin typeface="NanumSquare"/>
                <a:ea typeface="NanumSquare"/>
              </a:rPr>
              <a:t>로컬 이미지
</a:t>
            </a:r>
            <a:r>
              <a:rPr lang="ko-KR" altLang="en-US" sz="1200">
                <a:solidFill>
                  <a:srgbClr val="1565A0"/>
                </a:solidFill>
                <a:latin typeface="NanumSquare"/>
                <a:ea typeface="NanumSquare"/>
              </a:rPr>
              <a:t>내 </a:t>
            </a:r>
            <a:r>
              <a:rPr lang="en" sz="1200">
                <a:solidFill>
                  <a:srgbClr val="1565A0"/>
                </a:solidFill>
                <a:latin typeface="NanumSquare"/>
                <a:ea typeface="NanumSquare"/>
              </a:rPr>
              <a:t>PC</a:t>
            </a:r>
            <a:endParaRPr lang="ko-US" sz="16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9" name="아래쪽 화살표[D] 8">
            <a:extLst>
              <a:ext uri="{FF2B5EF4-FFF2-40B4-BE49-F238E27FC236}">
                <a16:creationId xmlns:a16="http://schemas.microsoft.com/office/drawing/2014/main" id="{6504772F-C2F6-0942-9F93-3C350C915F7E}"/>
              </a:ext>
            </a:extLst>
          </p:cNvPr>
          <p:cNvSpPr/>
          <p:nvPr/>
        </p:nvSpPr>
        <p:spPr>
          <a:xfrm>
            <a:off x="3120887" y="4654550"/>
            <a:ext cx="330200" cy="355600"/>
          </a:xfrm>
          <a:prstGeom prst="downArrow">
            <a:avLst/>
          </a:prstGeom>
          <a:solidFill>
            <a:srgbClr val="2E7D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1BA93-5C25-ED45-A340-CA0CC0A08F93}"/>
              </a:ext>
            </a:extLst>
          </p:cNvPr>
          <p:cNvSpPr txBox="1"/>
          <p:nvPr/>
        </p:nvSpPr>
        <p:spPr>
          <a:xfrm>
            <a:off x="3527287" y="467995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sz="1200" b="1">
                <a:solidFill>
                  <a:srgbClr val="2E7D5B"/>
                </a:solidFill>
                <a:latin typeface="NanumSquare"/>
                <a:ea typeface="NanumSquare"/>
              </a:rPr>
              <a:t>docker run</a:t>
            </a:r>
            <a:endParaRPr lang="ko-US" sz="12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D60CCE7-264B-9B44-A19A-B3A6B812D20B}"/>
              </a:ext>
            </a:extLst>
          </p:cNvPr>
          <p:cNvSpPr/>
          <p:nvPr/>
        </p:nvSpPr>
        <p:spPr>
          <a:xfrm>
            <a:off x="1800087" y="5086350"/>
            <a:ext cx="2921000" cy="10414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2E7D5B"/>
                </a:solidFill>
                <a:latin typeface="NanumSquare"/>
                <a:ea typeface="NanumSquare"/>
              </a:rPr>
              <a:t>컨테이너
</a:t>
            </a:r>
            <a:r>
              <a:rPr lang="ko-KR" altLang="en-US" sz="1200">
                <a:solidFill>
                  <a:srgbClr val="2E7D5B"/>
                </a:solidFill>
                <a:latin typeface="NanumSquare"/>
                <a:ea typeface="NanumSquare"/>
              </a:rPr>
              <a:t>실행 중</a:t>
            </a:r>
            <a:endParaRPr lang="ko-US" sz="16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B831294-8323-9747-96B3-A9B8BA3ECB71}"/>
              </a:ext>
            </a:extLst>
          </p:cNvPr>
          <p:cNvSpPr/>
          <p:nvPr/>
        </p:nvSpPr>
        <p:spPr>
          <a:xfrm>
            <a:off x="7769087" y="3308350"/>
            <a:ext cx="3175000" cy="12446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C0512A"/>
                </a:solidFill>
                <a:latin typeface="NanumSquare"/>
                <a:ea typeface="NanumSquare"/>
              </a:rPr>
              <a:t>레지스트리
</a:t>
            </a:r>
            <a:r>
              <a:rPr lang="en" sz="1200">
                <a:solidFill>
                  <a:srgbClr val="C0512A"/>
                </a:solidFill>
                <a:latin typeface="NanumSquare"/>
                <a:ea typeface="NanumSquare"/>
              </a:rPr>
              <a:t>Docker Hub · </a:t>
            </a:r>
            <a:r>
              <a:rPr lang="ko-KR" altLang="en-US" sz="1200">
                <a:solidFill>
                  <a:srgbClr val="C0512A"/>
                </a:solidFill>
                <a:latin typeface="NanumSquare"/>
                <a:ea typeface="NanumSquare"/>
              </a:rPr>
              <a:t>사내 </a:t>
            </a:r>
            <a:r>
              <a:rPr lang="en-US" altLang="ko-KR" sz="1200">
                <a:solidFill>
                  <a:srgbClr val="C0512A"/>
                </a:solidFill>
                <a:latin typeface="NanumSquare"/>
                <a:ea typeface="NanumSquare"/>
              </a:rPr>
              <a:t>· </a:t>
            </a:r>
            <a:r>
              <a:rPr lang="ko-KR" altLang="en-US" sz="1200">
                <a:solidFill>
                  <a:srgbClr val="C0512A"/>
                </a:solidFill>
                <a:latin typeface="NanumSquare"/>
                <a:ea typeface="NanumSquare"/>
              </a:rPr>
              <a:t>클라우드</a:t>
            </a:r>
            <a:endParaRPr lang="ko-US" sz="16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B9630-B82A-3346-9143-37C6305C6A3C}"/>
              </a:ext>
            </a:extLst>
          </p:cNvPr>
          <p:cNvSpPr txBox="1"/>
          <p:nvPr/>
        </p:nvSpPr>
        <p:spPr>
          <a:xfrm>
            <a:off x="4873487" y="3384550"/>
            <a:ext cx="27432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200" b="1">
                <a:solidFill>
                  <a:srgbClr val="1565A0"/>
                </a:solidFill>
                <a:latin typeface="NanumSquare"/>
                <a:ea typeface="NanumSquare"/>
              </a:rPr>
              <a:t>docker push · </a:t>
            </a:r>
            <a:r>
              <a:rPr lang="ko-KR" altLang="en-US" sz="1200" b="1">
                <a:solidFill>
                  <a:srgbClr val="1565A0"/>
                </a:solidFill>
                <a:latin typeface="NanumSquare"/>
                <a:ea typeface="NanumSquare"/>
              </a:rPr>
              <a:t>업로드</a:t>
            </a:r>
            <a:endParaRPr lang="ko-US" sz="12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7C5B7DA0-99BB-AF43-AEAA-49CE6C028208}"/>
              </a:ext>
            </a:extLst>
          </p:cNvPr>
          <p:cNvSpPr/>
          <p:nvPr/>
        </p:nvSpPr>
        <p:spPr>
          <a:xfrm>
            <a:off x="4873487" y="3613150"/>
            <a:ext cx="2743200" cy="254000"/>
          </a:xfrm>
          <a:prstGeom prst="rightArrow">
            <a:avLst/>
          </a:prstGeom>
          <a:solidFill>
            <a:srgbClr val="1565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왼쪽 화살표[L] 14">
            <a:extLst>
              <a:ext uri="{FF2B5EF4-FFF2-40B4-BE49-F238E27FC236}">
                <a16:creationId xmlns:a16="http://schemas.microsoft.com/office/drawing/2014/main" id="{19B5328A-D4B0-5C48-BEE9-C5B512C611E4}"/>
              </a:ext>
            </a:extLst>
          </p:cNvPr>
          <p:cNvSpPr/>
          <p:nvPr/>
        </p:nvSpPr>
        <p:spPr>
          <a:xfrm>
            <a:off x="4873487" y="4197350"/>
            <a:ext cx="2743200" cy="254000"/>
          </a:xfrm>
          <a:prstGeom prst="leftArrow">
            <a:avLst/>
          </a:prstGeom>
          <a:solidFill>
            <a:srgbClr val="C051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EC9845-A5F0-EE4A-A575-69FF5CD91D0B}"/>
              </a:ext>
            </a:extLst>
          </p:cNvPr>
          <p:cNvSpPr txBox="1"/>
          <p:nvPr/>
        </p:nvSpPr>
        <p:spPr>
          <a:xfrm>
            <a:off x="4873487" y="4476750"/>
            <a:ext cx="27432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200" b="1">
                <a:solidFill>
                  <a:srgbClr val="C0512A"/>
                </a:solidFill>
                <a:latin typeface="NanumSquare"/>
                <a:ea typeface="NanumSquare"/>
              </a:rPr>
              <a:t>docker pull · </a:t>
            </a:r>
            <a:r>
              <a:rPr lang="ko-KR" altLang="en-US" sz="1200" b="1">
                <a:solidFill>
                  <a:srgbClr val="C0512A"/>
                </a:solidFill>
                <a:latin typeface="NanumSquare"/>
                <a:ea typeface="NanumSquare"/>
              </a:rPr>
              <a:t>다운로드</a:t>
            </a:r>
            <a:endParaRPr lang="ko-US" sz="12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0BD85D-08E9-4048-9261-526D225EAB1A}"/>
              </a:ext>
            </a:extLst>
          </p:cNvPr>
          <p:cNvSpPr txBox="1"/>
          <p:nvPr/>
        </p:nvSpPr>
        <p:spPr>
          <a:xfrm>
            <a:off x="685800" y="63500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ko-KR" sz="9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build로 만들고 · tag로 주소 붙여 · push로 올리고 · pull로 받고 · run으로 실행한다.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058595C-238E-2E43-8ADF-C44CD5F37BBA}"/>
              </a:ext>
            </a:extLst>
          </p:cNvPr>
          <p:cNvSpPr/>
          <p:nvPr/>
        </p:nvSpPr>
        <p:spPr>
          <a:xfrm>
            <a:off x="5380382" y="2101850"/>
            <a:ext cx="5563705" cy="1066800"/>
          </a:xfrm>
          <a:prstGeom prst="roundRect">
            <a:avLst/>
          </a:prstGeom>
          <a:solidFill>
            <a:srgbClr val="FBF1E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tag = 이미지에 '레지스트리 주소' 붙이기 (push 전 필수)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ko-KR" sz="1300" b="1" dirty="0">
                <a:solidFill>
                  <a:srgbClr val="1565A0"/>
                </a:solidFill>
                <a:latin typeface="Consolas"/>
                <a:ea typeface="Consolas"/>
                <a:cs typeface="Consolas"/>
              </a:rPr>
              <a:t>docker tag  web   myid/web:1.0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sz="1300" b="1" dirty="0">
                <a:solidFill>
                  <a:srgbClr val="1565A0"/>
                </a:solidFill>
                <a:latin typeface="Consolas"/>
                <a:ea typeface="Consolas"/>
                <a:cs typeface="Consolas"/>
              </a:rPr>
              <a:t>docker push myid/web:1.0</a:t>
            </a:r>
          </a:p>
          <a:p>
            <a:pPr algn="l">
              <a:lnSpc>
                <a:spcPct val="100000"/>
              </a:lnSpc>
              <a:buNone/>
            </a:pPr>
            <a:r>
              <a:rPr lang="ko-KR" sz="1200" dirty="0">
                <a:solidFill>
                  <a:srgbClr val="5C5C5C"/>
                </a:solidFill>
                <a:latin typeface="NanumSquare"/>
                <a:ea typeface="NanumSquare"/>
                <a:cs typeface="NanumSquare"/>
              </a:rPr>
              <a:t>주소(태그)가 있어야 어느 레지스트리·이름·버전으로 올릴지 정해진다.</a:t>
            </a:r>
          </a:p>
        </p:txBody>
      </p:sp>
    </p:spTree>
    <p:extLst>
      <p:ext uri="{BB962C8B-B14F-4D97-AF65-F5344CB8AC3E}">
        <p14:creationId xmlns:p14="http://schemas.microsoft.com/office/powerpoint/2010/main" val="42134540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3E1D9E-52F9-E542-8BA2-9FF117FF8DC9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실습 </a:t>
            </a:r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· </a:t>
            </a:r>
            <a:r>
              <a:rPr lang="en" sz="1300" b="1">
                <a:solidFill>
                  <a:srgbClr val="1D6FE0"/>
                </a:solidFill>
                <a:latin typeface="NanumSquare"/>
                <a:ea typeface="NanumSquare"/>
              </a:rPr>
              <a:t>HANDS-ON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4156B-7300-4942-AD6B-D37595470009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 dirty="0">
                <a:solidFill>
                  <a:srgbClr val="1A1A1A"/>
                </a:solidFill>
                <a:latin typeface="NanumSquare"/>
                <a:ea typeface="NanumSquare"/>
              </a:rPr>
              <a:t>실습 </a:t>
            </a:r>
            <a:r>
              <a:rPr lang="en-US" altLang="ko-KR" sz="3000" b="1" dirty="0">
                <a:solidFill>
                  <a:srgbClr val="1A1A1A"/>
                </a:solidFill>
                <a:latin typeface="NanumSquare"/>
                <a:ea typeface="NanumSquare"/>
              </a:rPr>
              <a:t>6 · </a:t>
            </a:r>
            <a:r>
              <a:rPr lang="en" sz="3000" b="1" dirty="0">
                <a:solidFill>
                  <a:srgbClr val="1A1A1A"/>
                </a:solidFill>
                <a:latin typeface="NanumSquare"/>
                <a:ea typeface="NanumSquare"/>
              </a:rPr>
              <a:t>ACR pull · </a:t>
            </a:r>
            <a:r>
              <a:rPr lang="ko-KR" altLang="en-US" sz="3000" b="1" dirty="0">
                <a:solidFill>
                  <a:srgbClr val="1A1A1A"/>
                </a:solidFill>
                <a:latin typeface="NanumSquare"/>
                <a:ea typeface="NanumSquare"/>
              </a:rPr>
              <a:t>컨테이너는 프로세스</a:t>
            </a:r>
            <a:endParaRPr lang="ko-US" sz="3000" b="1" dirty="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CD9E2E7-2C50-EC4D-B49A-4AC0E78DBB94}"/>
              </a:ext>
            </a:extLst>
          </p:cNvPr>
          <p:cNvSpPr/>
          <p:nvPr/>
        </p:nvSpPr>
        <p:spPr>
          <a:xfrm>
            <a:off x="685800" y="1905000"/>
            <a:ext cx="5461000" cy="4394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3EB74-FD6D-F945-8B49-F4C80DAD580C}"/>
              </a:ext>
            </a:extLst>
          </p:cNvPr>
          <p:cNvSpPr txBox="1"/>
          <p:nvPr/>
        </p:nvSpPr>
        <p:spPr>
          <a:xfrm>
            <a:off x="889000" y="2271643"/>
            <a:ext cx="5054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600" b="1" dirty="0">
                <a:solidFill>
                  <a:srgbClr val="1565A0"/>
                </a:solidFill>
                <a:latin typeface="NanumSquare"/>
                <a:ea typeface="NanumSquare"/>
              </a:rPr>
              <a:t>① ACR</a:t>
            </a:r>
            <a:r>
              <a:rPr lang="ko-KR" altLang="en-US" sz="1600" b="1" dirty="0">
                <a:solidFill>
                  <a:srgbClr val="1565A0"/>
                </a:solidFill>
                <a:latin typeface="NanumSquare"/>
                <a:ea typeface="NanumSquare"/>
              </a:rPr>
              <a:t>에서 </a:t>
            </a:r>
            <a:r>
              <a:rPr lang="en" sz="1600" b="1" dirty="0">
                <a:solidFill>
                  <a:srgbClr val="1565A0"/>
                </a:solidFill>
                <a:latin typeface="NanumSquare"/>
                <a:ea typeface="NanumSquare"/>
              </a:rPr>
              <a:t>pull · </a:t>
            </a:r>
            <a:r>
              <a:rPr lang="ko-KR" altLang="en-US" sz="1600" b="1" dirty="0">
                <a:solidFill>
                  <a:srgbClr val="1565A0"/>
                </a:solidFill>
                <a:latin typeface="NanumSquare"/>
                <a:ea typeface="NanumSquare"/>
              </a:rPr>
              <a:t>주소 형식 체험</a:t>
            </a:r>
            <a:endParaRPr lang="ko-US" sz="1600" b="1" dirty="0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B95CCF6-2CB2-0C4D-85B5-1AC755C6EC6D}"/>
              </a:ext>
            </a:extLst>
          </p:cNvPr>
          <p:cNvSpPr/>
          <p:nvPr/>
        </p:nvSpPr>
        <p:spPr>
          <a:xfrm>
            <a:off x="889000" y="2730500"/>
            <a:ext cx="2387600" cy="4572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1565A0"/>
                </a:solidFill>
                <a:cs typeface="Consolas"/>
              </a:rPr>
              <a:t>myreg.azurecr.io</a:t>
            </a:r>
            <a:endParaRPr lang="ko-US" sz="1300" b="1">
              <a:solidFill>
                <a:srgbClr val="1565A0"/>
              </a:solidFill>
              <a:cs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850A2-EA1D-A34E-AA84-87E633855A73}"/>
              </a:ext>
            </a:extLst>
          </p:cNvPr>
          <p:cNvSpPr txBox="1"/>
          <p:nvPr/>
        </p:nvSpPr>
        <p:spPr>
          <a:xfrm>
            <a:off x="3327400" y="2755900"/>
            <a:ext cx="203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US" b="1">
                <a:solidFill>
                  <a:srgbClr val="9AA5B1"/>
                </a:solidFill>
                <a:latin typeface="NanumSquare"/>
                <a:ea typeface="NanumSquare"/>
              </a:rPr>
              <a:t>/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A1DC7E9-A395-1A4F-BF0B-6B1FD0416B1F}"/>
              </a:ext>
            </a:extLst>
          </p:cNvPr>
          <p:cNvSpPr/>
          <p:nvPr/>
        </p:nvSpPr>
        <p:spPr>
          <a:xfrm>
            <a:off x="3556000" y="2730500"/>
            <a:ext cx="939800" cy="4572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2E7D5B"/>
                </a:solidFill>
                <a:cs typeface="Consolas"/>
              </a:rPr>
              <a:t>app</a:t>
            </a:r>
            <a:endParaRPr lang="ko-US" sz="1300" b="1">
              <a:solidFill>
                <a:srgbClr val="2E7D5B"/>
              </a:solidFill>
              <a:cs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E1848-8B53-DE4F-965B-9E269F5E76E1}"/>
              </a:ext>
            </a:extLst>
          </p:cNvPr>
          <p:cNvSpPr txBox="1"/>
          <p:nvPr/>
        </p:nvSpPr>
        <p:spPr>
          <a:xfrm>
            <a:off x="4521200" y="2755900"/>
            <a:ext cx="1524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US" b="1">
                <a:solidFill>
                  <a:srgbClr val="9AA5B1"/>
                </a:solidFill>
                <a:latin typeface="NanumSquare"/>
                <a:ea typeface="NanumSquare"/>
              </a:rPr>
              <a:t>: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8A375F6-671C-E748-A8F2-55E78DAA9C6E}"/>
              </a:ext>
            </a:extLst>
          </p:cNvPr>
          <p:cNvSpPr/>
          <p:nvPr/>
        </p:nvSpPr>
        <p:spPr>
          <a:xfrm>
            <a:off x="4699000" y="2730500"/>
            <a:ext cx="812800" cy="457200"/>
          </a:xfrm>
          <a:prstGeom prst="roundRect">
            <a:avLst/>
          </a:prstGeom>
          <a:solidFill>
            <a:srgbClr val="EFE7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6B3FA0"/>
                </a:solidFill>
                <a:cs typeface="Consolas"/>
              </a:rPr>
              <a:t>v1</a:t>
            </a:r>
            <a:endParaRPr lang="ko-US" sz="1300" b="1">
              <a:solidFill>
                <a:srgbClr val="6B3FA0"/>
              </a:solidFill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38323-EC1F-D140-B59C-94E881BB5FD9}"/>
              </a:ext>
            </a:extLst>
          </p:cNvPr>
          <p:cNvSpPr txBox="1"/>
          <p:nvPr/>
        </p:nvSpPr>
        <p:spPr>
          <a:xfrm>
            <a:off x="889000" y="3213100"/>
            <a:ext cx="2387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050">
                <a:solidFill>
                  <a:srgbClr val="5C5C5C"/>
                </a:solidFill>
                <a:latin typeface="NanumSquare"/>
                <a:ea typeface="NanumSquare"/>
              </a:rPr>
              <a:t>레지스트리 호스트 </a:t>
            </a:r>
            <a:r>
              <a:rPr lang="en-US" altLang="ko-KR" sz="1050">
                <a:solidFill>
                  <a:srgbClr val="5C5C5C"/>
                </a:solidFill>
                <a:latin typeface="NanumSquare"/>
                <a:ea typeface="NanumSquare"/>
              </a:rPr>
              <a:t>(.</a:t>
            </a:r>
            <a:r>
              <a:rPr lang="en" sz="1050">
                <a:solidFill>
                  <a:srgbClr val="5C5C5C"/>
                </a:solidFill>
                <a:latin typeface="NanumSquare"/>
                <a:ea typeface="NanumSquare"/>
              </a:rPr>
              <a:t>azurecr.io)</a:t>
            </a:r>
            <a:endParaRPr lang="ko-US" sz="105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1A4DF-E9B9-324A-9752-A419C5BE192A}"/>
              </a:ext>
            </a:extLst>
          </p:cNvPr>
          <p:cNvSpPr txBox="1"/>
          <p:nvPr/>
        </p:nvSpPr>
        <p:spPr>
          <a:xfrm>
            <a:off x="3556000" y="3213100"/>
            <a:ext cx="9398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050">
                <a:solidFill>
                  <a:srgbClr val="5C5C5C"/>
                </a:solidFill>
                <a:latin typeface="NanumSquare"/>
                <a:ea typeface="NanumSquare"/>
              </a:rPr>
              <a:t>리포지토리</a:t>
            </a:r>
            <a:endParaRPr lang="ko-US" sz="105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AD732-478F-C740-B270-2CBBCA773D0F}"/>
              </a:ext>
            </a:extLst>
          </p:cNvPr>
          <p:cNvSpPr txBox="1"/>
          <p:nvPr/>
        </p:nvSpPr>
        <p:spPr>
          <a:xfrm>
            <a:off x="4699000" y="3213100"/>
            <a:ext cx="8128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050">
                <a:solidFill>
                  <a:srgbClr val="5C5C5C"/>
                </a:solidFill>
                <a:latin typeface="NanumSquare"/>
                <a:ea typeface="NanumSquare"/>
              </a:rPr>
              <a:t>태그</a:t>
            </a:r>
            <a:endParaRPr lang="ko-US" sz="105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CA1FA2B-34AA-9244-A74C-84585E74C96D}"/>
              </a:ext>
            </a:extLst>
          </p:cNvPr>
          <p:cNvSpPr/>
          <p:nvPr/>
        </p:nvSpPr>
        <p:spPr>
          <a:xfrm>
            <a:off x="889000" y="3873500"/>
            <a:ext cx="1778000" cy="5588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C0512A"/>
                </a:solidFill>
                <a:latin typeface="NanumSquare"/>
                <a:ea typeface="NanumSquare"/>
              </a:rPr>
              <a:t>ACR</a:t>
            </a:r>
            <a:endParaRPr lang="ko-US" sz="14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9DAB1-F098-DB4C-8615-820764EC2E5B}"/>
              </a:ext>
            </a:extLst>
          </p:cNvPr>
          <p:cNvSpPr txBox="1"/>
          <p:nvPr/>
        </p:nvSpPr>
        <p:spPr>
          <a:xfrm>
            <a:off x="2717800" y="3670300"/>
            <a:ext cx="10922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100" b="1">
                <a:solidFill>
                  <a:srgbClr val="1565A0"/>
                </a:solidFill>
                <a:latin typeface="NanumSquare"/>
                <a:ea typeface="NanumSquare"/>
              </a:rPr>
              <a:t>docker pull</a:t>
            </a:r>
            <a:endParaRPr lang="ko-US" sz="11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9BDFFD63-565A-F540-BA28-29F46965BA0C}"/>
              </a:ext>
            </a:extLst>
          </p:cNvPr>
          <p:cNvSpPr/>
          <p:nvPr/>
        </p:nvSpPr>
        <p:spPr>
          <a:xfrm>
            <a:off x="2743200" y="4025900"/>
            <a:ext cx="1016000" cy="2540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BE87D9C-0689-674A-9481-1EBA34AFF37A}"/>
              </a:ext>
            </a:extLst>
          </p:cNvPr>
          <p:cNvSpPr/>
          <p:nvPr/>
        </p:nvSpPr>
        <p:spPr>
          <a:xfrm>
            <a:off x="3835400" y="3873500"/>
            <a:ext cx="1778000" cy="5588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565A0"/>
                </a:solidFill>
                <a:latin typeface="NanumSquare"/>
                <a:ea typeface="NanumSquare"/>
              </a:rPr>
              <a:t>로컬 이미지</a:t>
            </a:r>
            <a:endParaRPr lang="ko-US" sz="14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BB056F-E38A-0C47-88B7-1928939B5D9D}"/>
              </a:ext>
            </a:extLst>
          </p:cNvPr>
          <p:cNvSpPr txBox="1"/>
          <p:nvPr/>
        </p:nvSpPr>
        <p:spPr>
          <a:xfrm>
            <a:off x="889000" y="4635500"/>
            <a:ext cx="5054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200" b="1">
                <a:solidFill>
                  <a:srgbClr val="1565A0"/>
                </a:solidFill>
                <a:latin typeface="Consolas"/>
                <a:cs typeface="Consolas"/>
              </a:rPr>
              <a:t>docker pull myreg.azurecr.io/app:v1</a:t>
            </a:r>
            <a:endParaRPr lang="ko-US" sz="1200" b="1">
              <a:solidFill>
                <a:srgbClr val="1565A0"/>
              </a:solidFill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59D999-3A29-E749-8219-7F7A999B7D26}"/>
              </a:ext>
            </a:extLst>
          </p:cNvPr>
          <p:cNvSpPr txBox="1"/>
          <p:nvPr/>
        </p:nvSpPr>
        <p:spPr>
          <a:xfrm>
            <a:off x="889000" y="5016500"/>
            <a:ext cx="50546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 dirty="0">
                <a:solidFill>
                  <a:srgbClr val="5C5C5C"/>
                </a:solidFill>
                <a:latin typeface="NanumSquare"/>
                <a:ea typeface="NanumSquare"/>
              </a:rPr>
              <a:t>호스트가 </a:t>
            </a:r>
            <a:r>
              <a:rPr lang="en-US" altLang="ko-KR" sz="1100" dirty="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r>
              <a:rPr lang="en" sz="1100" dirty="0" err="1">
                <a:solidFill>
                  <a:srgbClr val="5C5C5C"/>
                </a:solidFill>
                <a:latin typeface="NanumSquare"/>
                <a:ea typeface="NanumSquare"/>
              </a:rPr>
              <a:t>azurecr.io</a:t>
            </a:r>
            <a:r>
              <a:rPr lang="en" sz="1100" dirty="0">
                <a:solidFill>
                  <a:srgbClr val="5C5C5C"/>
                </a:solidFill>
                <a:latin typeface="NanumSquare"/>
                <a:ea typeface="NanumSquare"/>
              </a:rPr>
              <a:t> </a:t>
            </a:r>
            <a:r>
              <a:rPr lang="ko-KR" altLang="en-US" sz="1100" dirty="0">
                <a:solidFill>
                  <a:srgbClr val="5C5C5C"/>
                </a:solidFill>
                <a:latin typeface="NanumSquare"/>
                <a:ea typeface="NanumSquare"/>
              </a:rPr>
              <a:t>인 점이 </a:t>
            </a:r>
            <a:r>
              <a:rPr lang="en" sz="1100" dirty="0">
                <a:solidFill>
                  <a:srgbClr val="5C5C5C"/>
                </a:solidFill>
                <a:latin typeface="NanumSquare"/>
                <a:ea typeface="NanumSquare"/>
              </a:rPr>
              <a:t>Docker Hub(</a:t>
            </a:r>
            <a:r>
              <a:rPr lang="en" sz="1100" dirty="0" err="1">
                <a:solidFill>
                  <a:srgbClr val="5C5C5C"/>
                </a:solidFill>
                <a:latin typeface="NanumSquare"/>
                <a:ea typeface="NanumSquare"/>
              </a:rPr>
              <a:t>docker.io</a:t>
            </a:r>
            <a:r>
              <a:rPr lang="en" sz="1100" dirty="0">
                <a:solidFill>
                  <a:srgbClr val="5C5C5C"/>
                </a:solidFill>
                <a:latin typeface="NanumSquare"/>
                <a:ea typeface="NanumSquare"/>
              </a:rPr>
              <a:t>)</a:t>
            </a:r>
            <a:r>
              <a:rPr lang="ko-KR" altLang="en-US" sz="1100" dirty="0">
                <a:solidFill>
                  <a:srgbClr val="5C5C5C"/>
                </a:solidFill>
                <a:latin typeface="NanumSquare"/>
                <a:ea typeface="NanumSquare"/>
              </a:rPr>
              <a:t>와 다르다</a:t>
            </a:r>
            <a:r>
              <a:rPr lang="en-US" altLang="ko-KR" sz="1100" dirty="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100" dirty="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A5C2D29-B6B4-7F46-BD13-E4E2361AD40F}"/>
              </a:ext>
            </a:extLst>
          </p:cNvPr>
          <p:cNvSpPr/>
          <p:nvPr/>
        </p:nvSpPr>
        <p:spPr>
          <a:xfrm>
            <a:off x="6350000" y="1905000"/>
            <a:ext cx="5156200" cy="4394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9404F8-0126-F64F-8BAA-CB83BC06C013}"/>
              </a:ext>
            </a:extLst>
          </p:cNvPr>
          <p:cNvSpPr txBox="1"/>
          <p:nvPr/>
        </p:nvSpPr>
        <p:spPr>
          <a:xfrm>
            <a:off x="6553200" y="2270539"/>
            <a:ext cx="4749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 b="1" dirty="0">
                <a:solidFill>
                  <a:srgbClr val="2E7D5B"/>
                </a:solidFill>
                <a:latin typeface="NanumSquare"/>
                <a:ea typeface="NanumSquare"/>
              </a:rPr>
              <a:t>② </a:t>
            </a:r>
            <a:r>
              <a:rPr lang="ko-KR" altLang="en-US" sz="1600" b="1" dirty="0">
                <a:solidFill>
                  <a:srgbClr val="2E7D5B"/>
                </a:solidFill>
                <a:latin typeface="NanumSquare"/>
                <a:ea typeface="NanumSquare"/>
              </a:rPr>
              <a:t>컨테이너는 </a:t>
            </a:r>
            <a:r>
              <a:rPr lang="en-US" altLang="ko-KR" sz="1600" b="1" dirty="0">
                <a:solidFill>
                  <a:srgbClr val="2E7D5B"/>
                </a:solidFill>
                <a:latin typeface="NanumSquare"/>
                <a:ea typeface="NanumSquare"/>
              </a:rPr>
              <a:t>'</a:t>
            </a:r>
            <a:r>
              <a:rPr lang="ko-KR" altLang="en-US" sz="1600" b="1" dirty="0">
                <a:solidFill>
                  <a:srgbClr val="2E7D5B"/>
                </a:solidFill>
                <a:latin typeface="NanumSquare"/>
                <a:ea typeface="NanumSquare"/>
              </a:rPr>
              <a:t>프로세스</a:t>
            </a:r>
            <a:r>
              <a:rPr lang="en-US" altLang="ko-KR" sz="1600" b="1" dirty="0">
                <a:solidFill>
                  <a:srgbClr val="2E7D5B"/>
                </a:solidFill>
                <a:latin typeface="NanumSquare"/>
                <a:ea typeface="NanumSquare"/>
              </a:rPr>
              <a:t>'</a:t>
            </a:r>
            <a:r>
              <a:rPr lang="ko-KR" altLang="en-US" sz="1600" b="1" dirty="0">
                <a:solidFill>
                  <a:srgbClr val="2E7D5B"/>
                </a:solidFill>
                <a:latin typeface="NanumSquare"/>
                <a:ea typeface="NanumSquare"/>
              </a:rPr>
              <a:t>다</a:t>
            </a:r>
            <a:endParaRPr lang="ko-US" sz="1600" b="1" dirty="0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12883-D06F-8249-BCD1-0F443719856C}"/>
              </a:ext>
            </a:extLst>
          </p:cNvPr>
          <p:cNvSpPr txBox="1"/>
          <p:nvPr/>
        </p:nvSpPr>
        <p:spPr>
          <a:xfrm>
            <a:off x="6553200" y="2676939"/>
            <a:ext cx="47498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 algn="l">
              <a:lnSpc>
                <a:spcPct val="135000"/>
              </a:lnSpc>
              <a:spcAft>
                <a:spcPts val="500"/>
              </a:spcAft>
              <a:buClr>
                <a:srgbClr val="2E7D5B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docker run 으로 컨테이너를 실행한다</a:t>
            </a:r>
          </a:p>
          <a:p>
            <a:pPr marL="228600" indent="-228600" algn="l">
              <a:lnSpc>
                <a:spcPct val="135000"/>
              </a:lnSpc>
              <a:spcAft>
                <a:spcPts val="500"/>
              </a:spcAft>
              <a:buClr>
                <a:srgbClr val="2E7D5B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호스트에서 ps -ef · docker top 으로 들여다본다</a:t>
            </a:r>
          </a:p>
          <a:p>
            <a:pPr marL="228600" indent="-228600" algn="l">
              <a:lnSpc>
                <a:spcPct val="135000"/>
              </a:lnSpc>
              <a:spcAft>
                <a:spcPts val="500"/>
              </a:spcAft>
              <a:buClr>
                <a:srgbClr val="2E7D5B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컨테이너 프로세스가 호스트에 PID로 그대로 보인다</a:t>
            </a:r>
          </a:p>
          <a:p>
            <a:pPr marL="228600" indent="-228600" algn="l">
              <a:lnSpc>
                <a:spcPct val="135000"/>
              </a:lnSpc>
              <a:spcAft>
                <a:spcPts val="500"/>
              </a:spcAft>
              <a:buClr>
                <a:srgbClr val="2E7D5B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결론: 컨테이너 = 격리된 '프로세스' (VM 아님)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685AF82-4CBF-2840-BCC9-9BDC59D15435}"/>
              </a:ext>
            </a:extLst>
          </p:cNvPr>
          <p:cNvSpPr/>
          <p:nvPr/>
        </p:nvSpPr>
        <p:spPr>
          <a:xfrm>
            <a:off x="6553200" y="4419600"/>
            <a:ext cx="4749800" cy="8382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FB8A6C-D75C-D145-86CD-770A1928D987}"/>
              </a:ext>
            </a:extLst>
          </p:cNvPr>
          <p:cNvSpPr txBox="1"/>
          <p:nvPr/>
        </p:nvSpPr>
        <p:spPr>
          <a:xfrm>
            <a:off x="6731000" y="4495800"/>
            <a:ext cx="4394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 b="1">
                <a:solidFill>
                  <a:srgbClr val="1565A0"/>
                </a:solidFill>
                <a:latin typeface="Consolas"/>
                <a:cs typeface="Consolas"/>
              </a:rPr>
              <a:t>docker top web</a:t>
            </a:r>
            <a:endParaRPr lang="ko-US" sz="1300" b="1">
              <a:solidFill>
                <a:srgbClr val="1565A0"/>
              </a:solidFill>
              <a:cs typeface="Consola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CA1A3D-E3ED-2D4E-86DC-F562B1B03287}"/>
              </a:ext>
            </a:extLst>
          </p:cNvPr>
          <p:cNvSpPr txBox="1"/>
          <p:nvPr/>
        </p:nvSpPr>
        <p:spPr>
          <a:xfrm>
            <a:off x="6731000" y="4826000"/>
            <a:ext cx="4394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 b="1">
                <a:solidFill>
                  <a:srgbClr val="1565A0"/>
                </a:solidFill>
                <a:latin typeface="Consolas"/>
                <a:cs typeface="Consolas"/>
              </a:rPr>
              <a:t>ps -ef | grep nginx</a:t>
            </a:r>
            <a:endParaRPr lang="ko-US" sz="1300" b="1">
              <a:solidFill>
                <a:srgbClr val="1565A0"/>
              </a:solidFill>
              <a:cs typeface="Consola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5BD9F5-F229-3447-8DD8-72CF6F433D37}"/>
              </a:ext>
            </a:extLst>
          </p:cNvPr>
          <p:cNvSpPr txBox="1"/>
          <p:nvPr/>
        </p:nvSpPr>
        <p:spPr>
          <a:xfrm>
            <a:off x="6553200" y="5384800"/>
            <a:ext cx="47498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100">
                <a:solidFill>
                  <a:srgbClr val="5C5C5C"/>
                </a:solidFill>
                <a:latin typeface="NanumSquare"/>
                <a:ea typeface="NanumSquare"/>
              </a:rPr>
              <a:t>VM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은 커널까지 별도지만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ko-KR" altLang="en-US" sz="1100">
                <a:solidFill>
                  <a:srgbClr val="5C5C5C"/>
                </a:solidFill>
                <a:latin typeface="NanumSquare"/>
                <a:ea typeface="NanumSquare"/>
              </a:rPr>
              <a:t>컨테이너는 호스트 커널의 한 프로세스일 뿐이다</a:t>
            </a:r>
            <a:r>
              <a:rPr lang="en-US" altLang="ko-KR" sz="11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1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93003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</a:t>
            </a:r>
            <a:r>
              <a:rPr lang="en-US" altLang="ko-KR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런타임 이해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Docker, containerd, CRI-O — 누가 실제로 컨테이너를 띄우나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9008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A388F5-2680-D74F-8797-F656EF8A5961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 dirty="0">
                <a:solidFill>
                  <a:srgbClr val="1D6FE0"/>
                </a:solidFill>
                <a:latin typeface="NanumSquare"/>
                <a:ea typeface="NanumSquare"/>
              </a:rPr>
              <a:t>06 · </a:t>
            </a:r>
            <a:r>
              <a:rPr lang="ko-KR" altLang="en-US" sz="1300" b="1" dirty="0">
                <a:solidFill>
                  <a:srgbClr val="1D6FE0"/>
                </a:solidFill>
                <a:latin typeface="NanumSquare"/>
                <a:ea typeface="NanumSquare"/>
              </a:rPr>
              <a:t>런타임</a:t>
            </a:r>
            <a:endParaRPr lang="ko-US" sz="1300" b="1" dirty="0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6F127-AD52-B54A-A8CB-D495490A6AF5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컨테이너 런타임이란 무엇인가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55346-5AC9-8E43-8E76-487BB4EF2AA3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이미지를 실제로 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'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실행되는 컨테이너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'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로 만들어 주는 소프트웨어다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이미지가 설계도라면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런타임은 그 설계도로 컨테이너를 찍어내는 엔진이다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5AE3EA1-09F9-9341-88B4-2F1C372C9C97}"/>
              </a:ext>
            </a:extLst>
          </p:cNvPr>
          <p:cNvSpPr/>
          <p:nvPr/>
        </p:nvSpPr>
        <p:spPr>
          <a:xfrm>
            <a:off x="685800" y="2032000"/>
            <a:ext cx="5461000" cy="3759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1A15C-D4DE-7245-86DC-2C7104B2F893}"/>
              </a:ext>
            </a:extLst>
          </p:cNvPr>
          <p:cNvSpPr txBox="1"/>
          <p:nvPr/>
        </p:nvSpPr>
        <p:spPr>
          <a:xfrm>
            <a:off x="889000" y="2159000"/>
            <a:ext cx="5054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565A0"/>
                </a:solidFill>
                <a:latin typeface="NanumSquare"/>
                <a:ea typeface="NanumSquare"/>
              </a:rPr>
              <a:t>런타임이 하는 일</a:t>
            </a:r>
            <a:endParaRPr lang="ko-US" sz="1600" b="1" dirty="0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AE352-37F4-3E44-8725-508AE74E153E}"/>
              </a:ext>
            </a:extLst>
          </p:cNvPr>
          <p:cNvSpPr txBox="1"/>
          <p:nvPr/>
        </p:nvSpPr>
        <p:spPr>
          <a:xfrm>
            <a:off x="889000" y="2565400"/>
            <a:ext cx="5054600" cy="309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28600" indent="-228600" algn="l">
              <a:lnSpc>
                <a:spcPct val="150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이미지를 풀어 컨테이너용 파일시스템을 구성</a:t>
            </a:r>
          </a:p>
          <a:p>
            <a:pPr marL="228600" indent="-228600" algn="l">
              <a:lnSpc>
                <a:spcPct val="150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커널의 namespace · cgroup으로 격리·자원 제한 설정</a:t>
            </a:r>
          </a:p>
          <a:p>
            <a:pPr marL="228600" indent="-228600" algn="l">
              <a:lnSpc>
                <a:spcPct val="150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컨테이너 프로세스를 생성 · 시작 · 정지 · 삭제</a:t>
            </a:r>
          </a:p>
          <a:p>
            <a:pPr marL="228600" indent="-228600" algn="l">
              <a:lnSpc>
                <a:spcPct val="150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(고수준 런타임) 이미지 받기 · 저장 · API 제공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1355CE7-0674-4B4F-A38B-CEE0325A5D2F}"/>
              </a:ext>
            </a:extLst>
          </p:cNvPr>
          <p:cNvSpPr/>
          <p:nvPr/>
        </p:nvSpPr>
        <p:spPr>
          <a:xfrm>
            <a:off x="6426200" y="2032000"/>
            <a:ext cx="5080000" cy="37592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2F79D-C289-8A47-A7A7-F35BBA345CB1}"/>
              </a:ext>
            </a:extLst>
          </p:cNvPr>
          <p:cNvSpPr txBox="1"/>
          <p:nvPr/>
        </p:nvSpPr>
        <p:spPr>
          <a:xfrm>
            <a:off x="6629400" y="2159000"/>
            <a:ext cx="4673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A1A1A"/>
                </a:solidFill>
                <a:latin typeface="NanumSquare"/>
                <a:ea typeface="NanumSquare"/>
              </a:rPr>
              <a:t>런타임은 어디에 있나</a:t>
            </a:r>
            <a:endParaRPr lang="ko-US" sz="16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4F32E31-D1CE-AF45-8C4D-31998E0CECE7}"/>
              </a:ext>
            </a:extLst>
          </p:cNvPr>
          <p:cNvSpPr/>
          <p:nvPr/>
        </p:nvSpPr>
        <p:spPr>
          <a:xfrm>
            <a:off x="6680200" y="2565400"/>
            <a:ext cx="4572000" cy="508000"/>
          </a:xfrm>
          <a:prstGeom prst="roundRect">
            <a:avLst/>
          </a:prstGeom>
          <a:solidFill>
            <a:srgbClr val="E5E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1552A8"/>
                </a:solidFill>
                <a:latin typeface="NanumSquare"/>
                <a:ea typeface="NanumSquare"/>
              </a:rPr>
              <a:t>Docker CLI  —  </a:t>
            </a:r>
            <a:r>
              <a:rPr lang="ko-KR" altLang="en-US" sz="1300" b="1">
                <a:solidFill>
                  <a:srgbClr val="1552A8"/>
                </a:solidFill>
                <a:latin typeface="NanumSquare"/>
                <a:ea typeface="NanumSquare"/>
              </a:rPr>
              <a:t>사용자 명령</a:t>
            </a:r>
            <a:endParaRPr lang="ko-US" sz="1300" b="1">
              <a:solidFill>
                <a:srgbClr val="1552A8"/>
              </a:solidFill>
              <a:latin typeface="NanumSquare"/>
              <a:ea typeface="NanumSquare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D163796-0BFD-0D4D-961B-17B88E6DB825}"/>
              </a:ext>
            </a:extLst>
          </p:cNvPr>
          <p:cNvSpPr/>
          <p:nvPr/>
        </p:nvSpPr>
        <p:spPr>
          <a:xfrm>
            <a:off x="6680200" y="3378200"/>
            <a:ext cx="4572000" cy="5080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컨테이너 런타임  </a:t>
            </a:r>
            <a:r>
              <a:rPr lang="en-US" altLang="ko-KR" sz="1300" b="1">
                <a:solidFill>
                  <a:srgbClr val="FFFFFF"/>
                </a:solidFill>
                <a:latin typeface="NanumSquare"/>
                <a:ea typeface="NanumSquare"/>
              </a:rPr>
              <a:t>—  </a:t>
            </a:r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이미지 → 컨테이너로 실행</a:t>
            </a:r>
            <a:endParaRPr lang="ko-US" sz="13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24D4919-8C35-DC49-860C-77650D07484A}"/>
              </a:ext>
            </a:extLst>
          </p:cNvPr>
          <p:cNvSpPr/>
          <p:nvPr/>
        </p:nvSpPr>
        <p:spPr>
          <a:xfrm>
            <a:off x="6680200" y="4191000"/>
            <a:ext cx="4572000" cy="5080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C0512A"/>
                </a:solidFill>
                <a:latin typeface="NanumSquare"/>
                <a:ea typeface="NanumSquare"/>
              </a:rPr>
              <a:t>리눅스 커널  </a:t>
            </a:r>
            <a:r>
              <a:rPr lang="en-US" altLang="ko-KR" sz="1300" b="1">
                <a:solidFill>
                  <a:srgbClr val="C0512A"/>
                </a:solidFill>
                <a:latin typeface="NanumSquare"/>
                <a:ea typeface="NanumSquare"/>
              </a:rPr>
              <a:t>—  </a:t>
            </a:r>
            <a:r>
              <a:rPr lang="en" sz="1300" b="1">
                <a:solidFill>
                  <a:srgbClr val="C0512A"/>
                </a:solidFill>
                <a:latin typeface="NanumSquare"/>
                <a:ea typeface="NanumSquare"/>
              </a:rPr>
              <a:t>namespace · cgroup </a:t>
            </a:r>
            <a:r>
              <a:rPr lang="ko-KR" altLang="en-US" sz="1300" b="1">
                <a:solidFill>
                  <a:srgbClr val="C0512A"/>
                </a:solidFill>
                <a:latin typeface="NanumSquare"/>
                <a:ea typeface="NanumSquare"/>
              </a:rPr>
              <a:t>으로 격리</a:t>
            </a:r>
            <a:endParaRPr lang="ko-US" sz="13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FAC536C-EF54-A740-BED2-A7ECBD5A5DCC}"/>
              </a:ext>
            </a:extLst>
          </p:cNvPr>
          <p:cNvSpPr/>
          <p:nvPr/>
        </p:nvSpPr>
        <p:spPr>
          <a:xfrm>
            <a:off x="6680200" y="5003800"/>
            <a:ext cx="4572000" cy="5080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2E7D5B"/>
                </a:solidFill>
                <a:latin typeface="NanumSquare"/>
                <a:ea typeface="NanumSquare"/>
              </a:rPr>
              <a:t>컨테이너 프로세스  </a:t>
            </a:r>
            <a:r>
              <a:rPr lang="en-US" altLang="ko-KR" sz="1300" b="1">
                <a:solidFill>
                  <a:srgbClr val="2E7D5B"/>
                </a:solidFill>
                <a:latin typeface="NanumSquare"/>
                <a:ea typeface="NanumSquare"/>
              </a:rPr>
              <a:t>—  </a:t>
            </a:r>
            <a:r>
              <a:rPr lang="ko-KR" altLang="en-US" sz="1300" b="1">
                <a:solidFill>
                  <a:srgbClr val="2E7D5B"/>
                </a:solidFill>
                <a:latin typeface="NanumSquare"/>
                <a:ea typeface="NanumSquare"/>
              </a:rPr>
              <a:t>실제 실행되는 앱</a:t>
            </a:r>
            <a:endParaRPr lang="ko-US" sz="13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4" name="아래쪽 화살표[D] 13">
            <a:extLst>
              <a:ext uri="{FF2B5EF4-FFF2-40B4-BE49-F238E27FC236}">
                <a16:creationId xmlns:a16="http://schemas.microsoft.com/office/drawing/2014/main" id="{F3735C80-365A-1B46-9FF3-D81552536A7E}"/>
              </a:ext>
            </a:extLst>
          </p:cNvPr>
          <p:cNvSpPr/>
          <p:nvPr/>
        </p:nvSpPr>
        <p:spPr>
          <a:xfrm>
            <a:off x="8788400" y="3098800"/>
            <a:ext cx="355600" cy="228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아래쪽 화살표[D] 14">
            <a:extLst>
              <a:ext uri="{FF2B5EF4-FFF2-40B4-BE49-F238E27FC236}">
                <a16:creationId xmlns:a16="http://schemas.microsoft.com/office/drawing/2014/main" id="{942198C3-A410-974C-8FFF-4DF002F20B09}"/>
              </a:ext>
            </a:extLst>
          </p:cNvPr>
          <p:cNvSpPr/>
          <p:nvPr/>
        </p:nvSpPr>
        <p:spPr>
          <a:xfrm>
            <a:off x="8788400" y="3911600"/>
            <a:ext cx="355600" cy="228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6" name="아래쪽 화살표[D] 15">
            <a:extLst>
              <a:ext uri="{FF2B5EF4-FFF2-40B4-BE49-F238E27FC236}">
                <a16:creationId xmlns:a16="http://schemas.microsoft.com/office/drawing/2014/main" id="{16FB47FC-7E2B-6A41-8291-87946C0E4C39}"/>
              </a:ext>
            </a:extLst>
          </p:cNvPr>
          <p:cNvSpPr/>
          <p:nvPr/>
        </p:nvSpPr>
        <p:spPr>
          <a:xfrm>
            <a:off x="8788400" y="4724400"/>
            <a:ext cx="355600" cy="228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66F4B15-341A-DF4E-9C3C-932AFEF15226}"/>
              </a:ext>
            </a:extLst>
          </p:cNvPr>
          <p:cNvSpPr/>
          <p:nvPr/>
        </p:nvSpPr>
        <p:spPr>
          <a:xfrm>
            <a:off x="685800" y="5892800"/>
            <a:ext cx="10820400" cy="5080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런타임은 한 덩어리가 아니다 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— '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고수준 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+ </a:t>
            </a:r>
            <a:r>
              <a:rPr lang="ko-KR" altLang="en-US" sz="1400" b="1" dirty="0" err="1">
                <a:solidFill>
                  <a:srgbClr val="FFFFFF"/>
                </a:solidFill>
                <a:latin typeface="NanumSquare"/>
                <a:ea typeface="NanumSquare"/>
              </a:rPr>
              <a:t>저수준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'</a:t>
            </a:r>
            <a:r>
              <a:rPr lang="ko-KR" altLang="en-US" sz="1400" b="1" dirty="0" err="1">
                <a:solidFill>
                  <a:srgbClr val="FFFFFF"/>
                </a:solidFill>
                <a:latin typeface="NanumSquare"/>
                <a:ea typeface="NanumSquare"/>
              </a:rPr>
              <a:t>으로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 나뉜다 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(</a:t>
            </a:r>
            <a:r>
              <a:rPr lang="ko-KR" altLang="en-US" sz="1400" b="1" dirty="0">
                <a:solidFill>
                  <a:srgbClr val="FFFFFF"/>
                </a:solidFill>
                <a:latin typeface="NanumSquare"/>
                <a:ea typeface="NanumSquare"/>
              </a:rPr>
              <a:t>다음 장</a:t>
            </a:r>
            <a:r>
              <a:rPr lang="en-US" altLang="ko-KR" sz="1400" b="1" dirty="0">
                <a:solidFill>
                  <a:srgbClr val="FFFFFF"/>
                </a:solidFill>
                <a:latin typeface="NanumSquare"/>
                <a:ea typeface="NanumSquare"/>
              </a:rPr>
              <a:t>)</a:t>
            </a:r>
            <a:endParaRPr lang="ko-US" sz="1400" b="1" dirty="0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D67A87-2924-C242-9738-ED1B6BA31CCD}"/>
              </a:ext>
            </a:extLst>
          </p:cNvPr>
          <p:cNvSpPr txBox="1"/>
          <p:nvPr/>
        </p:nvSpPr>
        <p:spPr>
          <a:xfrm>
            <a:off x="685800" y="65024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Docker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는 직접 컨테이너를 만들지 않는다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실제 실행은 런타임이 커널에게 시킨다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6274895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계층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런타임에도 '계층'이 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고수준 런타임(High-level): 이미지 관리·API·네트워크 — 예: containerd, CRI-O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저수준 런타임(Low-level): 실제로 namespace·cgroups를 만들어 프로세스 실행 — 예: runc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Docker는 사용자 친화 도구(CLI·빌드)이고, 내부적으로 containerd→runc를 호출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쿠버네티스는 Docker가 아니라 'CRI'를 통해 런타임과 대화한다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줄: Docker(도구) → containerd(관리) → runc(실행). 점점 저수준으로 내려간다.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681997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호출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컨테이너가 뜨기까지의 호출 사슬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0" y="3474720"/>
            <a:ext cx="274320" cy="914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4663440" y="3474720"/>
            <a:ext cx="274320" cy="914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6766560" y="3474720"/>
            <a:ext cx="274320" cy="914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8869680" y="3474720"/>
            <a:ext cx="274320" cy="914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>
            <a:off x="10058400" y="3931920"/>
            <a:ext cx="914" cy="640080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(docker CLI)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4640" y="30175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dockerd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containerd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고수준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30175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6" name="Text 14"/>
          <p:cNvSpPr/>
          <p:nvPr/>
        </p:nvSpPr>
        <p:spPr>
          <a:xfrm>
            <a:off x="704088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shim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수명관리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30175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8" name="Text 16"/>
          <p:cNvSpPr/>
          <p:nvPr/>
        </p:nvSpPr>
        <p:spPr>
          <a:xfrm>
            <a:off x="91440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runc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저수준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45720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0" name="Text 18"/>
          <p:cNvSpPr/>
          <p:nvPr/>
        </p:nvSpPr>
        <p:spPr>
          <a:xfrm>
            <a:off x="9144000" y="45720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프로세스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runc가 namespace·cgroups를 세팅하고 진짜 프로세스를 띄운다. 위는 모두 '관리 계층'.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004327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CRI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쿠버네티스는 CRI로 런타임과 대화한다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74187" y="2830068"/>
            <a:ext cx="914" cy="27432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4345387" y="3424428"/>
            <a:ext cx="548640" cy="1165860"/>
          </a:xfrm>
          <a:prstGeom prst="line">
            <a:avLst/>
          </a:prstGeom>
          <a:noFill/>
          <a:ln w="22225">
            <a:solidFill>
              <a:srgbClr val="6B4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 flipH="1">
            <a:off x="5991307" y="3424428"/>
            <a:ext cx="2011680" cy="1165860"/>
          </a:xfrm>
          <a:prstGeom prst="line">
            <a:avLst/>
          </a:prstGeom>
          <a:noFill/>
          <a:ln w="22225">
            <a:solidFill>
              <a:srgbClr val="6B46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3339547" y="5024628"/>
            <a:ext cx="2377440" cy="411480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 flipH="1">
            <a:off x="5716987" y="5024628"/>
            <a:ext cx="1828800" cy="411480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Shape 7"/>
          <p:cNvSpPr/>
          <p:nvPr/>
        </p:nvSpPr>
        <p:spPr>
          <a:xfrm>
            <a:off x="4345387" y="1961388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1D6FE0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4345387" y="1961388"/>
            <a:ext cx="36576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노드 에이전트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5387" y="3104388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F1ECFB"/>
          </a:solidFill>
          <a:ln w="19050">
            <a:solidFill>
              <a:srgbClr val="6B46C1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4345387" y="3104388"/>
            <a:ext cx="3657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CRI (표준 인터페이스)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5067" y="4155948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1785067" y="4155948"/>
            <a:ext cx="3108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containerd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CRI plugin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91307" y="4155948"/>
            <a:ext cx="3108960" cy="86868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6" name="Text 14"/>
          <p:cNvSpPr/>
          <p:nvPr/>
        </p:nvSpPr>
        <p:spPr>
          <a:xfrm>
            <a:off x="5991307" y="4155948"/>
            <a:ext cx="3108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CRI-O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K8s 전용 경량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8187" y="5436108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8" name="Text 16"/>
          <p:cNvSpPr/>
          <p:nvPr/>
        </p:nvSpPr>
        <p:spPr>
          <a:xfrm>
            <a:off x="3888187" y="5436108"/>
            <a:ext cx="3657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runc (저수준 실행)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CRI 덕분에 K8s는 런타임을 바꿔 끼울 수 있다. (그래서 Docker 직접 의존은 제거됨 — Dockershim deprecated)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750377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r>
              <a:rPr lang="en-US" altLang="ko-KR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가지 런타임, 어떻게 다른가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개발자용 올인원 도구(빌드·CLI·이미지)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내부적으로 containerd 사용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로컬 개발·학습에 최적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K8s는 더 이상 직접 사용 안 함(CRI 경유)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82512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6702552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containerd / CRI-O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02552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containerd: 범용 고수준 런타임, K8s 기본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CRI-O: 쿠버네티스 전용 경량 런타임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둘 다 CRI 구현 → kubelet과 직접 통신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공통적으로 runc로 실제 실행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기억: 학습은 Docker, 클러스터 내부 실행은 containerd/CRI-O + runc.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984871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정리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05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런타임은 고수준(관리) / 저수준(실행)으로 나뉜다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 → containerd → runc 의 호출 사슬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쿠버네티스는 CRI 표준으로 런타임을 추상화한다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Dockershim 제거 이후 K8s 기본은 containerd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37120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 네트워크 이해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컨테이너는 어떻게 서로, 그리고 바깥과 통신하나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630293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· 드라이버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네트워크 드라이버 네 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bridge(기본): 호스트 안의 사설 가상 네트워크. 컨테이너끼리 통신 + 포트 매핑으로 외부 노출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host: 호스트 네트워크를 그대로 사용(격리 없음, 빠름)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none: 네트워크 없음(완전 격리)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overlay: 여러 호스트에 걸친 네트워크(스웜·멀티노드) — K8s는 자체 CNI 사용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단일 호스트 실습의 기본은 bridge. 외부 접속은 -p 로 포트를 매핑한다.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6932249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C4AC1-97FF-3F40-9D96-E66D0667D59B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07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드라이버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17D4F-A8A2-A54F-B1A8-D978150DB16A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bridge 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네트워크 자세히 보기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43F34-8506-FF45-9B2B-C76683601C9B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기본 드라이버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호스트 안에 가상 스위치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docker0)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를 만들어 컨테이너끼리 연결하고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, -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p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로 외부에 노출한다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C119F9A-2EF5-A34E-9714-28BD8401C3CC}"/>
              </a:ext>
            </a:extLst>
          </p:cNvPr>
          <p:cNvSpPr/>
          <p:nvPr/>
        </p:nvSpPr>
        <p:spPr>
          <a:xfrm>
            <a:off x="4699000" y="1955800"/>
            <a:ext cx="2794000" cy="5334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외부 </a:t>
            </a:r>
            <a:r>
              <a:rPr lang="en-US" altLang="ko-KR" sz="1300" b="1">
                <a:solidFill>
                  <a:srgbClr val="1A1A1A"/>
                </a:solidFill>
                <a:latin typeface="NanumSquare"/>
                <a:ea typeface="NanumSquare"/>
              </a:rPr>
              <a:t>/ </a:t>
            </a:r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브라우저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6" name="아래쪽 화살표[D] 5">
            <a:extLst>
              <a:ext uri="{FF2B5EF4-FFF2-40B4-BE49-F238E27FC236}">
                <a16:creationId xmlns:a16="http://schemas.microsoft.com/office/drawing/2014/main" id="{F8520D66-18BE-A14A-809F-678237042BF1}"/>
              </a:ext>
            </a:extLst>
          </p:cNvPr>
          <p:cNvSpPr/>
          <p:nvPr/>
        </p:nvSpPr>
        <p:spPr>
          <a:xfrm>
            <a:off x="5943600" y="2540000"/>
            <a:ext cx="304800" cy="381000"/>
          </a:xfrm>
          <a:prstGeom prst="downArrow">
            <a:avLst/>
          </a:prstGeom>
          <a:solidFill>
            <a:srgbClr val="1565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B4F33-E3F0-2747-A52B-4BEC13505FD3}"/>
              </a:ext>
            </a:extLst>
          </p:cNvPr>
          <p:cNvSpPr txBox="1"/>
          <p:nvPr/>
        </p:nvSpPr>
        <p:spPr>
          <a:xfrm>
            <a:off x="6350000" y="2590800"/>
            <a:ext cx="3302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sz="1200" b="1">
                <a:solidFill>
                  <a:srgbClr val="1565A0"/>
                </a:solidFill>
                <a:latin typeface="NanumSquare"/>
                <a:ea typeface="NanumSquare"/>
              </a:rPr>
              <a:t>-p 8080:80  (</a:t>
            </a:r>
            <a:r>
              <a:rPr lang="ko-KR" altLang="en-US" sz="1200" b="1">
                <a:solidFill>
                  <a:srgbClr val="1565A0"/>
                </a:solidFill>
                <a:latin typeface="NanumSquare"/>
                <a:ea typeface="NanumSquare"/>
              </a:rPr>
              <a:t>포트 매핑</a:t>
            </a:r>
            <a:r>
              <a:rPr lang="en-US" altLang="ko-KR" sz="1200" b="1">
                <a:solidFill>
                  <a:srgbClr val="1565A0"/>
                </a:solidFill>
                <a:latin typeface="NanumSquare"/>
                <a:ea typeface="NanumSquare"/>
              </a:rPr>
              <a:t>)</a:t>
            </a:r>
            <a:endParaRPr lang="ko-US" sz="12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79246A1-854D-D643-97D2-F56136A9B813}"/>
              </a:ext>
            </a:extLst>
          </p:cNvPr>
          <p:cNvSpPr/>
          <p:nvPr/>
        </p:nvSpPr>
        <p:spPr>
          <a:xfrm>
            <a:off x="1219200" y="3022600"/>
            <a:ext cx="9753600" cy="3048000"/>
          </a:xfrm>
          <a:prstGeom prst="roundRect">
            <a:avLst/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AED41-B601-2B4E-80BD-BA9376C9BA3D}"/>
              </a:ext>
            </a:extLst>
          </p:cNvPr>
          <p:cNvSpPr txBox="1"/>
          <p:nvPr/>
        </p:nvSpPr>
        <p:spPr>
          <a:xfrm>
            <a:off x="1422400" y="3124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호스트 </a:t>
            </a:r>
            <a:r>
              <a:rPr lang="en-US" altLang="ko-KR" sz="1300" b="1">
                <a:solidFill>
                  <a:srgbClr val="1A1A1A"/>
                </a:solidFill>
                <a:latin typeface="NanumSquare"/>
                <a:ea typeface="NanumSquare"/>
              </a:rPr>
              <a:t>(</a:t>
            </a:r>
            <a:r>
              <a:rPr lang="en" sz="1300" b="1">
                <a:solidFill>
                  <a:srgbClr val="1A1A1A"/>
                </a:solidFill>
                <a:latin typeface="NanumSquare"/>
                <a:ea typeface="NanumSquare"/>
              </a:rPr>
              <a:t>eth0 · </a:t>
            </a:r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실제 </a:t>
            </a:r>
            <a:r>
              <a:rPr lang="en" sz="1300" b="1">
                <a:solidFill>
                  <a:srgbClr val="1A1A1A"/>
                </a:solidFill>
                <a:latin typeface="NanumSquare"/>
                <a:ea typeface="NanumSquare"/>
              </a:rPr>
              <a:t>IP)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81660B-57D7-054D-82D1-9445907785CD}"/>
              </a:ext>
            </a:extLst>
          </p:cNvPr>
          <p:cNvSpPr/>
          <p:nvPr/>
        </p:nvSpPr>
        <p:spPr>
          <a:xfrm>
            <a:off x="1905000" y="4165600"/>
            <a:ext cx="8382000" cy="508000"/>
          </a:xfrm>
          <a:prstGeom prst="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FFFFFF"/>
                </a:solidFill>
                <a:latin typeface="NanumSquare"/>
                <a:ea typeface="NanumSquare"/>
              </a:rPr>
              <a:t>docker0 · 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가상 브리지 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(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사설망 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172.17.0.0/16)</a:t>
            </a:r>
            <a:endParaRPr lang="ko-US" sz="14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E6CDD8-F6AF-0D47-A1AC-0C740003A420}"/>
              </a:ext>
            </a:extLst>
          </p:cNvPr>
          <p:cNvSpPr/>
          <p:nvPr/>
        </p:nvSpPr>
        <p:spPr>
          <a:xfrm>
            <a:off x="3784600" y="4673600"/>
            <a:ext cx="38100" cy="431800"/>
          </a:xfrm>
          <a:prstGeom prst="rect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F1429B-48DC-624A-B2F9-760D226BEFA5}"/>
              </a:ext>
            </a:extLst>
          </p:cNvPr>
          <p:cNvSpPr/>
          <p:nvPr/>
        </p:nvSpPr>
        <p:spPr>
          <a:xfrm>
            <a:off x="8356600" y="4673600"/>
            <a:ext cx="38100" cy="431800"/>
          </a:xfrm>
          <a:prstGeom prst="rect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DB92536-5DC5-CE41-AD68-8F0CD584EB19}"/>
              </a:ext>
            </a:extLst>
          </p:cNvPr>
          <p:cNvSpPr/>
          <p:nvPr/>
        </p:nvSpPr>
        <p:spPr>
          <a:xfrm>
            <a:off x="2260600" y="5105400"/>
            <a:ext cx="3048000" cy="7620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2E7D5B"/>
                </a:solidFill>
                <a:latin typeface="NanumSquare"/>
                <a:ea typeface="NanumSquare"/>
              </a:rPr>
              <a:t>컨테이너 </a:t>
            </a:r>
            <a:r>
              <a:rPr lang="en" sz="1400" b="1">
                <a:solidFill>
                  <a:srgbClr val="2E7D5B"/>
                </a:solidFill>
                <a:latin typeface="NanumSquare"/>
                <a:ea typeface="NanumSquare"/>
              </a:rPr>
              <a:t>A
</a:t>
            </a:r>
            <a:r>
              <a:rPr lang="en" sz="1200">
                <a:solidFill>
                  <a:srgbClr val="2E7D5B"/>
                </a:solidFill>
                <a:latin typeface="NanumSquare"/>
                <a:ea typeface="NanumSquare"/>
              </a:rPr>
              <a:t>172.17.0.2 : 80</a:t>
            </a:r>
            <a:endParaRPr lang="ko-US" sz="14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7906D59-71A7-944C-AE77-7C29600B44B2}"/>
              </a:ext>
            </a:extLst>
          </p:cNvPr>
          <p:cNvSpPr/>
          <p:nvPr/>
        </p:nvSpPr>
        <p:spPr>
          <a:xfrm>
            <a:off x="6832600" y="5105400"/>
            <a:ext cx="3048000" cy="7620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2E7D5B"/>
                </a:solidFill>
                <a:latin typeface="NanumSquare"/>
                <a:ea typeface="NanumSquare"/>
              </a:rPr>
              <a:t>컨테이너 </a:t>
            </a:r>
            <a:r>
              <a:rPr lang="en" sz="1400" b="1">
                <a:solidFill>
                  <a:srgbClr val="2E7D5B"/>
                </a:solidFill>
                <a:latin typeface="NanumSquare"/>
                <a:ea typeface="NanumSquare"/>
              </a:rPr>
              <a:t>B
</a:t>
            </a:r>
            <a:r>
              <a:rPr lang="en" sz="1200">
                <a:solidFill>
                  <a:srgbClr val="2E7D5B"/>
                </a:solidFill>
                <a:latin typeface="NanumSquare"/>
                <a:ea typeface="NanumSquare"/>
              </a:rPr>
              <a:t>172.17.0.3</a:t>
            </a:r>
            <a:endParaRPr lang="ko-US" sz="14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C4E34-5ED9-7345-AC7A-469AF02E33E6}"/>
              </a:ext>
            </a:extLst>
          </p:cNvPr>
          <p:cNvSpPr txBox="1"/>
          <p:nvPr/>
        </p:nvSpPr>
        <p:spPr>
          <a:xfrm>
            <a:off x="685800" y="63500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외부 요청은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-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p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로 매핑된 포트 → 호스트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eth0 → docker0(NAT) →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컨테이너 순서로 도착한다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17872456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DE2969-8F76-CB4F-9862-C6096C51FBA7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07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사용자 정의 네트워크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5B158-88EA-3F4D-80C6-8790BBAD24D9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사용자 정의 네트워크와 </a:t>
            </a:r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DNS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254C8-4FD0-764E-B586-0B0C18E27BA8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직접 만든 네트워크에 컨테이너를 묶으면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IP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가 아니라 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'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컨테이너 이름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'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으로 서로 통신할 수 있다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BBAB115-CDD3-284D-98A6-8D9BC5EBEEA7}"/>
              </a:ext>
            </a:extLst>
          </p:cNvPr>
          <p:cNvSpPr/>
          <p:nvPr/>
        </p:nvSpPr>
        <p:spPr>
          <a:xfrm>
            <a:off x="685800" y="1981200"/>
            <a:ext cx="5080000" cy="37084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8DB50-A4AC-AA4D-B87B-B83732BB1021}"/>
              </a:ext>
            </a:extLst>
          </p:cNvPr>
          <p:cNvSpPr txBox="1"/>
          <p:nvPr/>
        </p:nvSpPr>
        <p:spPr>
          <a:xfrm>
            <a:off x="889000" y="2108200"/>
            <a:ext cx="4673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565A0"/>
                </a:solidFill>
                <a:latin typeface="NanumSquare"/>
                <a:ea typeface="NanumSquare"/>
              </a:rPr>
              <a:t>왜 이름으로 통신되나</a:t>
            </a:r>
            <a:r>
              <a:rPr lang="en-US" altLang="ko-KR" sz="1600" b="1">
                <a:solidFill>
                  <a:srgbClr val="1565A0"/>
                </a:solidFill>
                <a:latin typeface="NanumSquare"/>
                <a:ea typeface="NanumSquare"/>
              </a:rPr>
              <a:t>?</a:t>
            </a:r>
            <a:endParaRPr lang="ko-US" sz="16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18EFF-7DF9-AC46-9DB2-4FAD929A3099}"/>
              </a:ext>
            </a:extLst>
          </p:cNvPr>
          <p:cNvSpPr txBox="1"/>
          <p:nvPr/>
        </p:nvSpPr>
        <p:spPr>
          <a:xfrm>
            <a:off x="889000" y="2514600"/>
            <a:ext cx="46736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기본 bridge: 컨테이너끼리 IP로만 통신 (이름 해석 안 됨)</a:t>
            </a:r>
          </a:p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사용자 정의 네트워크: 내장 DNS로 '컨테이너 이름'으로 통신</a:t>
            </a:r>
          </a:p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같은 네트워크끼리만 연결 → 자동 격리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ACAC2-3B81-C643-9154-EFCB15100784}"/>
              </a:ext>
            </a:extLst>
          </p:cNvPr>
          <p:cNvSpPr txBox="1"/>
          <p:nvPr/>
        </p:nvSpPr>
        <p:spPr>
          <a:xfrm>
            <a:off x="889000" y="4191000"/>
            <a:ext cx="4673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5C5C5C"/>
                </a:solidFill>
                <a:latin typeface="NanumSquare"/>
                <a:ea typeface="NanumSquare"/>
              </a:rPr>
              <a:t>명령 예시</a:t>
            </a:r>
            <a:endParaRPr lang="ko-US" sz="1100" b="1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8F590-E85D-A348-B73F-584E370B3898}"/>
              </a:ext>
            </a:extLst>
          </p:cNvPr>
          <p:cNvSpPr txBox="1"/>
          <p:nvPr/>
        </p:nvSpPr>
        <p:spPr>
          <a:xfrm>
            <a:off x="889000" y="4445000"/>
            <a:ext cx="4673600" cy="1117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100">
                <a:solidFill>
                  <a:srgbClr val="1565A0"/>
                </a:solidFill>
                <a:latin typeface="Consolas"/>
                <a:cs typeface="Consolas"/>
              </a:rPr>
              <a:t>docker network create mynet
docker run -d --network mynet --name db postgres
docker run -d --network mynet --name web myapp</a:t>
            </a:r>
            <a:endParaRPr lang="ko-US" sz="1100">
              <a:solidFill>
                <a:srgbClr val="1565A0"/>
              </a:solidFill>
              <a:cs typeface="Consolas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8563508-ADA6-0F42-BE24-7FC5AD61766B}"/>
              </a:ext>
            </a:extLst>
          </p:cNvPr>
          <p:cNvSpPr/>
          <p:nvPr/>
        </p:nvSpPr>
        <p:spPr>
          <a:xfrm>
            <a:off x="6019800" y="1981200"/>
            <a:ext cx="5486400" cy="3708400"/>
          </a:xfrm>
          <a:prstGeom prst="roundRect">
            <a:avLst/>
          </a:prstGeom>
          <a:solidFill>
            <a:srgbClr val="EAF2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4B87E-086A-5F4E-ABD8-8059E92DA887}"/>
              </a:ext>
            </a:extLst>
          </p:cNvPr>
          <p:cNvSpPr txBox="1"/>
          <p:nvPr/>
        </p:nvSpPr>
        <p:spPr>
          <a:xfrm>
            <a:off x="6248400" y="21336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 b="1">
                <a:solidFill>
                  <a:srgbClr val="1552A8"/>
                </a:solidFill>
                <a:latin typeface="NanumSquare"/>
                <a:ea typeface="NanumSquare"/>
              </a:rPr>
              <a:t>mynet · </a:t>
            </a:r>
            <a:r>
              <a:rPr lang="ko-KR" altLang="en-US" sz="1300" b="1">
                <a:solidFill>
                  <a:srgbClr val="1552A8"/>
                </a:solidFill>
                <a:latin typeface="NanumSquare"/>
                <a:ea typeface="NanumSquare"/>
              </a:rPr>
              <a:t>사용자 정의 네트워크</a:t>
            </a:r>
            <a:endParaRPr lang="ko-US" sz="1300" b="1">
              <a:solidFill>
                <a:srgbClr val="1552A8"/>
              </a:solidFill>
              <a:latin typeface="NanumSquare"/>
              <a:ea typeface="NanumSquar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E7340D4-29BD-874A-8AD8-26DBDFC9EC54}"/>
              </a:ext>
            </a:extLst>
          </p:cNvPr>
          <p:cNvSpPr/>
          <p:nvPr/>
        </p:nvSpPr>
        <p:spPr>
          <a:xfrm>
            <a:off x="6324600" y="2946400"/>
            <a:ext cx="2235200" cy="8128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500" b="1">
                <a:solidFill>
                  <a:srgbClr val="FFFFFF"/>
                </a:solidFill>
                <a:latin typeface="NanumSquare"/>
                <a:ea typeface="NanumSquare"/>
              </a:rPr>
              <a:t>web
</a:t>
            </a:r>
            <a:r>
              <a:rPr lang="en" sz="1100">
                <a:solidFill>
                  <a:srgbClr val="FFFFFF"/>
                </a:solidFill>
                <a:latin typeface="NanumSquare"/>
                <a:ea typeface="NanumSquare"/>
              </a:rPr>
              <a:t>(myapp)</a:t>
            </a:r>
            <a:endParaRPr lang="ko-US" sz="15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0118DB4-175C-4D44-9CCF-7A7D2E160E65}"/>
              </a:ext>
            </a:extLst>
          </p:cNvPr>
          <p:cNvSpPr/>
          <p:nvPr/>
        </p:nvSpPr>
        <p:spPr>
          <a:xfrm>
            <a:off x="8966200" y="2946400"/>
            <a:ext cx="2235200" cy="812800"/>
          </a:xfrm>
          <a:prstGeom prst="roundRect">
            <a:avLst/>
          </a:prstGeom>
          <a:solidFill>
            <a:srgbClr val="2E7D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500" b="1">
                <a:solidFill>
                  <a:srgbClr val="FFFFFF"/>
                </a:solidFill>
                <a:latin typeface="NanumSquare"/>
                <a:ea typeface="NanumSquare"/>
              </a:rPr>
              <a:t>db
</a:t>
            </a:r>
            <a:r>
              <a:rPr lang="en" sz="1100">
                <a:solidFill>
                  <a:srgbClr val="FFFFFF"/>
                </a:solidFill>
                <a:latin typeface="NanumSquare"/>
                <a:ea typeface="NanumSquare"/>
              </a:rPr>
              <a:t>(postgres)</a:t>
            </a:r>
            <a:endParaRPr lang="ko-US" sz="15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BB2BAF5A-E789-BC41-B20D-68BC6FF11CF5}"/>
              </a:ext>
            </a:extLst>
          </p:cNvPr>
          <p:cNvSpPr/>
          <p:nvPr/>
        </p:nvSpPr>
        <p:spPr>
          <a:xfrm>
            <a:off x="8585200" y="3200400"/>
            <a:ext cx="381000" cy="3048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6270D-8FDC-B54A-8A6A-51CE86F7F427}"/>
              </a:ext>
            </a:extLst>
          </p:cNvPr>
          <p:cNvSpPr txBox="1"/>
          <p:nvPr/>
        </p:nvSpPr>
        <p:spPr>
          <a:xfrm>
            <a:off x="7772400" y="2692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100" b="1">
                <a:solidFill>
                  <a:srgbClr val="C0512A"/>
                </a:solidFill>
                <a:latin typeface="NanumSquare"/>
                <a:ea typeface="NanumSquare"/>
              </a:rPr>
              <a:t>db:5432  (</a:t>
            </a:r>
            <a:r>
              <a:rPr lang="ko-KR" altLang="en-US" sz="1100" b="1">
                <a:solidFill>
                  <a:srgbClr val="C0512A"/>
                </a:solidFill>
                <a:latin typeface="NanumSquare"/>
                <a:ea typeface="NanumSquare"/>
              </a:rPr>
              <a:t>이름으로 접속</a:t>
            </a:r>
            <a:r>
              <a:rPr lang="en-US" altLang="ko-KR" sz="1100" b="1">
                <a:solidFill>
                  <a:srgbClr val="C0512A"/>
                </a:solidFill>
                <a:latin typeface="NanumSquare"/>
                <a:ea typeface="NanumSquare"/>
              </a:rPr>
              <a:t>)</a:t>
            </a:r>
            <a:endParaRPr lang="ko-US" sz="11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1AA616-9D7C-6B4A-9160-D93755726DA3}"/>
              </a:ext>
            </a:extLst>
          </p:cNvPr>
          <p:cNvSpPr txBox="1"/>
          <p:nvPr/>
        </p:nvSpPr>
        <p:spPr>
          <a:xfrm>
            <a:off x="6324600" y="4191000"/>
            <a:ext cx="48768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같은 네트워크라서 </a:t>
            </a:r>
            <a:r>
              <a:rPr lang="en" sz="1200">
                <a:solidFill>
                  <a:srgbClr val="1A1A1A"/>
                </a:solidFill>
                <a:latin typeface="NanumSquare"/>
                <a:ea typeface="NanumSquare"/>
              </a:rPr>
              <a:t>IP</a:t>
            </a:r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를 몰라도 </a:t>
            </a:r>
            <a:r>
              <a:rPr lang="en-US" altLang="ko-KR" sz="1200">
                <a:solidFill>
                  <a:srgbClr val="1A1A1A"/>
                </a:solidFill>
                <a:latin typeface="NanumSquare"/>
                <a:ea typeface="NanumSquare"/>
              </a:rPr>
              <a:t>'</a:t>
            </a:r>
            <a:r>
              <a:rPr lang="en" sz="1200">
                <a:solidFill>
                  <a:srgbClr val="1A1A1A"/>
                </a:solidFill>
                <a:latin typeface="NanumSquare"/>
                <a:ea typeface="NanumSquare"/>
              </a:rPr>
              <a:t>db' </a:t>
            </a:r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이름으로 찾는다 </a:t>
            </a:r>
            <a:r>
              <a:rPr lang="en-US" altLang="ko-KR" sz="1200">
                <a:solidFill>
                  <a:srgbClr val="1A1A1A"/>
                </a:solidFill>
                <a:latin typeface="NanumSquare"/>
                <a:ea typeface="NanumSquare"/>
              </a:rPr>
              <a:t>— </a:t>
            </a:r>
            <a:r>
              <a:rPr lang="en" sz="1200">
                <a:solidFill>
                  <a:srgbClr val="1A1A1A"/>
                </a:solidFill>
                <a:latin typeface="NanumSquare"/>
                <a:ea typeface="NanumSquare"/>
              </a:rPr>
              <a:t>Docker </a:t>
            </a:r>
            <a:r>
              <a:rPr lang="ko-KR" altLang="en-US" sz="1200">
                <a:solidFill>
                  <a:srgbClr val="1A1A1A"/>
                </a:solidFill>
                <a:latin typeface="NanumSquare"/>
                <a:ea typeface="NanumSquare"/>
              </a:rPr>
              <a:t>내장 </a:t>
            </a:r>
            <a:r>
              <a:rPr lang="en" sz="1200">
                <a:solidFill>
                  <a:srgbClr val="1A1A1A"/>
                </a:solidFill>
                <a:latin typeface="NanumSquare"/>
                <a:ea typeface="NanumSquare"/>
              </a:rPr>
              <a:t>DNS</a:t>
            </a:r>
            <a:endParaRPr lang="ko-US" sz="120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A86F37B0-4F29-B841-A1C3-BDC981D27CE8}"/>
              </a:ext>
            </a:extLst>
          </p:cNvPr>
          <p:cNvSpPr/>
          <p:nvPr/>
        </p:nvSpPr>
        <p:spPr>
          <a:xfrm>
            <a:off x="685800" y="5791200"/>
            <a:ext cx="10820400" cy="508000"/>
          </a:xfrm>
          <a:prstGeom prst="roundRect">
            <a:avLst/>
          </a:prstGeom>
          <a:solidFill>
            <a:srgbClr val="1552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같은 사용자 정의 네트워크에 속하면</a:t>
            </a:r>
            <a:r>
              <a:rPr lang="en-US" altLang="ko-KR" sz="1350" b="1">
                <a:solidFill>
                  <a:srgbClr val="FFFFFF"/>
                </a:solidFill>
                <a:latin typeface="NanumSquare"/>
                <a:ea typeface="NanumSquare"/>
              </a:rPr>
              <a:t>, </a:t>
            </a:r>
            <a:r>
              <a:rPr lang="en" sz="1350" b="1">
                <a:solidFill>
                  <a:srgbClr val="FFFFFF"/>
                </a:solidFill>
                <a:latin typeface="NanumSquare"/>
                <a:ea typeface="NanumSquare"/>
              </a:rPr>
              <a:t>IP 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대신 컨테이너 이름으로 통신한다 </a:t>
            </a:r>
            <a:r>
              <a:rPr lang="en-US" altLang="ko-KR" sz="1350" b="1">
                <a:solidFill>
                  <a:srgbClr val="FFFFFF"/>
                </a:solidFill>
                <a:latin typeface="NanumSquare"/>
                <a:ea typeface="NanumSquare"/>
              </a:rPr>
              <a:t>(</a:t>
            </a:r>
            <a:r>
              <a:rPr lang="en" sz="1350" b="1">
                <a:solidFill>
                  <a:srgbClr val="FFFFFF"/>
                </a:solidFill>
                <a:latin typeface="NanumSquare"/>
                <a:ea typeface="NanumSquare"/>
              </a:rPr>
              <a:t>Docker 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내장 </a:t>
            </a:r>
            <a:r>
              <a:rPr lang="en" sz="1350" b="1">
                <a:solidFill>
                  <a:srgbClr val="FFFFFF"/>
                </a:solidFill>
                <a:latin typeface="NanumSquare"/>
                <a:ea typeface="NanumSquare"/>
              </a:rPr>
              <a:t>DNS)</a:t>
            </a:r>
            <a:endParaRPr lang="ko-US" sz="135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7A944F-444A-1045-B5E9-B41D253E09AC}"/>
              </a:ext>
            </a:extLst>
          </p:cNvPr>
          <p:cNvSpPr txBox="1"/>
          <p:nvPr/>
        </p:nvSpPr>
        <p:spPr>
          <a:xfrm>
            <a:off x="685800" y="63754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그래서 미니 블로그 실습에서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frontend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가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backend-service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이름으로 접속할 수 있었다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38991733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FC5FE-062C-C748-885B-9E9A15E30A6B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07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드라이버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158ED-A043-F04B-9D75-3AB4FABDC865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host · none · overlay 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한눈에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504B7-94FA-7E4D-B419-BF872DCF2112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bridge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외 나머지 세 가지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격리 수준과 사용 상황이 서로 다르다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7E67969-E34E-C646-A729-CD3AC6550C5F}"/>
              </a:ext>
            </a:extLst>
          </p:cNvPr>
          <p:cNvSpPr/>
          <p:nvPr/>
        </p:nvSpPr>
        <p:spPr>
          <a:xfrm>
            <a:off x="685800" y="1981200"/>
            <a:ext cx="2895600" cy="4191000"/>
          </a:xfrm>
          <a:prstGeom prst="round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71A1495-ABF0-0743-A28B-03759321249C}"/>
              </a:ext>
            </a:extLst>
          </p:cNvPr>
          <p:cNvSpPr/>
          <p:nvPr/>
        </p:nvSpPr>
        <p:spPr>
          <a:xfrm>
            <a:off x="863600" y="2133600"/>
            <a:ext cx="2540000" cy="431800"/>
          </a:xfrm>
          <a:prstGeom prst="roundRect">
            <a:avLst/>
          </a:prstGeom>
          <a:solidFill>
            <a:srgbClr val="C051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 b="1">
                <a:solidFill>
                  <a:srgbClr val="FFFFFF"/>
                </a:solidFill>
                <a:latin typeface="NanumSquare"/>
                <a:ea typeface="NanumSquare"/>
              </a:rPr>
              <a:t>host</a:t>
            </a:r>
            <a:endParaRPr lang="ko-US" sz="16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FD4CCFF-EFC4-364F-A925-0F786659DE11}"/>
              </a:ext>
            </a:extLst>
          </p:cNvPr>
          <p:cNvSpPr/>
          <p:nvPr/>
        </p:nvSpPr>
        <p:spPr>
          <a:xfrm>
            <a:off x="990600" y="2717800"/>
            <a:ext cx="2286000" cy="1092200"/>
          </a:xfrm>
          <a:prstGeom prst="roundRect">
            <a:avLst/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1A1A1A"/>
                </a:solidFill>
                <a:latin typeface="NanumSquare"/>
                <a:ea typeface="NanumSquare"/>
              </a:rPr>
              <a:t>호스트 </a:t>
            </a:r>
            <a:r>
              <a:rPr lang="en" sz="1100" b="1">
                <a:solidFill>
                  <a:srgbClr val="1A1A1A"/>
                </a:solidFill>
                <a:latin typeface="NanumSquare"/>
                <a:ea typeface="NanumSquare"/>
              </a:rPr>
              <a:t>eth0</a:t>
            </a:r>
            <a:endParaRPr lang="ko-US" sz="11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8F773AE-B4CE-FB4D-960A-72297E058B87}"/>
              </a:ext>
            </a:extLst>
          </p:cNvPr>
          <p:cNvSpPr/>
          <p:nvPr/>
        </p:nvSpPr>
        <p:spPr>
          <a:xfrm>
            <a:off x="1244600" y="3175000"/>
            <a:ext cx="1778000" cy="5334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C0512A"/>
                </a:solidFill>
                <a:latin typeface="NanumSquare"/>
                <a:ea typeface="NanumSquare"/>
              </a:rPr>
              <a:t>컨테이너</a:t>
            </a:r>
            <a:endParaRPr lang="ko-US" sz="11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C6ABD-66C1-5145-99C6-17F2E6CA7FD4}"/>
              </a:ext>
            </a:extLst>
          </p:cNvPr>
          <p:cNvSpPr txBox="1"/>
          <p:nvPr/>
        </p:nvSpPr>
        <p:spPr>
          <a:xfrm>
            <a:off x="889000" y="3962400"/>
            <a:ext cx="24892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컨테이너가 호스트 네트워크를 그대로 사용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. 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별도 </a:t>
            </a:r>
            <a:r>
              <a:rPr lang="en" sz="1200">
                <a:solidFill>
                  <a:srgbClr val="2B2B2B"/>
                </a:solidFill>
                <a:latin typeface="NanumSquare"/>
                <a:ea typeface="NanumSquare"/>
              </a:rPr>
              <a:t>IP·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포트 매핑 없음 → 가장 빠르지만 격리 없음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(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포트 충돌 주의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).</a:t>
            </a:r>
            <a:endParaRPr lang="ko-US" sz="1200">
              <a:solidFill>
                <a:srgbClr val="2B2B2B"/>
              </a:solidFill>
              <a:latin typeface="NanumSquare"/>
              <a:ea typeface="NanumSquare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09723AE-A976-6948-B082-8B96C9A3C86D}"/>
              </a:ext>
            </a:extLst>
          </p:cNvPr>
          <p:cNvSpPr/>
          <p:nvPr/>
        </p:nvSpPr>
        <p:spPr>
          <a:xfrm>
            <a:off x="863600" y="5588000"/>
            <a:ext cx="2540000" cy="4064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1A1A1A"/>
                </a:solidFill>
                <a:latin typeface="NanumSquare"/>
                <a:ea typeface="NanumSquare"/>
              </a:rPr>
              <a:t>빠른 성능이 필요할 때</a:t>
            </a:r>
            <a:endParaRPr lang="ko-US" sz="11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290B804-1D44-824E-9F7F-B890D147DD72}"/>
              </a:ext>
            </a:extLst>
          </p:cNvPr>
          <p:cNvSpPr/>
          <p:nvPr/>
        </p:nvSpPr>
        <p:spPr>
          <a:xfrm>
            <a:off x="4648200" y="1981200"/>
            <a:ext cx="2895600" cy="4191000"/>
          </a:xfrm>
          <a:prstGeom prst="round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741418A-406C-E445-B9FC-680F9649B08D}"/>
              </a:ext>
            </a:extLst>
          </p:cNvPr>
          <p:cNvSpPr/>
          <p:nvPr/>
        </p:nvSpPr>
        <p:spPr>
          <a:xfrm>
            <a:off x="4826000" y="2133600"/>
            <a:ext cx="2540000" cy="431800"/>
          </a:xfrm>
          <a:prstGeom prst="roundRect">
            <a:avLst/>
          </a:prstGeom>
          <a:solidFill>
            <a:srgbClr val="5C5C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 b="1">
                <a:solidFill>
                  <a:srgbClr val="FFFFFF"/>
                </a:solidFill>
                <a:latin typeface="NanumSquare"/>
                <a:ea typeface="NanumSquare"/>
              </a:rPr>
              <a:t>none</a:t>
            </a:r>
            <a:endParaRPr lang="ko-US" sz="16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E7F8574-9FC3-A040-B28C-D574172FD8B3}"/>
              </a:ext>
            </a:extLst>
          </p:cNvPr>
          <p:cNvSpPr/>
          <p:nvPr/>
        </p:nvSpPr>
        <p:spPr>
          <a:xfrm>
            <a:off x="4953000" y="2717800"/>
            <a:ext cx="2286000" cy="1092200"/>
          </a:xfrm>
          <a:prstGeom prst="roundRect">
            <a:avLst/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1A1A1A"/>
                </a:solidFill>
                <a:latin typeface="NanumSquare"/>
                <a:ea typeface="NanumSquare"/>
              </a:rPr>
              <a:t>호스트</a:t>
            </a:r>
            <a:endParaRPr lang="ko-US" sz="11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EAB87B1-0D06-7342-A6F9-BF7EB19E622B}"/>
              </a:ext>
            </a:extLst>
          </p:cNvPr>
          <p:cNvSpPr/>
          <p:nvPr/>
        </p:nvSpPr>
        <p:spPr>
          <a:xfrm>
            <a:off x="5207000" y="3175000"/>
            <a:ext cx="1778000" cy="5334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050" b="1">
                <a:solidFill>
                  <a:srgbClr val="5C5C5C"/>
                </a:solidFill>
                <a:latin typeface="NanumSquare"/>
                <a:ea typeface="NanumSquare"/>
              </a:rPr>
              <a:t>컨테이너 </a:t>
            </a:r>
            <a:r>
              <a:rPr lang="en-US" altLang="ko-KR" sz="1050" b="1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en" sz="1050" b="1">
                <a:solidFill>
                  <a:srgbClr val="5C5C5C"/>
                </a:solidFill>
                <a:latin typeface="NanumSquare"/>
                <a:ea typeface="NanumSquare"/>
              </a:rPr>
              <a:t>NIC </a:t>
            </a:r>
            <a:r>
              <a:rPr lang="ko-KR" altLang="en-US" sz="1050" b="1">
                <a:solidFill>
                  <a:srgbClr val="5C5C5C"/>
                </a:solidFill>
                <a:latin typeface="NanumSquare"/>
                <a:ea typeface="NanumSquare"/>
              </a:rPr>
              <a:t>없음</a:t>
            </a:r>
            <a:r>
              <a:rPr lang="en-US" altLang="ko-KR" sz="1050" b="1">
                <a:solidFill>
                  <a:srgbClr val="5C5C5C"/>
                </a:solidFill>
                <a:latin typeface="NanumSquare"/>
                <a:ea typeface="NanumSquare"/>
              </a:rPr>
              <a:t>)</a:t>
            </a:r>
            <a:endParaRPr lang="ko-US" sz="1050" b="1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96B95-E480-E14C-BBA4-2B0EF476E4C4}"/>
              </a:ext>
            </a:extLst>
          </p:cNvPr>
          <p:cNvSpPr txBox="1"/>
          <p:nvPr/>
        </p:nvSpPr>
        <p:spPr>
          <a:xfrm>
            <a:off x="4851400" y="3962400"/>
            <a:ext cx="24892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네트워크 인터페이스 자체가 없음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. 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외부와 완전 단절 → 보안 격리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·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배치 작업 등 통신이 불필요할 때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.</a:t>
            </a:r>
            <a:endParaRPr lang="ko-US" sz="1200">
              <a:solidFill>
                <a:srgbClr val="2B2B2B"/>
              </a:solidFill>
              <a:latin typeface="NanumSquare"/>
              <a:ea typeface="NanumSquare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FEA2D300-7E50-0844-952F-A1BF2834DC31}"/>
              </a:ext>
            </a:extLst>
          </p:cNvPr>
          <p:cNvSpPr/>
          <p:nvPr/>
        </p:nvSpPr>
        <p:spPr>
          <a:xfrm>
            <a:off x="4826000" y="5588000"/>
            <a:ext cx="2540000" cy="4064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1A1A1A"/>
                </a:solidFill>
                <a:latin typeface="NanumSquare"/>
                <a:ea typeface="NanumSquare"/>
              </a:rPr>
              <a:t>완전 격리가 필요할 때</a:t>
            </a:r>
            <a:endParaRPr lang="ko-US" sz="11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C989CA1-5CBD-0741-9CE4-943096176000}"/>
              </a:ext>
            </a:extLst>
          </p:cNvPr>
          <p:cNvSpPr/>
          <p:nvPr/>
        </p:nvSpPr>
        <p:spPr>
          <a:xfrm>
            <a:off x="8610600" y="1981200"/>
            <a:ext cx="2895600" cy="4191000"/>
          </a:xfrm>
          <a:prstGeom prst="roundRect">
            <a:avLst/>
          </a:prstGeom>
          <a:solidFill>
            <a:srgbClr val="F7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FADEC98-34A1-4F4D-9B51-22E7A6695A76}"/>
              </a:ext>
            </a:extLst>
          </p:cNvPr>
          <p:cNvSpPr/>
          <p:nvPr/>
        </p:nvSpPr>
        <p:spPr>
          <a:xfrm>
            <a:off x="8788400" y="2133600"/>
            <a:ext cx="2540000" cy="431800"/>
          </a:xfrm>
          <a:prstGeom prst="roundRect">
            <a:avLst/>
          </a:prstGeom>
          <a:solidFill>
            <a:srgbClr val="1565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600" b="1">
                <a:solidFill>
                  <a:srgbClr val="FFFFFF"/>
                </a:solidFill>
                <a:latin typeface="NanumSquare"/>
                <a:ea typeface="NanumSquare"/>
              </a:rPr>
              <a:t>overlay</a:t>
            </a:r>
            <a:endParaRPr lang="ko-US" sz="16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3FF48C1-CA2C-4C42-8986-FFBB74980140}"/>
              </a:ext>
            </a:extLst>
          </p:cNvPr>
          <p:cNvSpPr/>
          <p:nvPr/>
        </p:nvSpPr>
        <p:spPr>
          <a:xfrm>
            <a:off x="8788400" y="2717800"/>
            <a:ext cx="1219200" cy="1092200"/>
          </a:xfrm>
          <a:prstGeom prst="roundRect">
            <a:avLst/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1A1A1A"/>
                </a:solidFill>
                <a:latin typeface="NanumSquare"/>
                <a:ea typeface="NanumSquare"/>
              </a:rPr>
              <a:t>노드</a:t>
            </a:r>
            <a:r>
              <a:rPr lang="en-US" altLang="ko-KR" sz="1000" b="1">
                <a:solidFill>
                  <a:srgbClr val="1A1A1A"/>
                </a:solidFill>
                <a:latin typeface="NanumSquare"/>
                <a:ea typeface="NanumSquare"/>
              </a:rPr>
              <a:t>1</a:t>
            </a:r>
            <a:endParaRPr lang="ko-US" sz="10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601078AA-73C8-5A45-AA68-A151FB4A0484}"/>
              </a:ext>
            </a:extLst>
          </p:cNvPr>
          <p:cNvSpPr/>
          <p:nvPr/>
        </p:nvSpPr>
        <p:spPr>
          <a:xfrm>
            <a:off x="10109200" y="2717800"/>
            <a:ext cx="1219200" cy="1092200"/>
          </a:xfrm>
          <a:prstGeom prst="roundRect">
            <a:avLst/>
          </a:prstGeom>
          <a:solidFill>
            <a:srgbClr val="EEF1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1A1A1A"/>
                </a:solidFill>
                <a:latin typeface="NanumSquare"/>
                <a:ea typeface="NanumSquare"/>
              </a:rPr>
              <a:t>노드</a:t>
            </a:r>
            <a:r>
              <a:rPr lang="en-US" altLang="ko-KR" sz="1000" b="1">
                <a:solidFill>
                  <a:srgbClr val="1A1A1A"/>
                </a:solidFill>
                <a:latin typeface="NanumSquare"/>
                <a:ea typeface="NanumSquare"/>
              </a:rPr>
              <a:t>2</a:t>
            </a:r>
            <a:endParaRPr lang="ko-US" sz="10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95C47D-E4E1-E345-B4F5-B42853E30D91}"/>
              </a:ext>
            </a:extLst>
          </p:cNvPr>
          <p:cNvSpPr/>
          <p:nvPr/>
        </p:nvSpPr>
        <p:spPr>
          <a:xfrm>
            <a:off x="8788400" y="3225800"/>
            <a:ext cx="2540000" cy="50800"/>
          </a:xfrm>
          <a:prstGeom prst="rect">
            <a:avLst/>
          </a:prstGeom>
          <a:solidFill>
            <a:srgbClr val="1565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86811E7F-21A6-4F42-BFEC-7653E399A421}"/>
              </a:ext>
            </a:extLst>
          </p:cNvPr>
          <p:cNvSpPr/>
          <p:nvPr/>
        </p:nvSpPr>
        <p:spPr>
          <a:xfrm>
            <a:off x="8890000" y="3327400"/>
            <a:ext cx="1016000" cy="3810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000" b="1">
                <a:solidFill>
                  <a:srgbClr val="1565A0"/>
                </a:solidFill>
                <a:latin typeface="NanumSquare"/>
                <a:ea typeface="NanumSquare"/>
              </a:rPr>
              <a:t>C</a:t>
            </a:r>
            <a:endParaRPr lang="ko-US" sz="10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59FE6A59-0747-7F45-9B23-AC90E8BDC0EA}"/>
              </a:ext>
            </a:extLst>
          </p:cNvPr>
          <p:cNvSpPr/>
          <p:nvPr/>
        </p:nvSpPr>
        <p:spPr>
          <a:xfrm>
            <a:off x="10210800" y="3327400"/>
            <a:ext cx="1016000" cy="3810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000" b="1">
                <a:solidFill>
                  <a:srgbClr val="1565A0"/>
                </a:solidFill>
                <a:latin typeface="NanumSquare"/>
                <a:ea typeface="NanumSquare"/>
              </a:rPr>
              <a:t>C</a:t>
            </a:r>
            <a:endParaRPr lang="ko-US" sz="10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D25ACD-7D52-4C48-BE21-339A7C3494D1}"/>
              </a:ext>
            </a:extLst>
          </p:cNvPr>
          <p:cNvSpPr txBox="1"/>
          <p:nvPr/>
        </p:nvSpPr>
        <p:spPr>
          <a:xfrm>
            <a:off x="8813800" y="3962400"/>
            <a:ext cx="24892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여러 호스트의 컨테이너를 하나의 가상 네트워크로 연결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. </a:t>
            </a:r>
            <a:r>
              <a:rPr lang="en" sz="1200">
                <a:solidFill>
                  <a:srgbClr val="2B2B2B"/>
                </a:solidFill>
                <a:latin typeface="NanumSquare"/>
                <a:ea typeface="NanumSquare"/>
              </a:rPr>
              <a:t>Swarm 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멀티노드용 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(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쿠버네티스는 </a:t>
            </a:r>
            <a:r>
              <a:rPr lang="en" sz="1200">
                <a:solidFill>
                  <a:srgbClr val="2B2B2B"/>
                </a:solidFill>
                <a:latin typeface="NanumSquare"/>
                <a:ea typeface="NanumSquare"/>
              </a:rPr>
              <a:t>CNI </a:t>
            </a:r>
            <a:r>
              <a:rPr lang="ko-KR" altLang="en-US" sz="1200">
                <a:solidFill>
                  <a:srgbClr val="2B2B2B"/>
                </a:solidFill>
                <a:latin typeface="NanumSquare"/>
                <a:ea typeface="NanumSquare"/>
              </a:rPr>
              <a:t>사용</a:t>
            </a:r>
            <a:r>
              <a:rPr lang="en-US" altLang="ko-KR" sz="1200">
                <a:solidFill>
                  <a:srgbClr val="2B2B2B"/>
                </a:solidFill>
                <a:latin typeface="NanumSquare"/>
                <a:ea typeface="NanumSquare"/>
              </a:rPr>
              <a:t>).</a:t>
            </a:r>
            <a:endParaRPr lang="ko-US" sz="1200">
              <a:solidFill>
                <a:srgbClr val="2B2B2B"/>
              </a:solidFill>
              <a:latin typeface="NanumSquare"/>
              <a:ea typeface="NanumSquare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D08AA31-E2BF-3E48-94A0-E801D5893A4F}"/>
              </a:ext>
            </a:extLst>
          </p:cNvPr>
          <p:cNvSpPr/>
          <p:nvPr/>
        </p:nvSpPr>
        <p:spPr>
          <a:xfrm>
            <a:off x="8788400" y="5588000"/>
            <a:ext cx="2540000" cy="4064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1A1A1A"/>
                </a:solidFill>
                <a:latin typeface="NanumSquare"/>
                <a:ea typeface="NanumSquare"/>
              </a:rPr>
              <a:t>멀티노드 클러스터</a:t>
            </a:r>
            <a:endParaRPr lang="ko-US" sz="11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53CF6D-DC75-4E41-96C8-502AF8B74CEF}"/>
              </a:ext>
            </a:extLst>
          </p:cNvPr>
          <p:cNvSpPr txBox="1"/>
          <p:nvPr/>
        </p:nvSpPr>
        <p:spPr>
          <a:xfrm>
            <a:off x="685800" y="63500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격리 강함 ←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none · bridge · overlay … host →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격리 약함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성능 우선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).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98F49F-A674-7841-A4F2-60116AFDC6B9}"/>
              </a:ext>
            </a:extLst>
          </p:cNvPr>
          <p:cNvSpPr/>
          <p:nvPr/>
        </p:nvSpPr>
        <p:spPr>
          <a:xfrm>
            <a:off x="9855200" y="3467100"/>
            <a:ext cx="406400" cy="101600"/>
          </a:xfrm>
          <a:prstGeom prst="rect">
            <a:avLst/>
          </a:prstGeom>
          <a:solidFill>
            <a:srgbClr val="1565A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D15E9C-185A-AD47-AB19-BC964C5D587B}"/>
              </a:ext>
            </a:extLst>
          </p:cNvPr>
          <p:cNvSpPr txBox="1"/>
          <p:nvPr/>
        </p:nvSpPr>
        <p:spPr>
          <a:xfrm>
            <a:off x="9398000" y="2997200"/>
            <a:ext cx="1270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" sz="900" b="1">
                <a:solidFill>
                  <a:srgbClr val="1565A0"/>
                </a:solidFill>
                <a:latin typeface="NanumSquare"/>
                <a:ea typeface="NanumSquare"/>
              </a:rPr>
              <a:t>overlay</a:t>
            </a:r>
            <a:endParaRPr lang="ko-US" sz="9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13132790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정리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06-07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레지스트리(Docker Hub)는 이미지를 push/pull로 공유한다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 이름은 레지스트리/조직/이미지:태그, 운영은 버전 고정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네트워크 드라이버: bridge·host·none·overlay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정의 bridge에선 컨테이너 이름이 곧 DNS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81260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6BB11C-8F69-E24A-AA6F-385D3999A89F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도전과제 </a:t>
            </a:r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· </a:t>
            </a:r>
            <a:r>
              <a:rPr lang="en" sz="1300" b="1">
                <a:solidFill>
                  <a:srgbClr val="1D6FE0"/>
                </a:solidFill>
                <a:latin typeface="NanumSquare"/>
                <a:ea typeface="NanumSquare"/>
              </a:rPr>
              <a:t>CHALLENGE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04ED0-7282-1541-9167-6462032ACF34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 dirty="0">
                <a:solidFill>
                  <a:srgbClr val="1A1A1A"/>
                </a:solidFill>
                <a:latin typeface="NanumSquare"/>
                <a:ea typeface="NanumSquare"/>
              </a:rPr>
              <a:t>도전과제 </a:t>
            </a:r>
            <a:r>
              <a:rPr lang="en-US" altLang="ko-KR" sz="3200" b="1" dirty="0">
                <a:solidFill>
                  <a:srgbClr val="1A1A1A"/>
                </a:solidFill>
                <a:latin typeface="NanumSquare"/>
                <a:ea typeface="NanumSquare"/>
              </a:rPr>
              <a:t>· </a:t>
            </a:r>
            <a:r>
              <a:rPr lang="ko-KR" altLang="en-US" sz="3200" b="1" dirty="0">
                <a:solidFill>
                  <a:srgbClr val="1A1A1A"/>
                </a:solidFill>
                <a:latin typeface="NanumSquare"/>
                <a:ea typeface="NanumSquare"/>
              </a:rPr>
              <a:t>미니 블로그</a:t>
            </a:r>
            <a:endParaRPr lang="ko-US" sz="3200" b="1" dirty="0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F4555-6FBB-B944-B00F-9DCB9606EB5F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지금까지 배운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Docker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네트워크 개념을 총동원해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컨테이너만으로 동작하는 미니 블로그를 직접 구성한다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83539-CB39-EB45-B6B5-804C1E0E5814}"/>
              </a:ext>
            </a:extLst>
          </p:cNvPr>
          <p:cNvSpPr txBox="1"/>
          <p:nvPr/>
        </p:nvSpPr>
        <p:spPr>
          <a:xfrm>
            <a:off x="889000" y="2006600"/>
            <a:ext cx="44196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565A0"/>
                </a:solidFill>
                <a:latin typeface="NanumSquare"/>
                <a:ea typeface="NanumSquare"/>
              </a:rPr>
              <a:t>서비스 구조</a:t>
            </a:r>
            <a:endParaRPr lang="ko-US" sz="15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7E68B0D-E430-7446-BB50-B5B88115AFDF}"/>
              </a:ext>
            </a:extLst>
          </p:cNvPr>
          <p:cNvSpPr/>
          <p:nvPr/>
        </p:nvSpPr>
        <p:spPr>
          <a:xfrm>
            <a:off x="889000" y="2362200"/>
            <a:ext cx="4419600" cy="4572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사용자 브라우저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7" name="아래쪽 화살표[D] 6">
            <a:extLst>
              <a:ext uri="{FF2B5EF4-FFF2-40B4-BE49-F238E27FC236}">
                <a16:creationId xmlns:a16="http://schemas.microsoft.com/office/drawing/2014/main" id="{C7C46B35-EED6-3A4F-9FBD-E3DD1AB79C45}"/>
              </a:ext>
            </a:extLst>
          </p:cNvPr>
          <p:cNvSpPr/>
          <p:nvPr/>
        </p:nvSpPr>
        <p:spPr>
          <a:xfrm>
            <a:off x="2921000" y="2844800"/>
            <a:ext cx="279400" cy="228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FF061-F667-D547-BC72-E34C367A6A37}"/>
              </a:ext>
            </a:extLst>
          </p:cNvPr>
          <p:cNvSpPr txBox="1"/>
          <p:nvPr/>
        </p:nvSpPr>
        <p:spPr>
          <a:xfrm>
            <a:off x="3276600" y="28702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sz="1100" b="1">
                <a:solidFill>
                  <a:srgbClr val="5C5C5C"/>
                </a:solidFill>
                <a:latin typeface="NanumSquare"/>
                <a:ea typeface="NanumSquare"/>
              </a:rPr>
              <a:t>localhost:8080</a:t>
            </a:r>
            <a:endParaRPr lang="ko-US" sz="1100" b="1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882AB4E-DD27-0C41-9DD2-AC744DA98D5A}"/>
              </a:ext>
            </a:extLst>
          </p:cNvPr>
          <p:cNvSpPr/>
          <p:nvPr/>
        </p:nvSpPr>
        <p:spPr>
          <a:xfrm>
            <a:off x="889000" y="3175000"/>
            <a:ext cx="4419600" cy="5842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1565A0"/>
                </a:solidFill>
                <a:latin typeface="NanumSquare"/>
                <a:ea typeface="NanumSquare"/>
              </a:rPr>
              <a:t>frontend (Nginx)
</a:t>
            </a:r>
            <a:r>
              <a:rPr lang="ko-KR" altLang="en-US" sz="1100">
                <a:solidFill>
                  <a:srgbClr val="1565A0"/>
                </a:solidFill>
                <a:latin typeface="NanumSquare"/>
                <a:ea typeface="NanumSquare"/>
              </a:rPr>
              <a:t>정적 페이지 서빙 </a:t>
            </a:r>
            <a:r>
              <a:rPr lang="en-US" altLang="ko-KR" sz="1100">
                <a:solidFill>
                  <a:srgbClr val="1565A0"/>
                </a:solidFill>
                <a:latin typeface="NanumSquare"/>
                <a:ea typeface="NanumSquare"/>
              </a:rPr>
              <a:t>+ </a:t>
            </a:r>
            <a:r>
              <a:rPr lang="en" sz="1100">
                <a:solidFill>
                  <a:srgbClr val="1565A0"/>
                </a:solidFill>
                <a:latin typeface="NanumSquare"/>
                <a:ea typeface="NanumSquare"/>
              </a:rPr>
              <a:t>API </a:t>
            </a:r>
            <a:r>
              <a:rPr lang="ko-KR" altLang="en-US" sz="1100">
                <a:solidFill>
                  <a:srgbClr val="1565A0"/>
                </a:solidFill>
                <a:latin typeface="NanumSquare"/>
                <a:ea typeface="NanumSquare"/>
              </a:rPr>
              <a:t>프록시</a:t>
            </a:r>
            <a:endParaRPr lang="ko-US" sz="14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10" name="아래쪽 화살표[D] 9">
            <a:extLst>
              <a:ext uri="{FF2B5EF4-FFF2-40B4-BE49-F238E27FC236}">
                <a16:creationId xmlns:a16="http://schemas.microsoft.com/office/drawing/2014/main" id="{66461C94-7D96-544E-B13D-80861BDFAF90}"/>
              </a:ext>
            </a:extLst>
          </p:cNvPr>
          <p:cNvSpPr/>
          <p:nvPr/>
        </p:nvSpPr>
        <p:spPr>
          <a:xfrm>
            <a:off x="2921000" y="3784600"/>
            <a:ext cx="279400" cy="228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8A24F-7F11-5D45-AAED-6D8AF0108990}"/>
              </a:ext>
            </a:extLst>
          </p:cNvPr>
          <p:cNvSpPr txBox="1"/>
          <p:nvPr/>
        </p:nvSpPr>
        <p:spPr>
          <a:xfrm>
            <a:off x="3276600" y="38100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" sz="1100" b="1">
                <a:solidFill>
                  <a:srgbClr val="5C5C5C"/>
                </a:solidFill>
                <a:latin typeface="NanumSquare"/>
                <a:ea typeface="NanumSquare"/>
              </a:rPr>
              <a:t>HTTP </a:t>
            </a:r>
            <a:r>
              <a:rPr lang="ko-KR" altLang="en-US" sz="1100" b="1">
                <a:solidFill>
                  <a:srgbClr val="5C5C5C"/>
                </a:solidFill>
                <a:latin typeface="NanumSquare"/>
                <a:ea typeface="NanumSquare"/>
              </a:rPr>
              <a:t>요청 </a:t>
            </a:r>
            <a:r>
              <a:rPr lang="en-US" altLang="ko-KR" sz="1100" b="1">
                <a:solidFill>
                  <a:srgbClr val="5C5C5C"/>
                </a:solidFill>
                <a:latin typeface="NanumSquare"/>
                <a:ea typeface="NanumSquare"/>
              </a:rPr>
              <a:t>/</a:t>
            </a:r>
            <a:r>
              <a:rPr lang="en" sz="1100" b="1">
                <a:solidFill>
                  <a:srgbClr val="5C5C5C"/>
                </a:solidFill>
                <a:latin typeface="NanumSquare"/>
                <a:ea typeface="NanumSquare"/>
              </a:rPr>
              <a:t>posts</a:t>
            </a:r>
            <a:endParaRPr lang="ko-US" sz="1100" b="1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F813EF2-24D6-7742-9766-B9909EDBC086}"/>
              </a:ext>
            </a:extLst>
          </p:cNvPr>
          <p:cNvSpPr/>
          <p:nvPr/>
        </p:nvSpPr>
        <p:spPr>
          <a:xfrm>
            <a:off x="889000" y="4089400"/>
            <a:ext cx="4419600" cy="5842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2E7D5B"/>
                </a:solidFill>
                <a:latin typeface="NanumSquare"/>
                <a:ea typeface="NanumSquare"/>
              </a:rPr>
              <a:t>backend (Flask)
</a:t>
            </a:r>
            <a:r>
              <a:rPr lang="en" sz="1100">
                <a:solidFill>
                  <a:srgbClr val="2E7D5B"/>
                </a:solidFill>
                <a:latin typeface="NanumSquare"/>
                <a:ea typeface="NanumSquare"/>
              </a:rPr>
              <a:t>REST API · </a:t>
            </a:r>
            <a:r>
              <a:rPr lang="ko-KR" altLang="en-US" sz="1100">
                <a:solidFill>
                  <a:srgbClr val="2E7D5B"/>
                </a:solidFill>
                <a:latin typeface="NanumSquare"/>
                <a:ea typeface="NanumSquare"/>
              </a:rPr>
              <a:t>게시글 저장</a:t>
            </a:r>
            <a:r>
              <a:rPr lang="en-US" altLang="ko-KR" sz="1100">
                <a:solidFill>
                  <a:srgbClr val="2E7D5B"/>
                </a:solidFill>
                <a:latin typeface="NanumSquare"/>
                <a:ea typeface="NanumSquare"/>
              </a:rPr>
              <a:t>/</a:t>
            </a:r>
            <a:r>
              <a:rPr lang="ko-KR" altLang="en-US" sz="1100">
                <a:solidFill>
                  <a:srgbClr val="2E7D5B"/>
                </a:solidFill>
                <a:latin typeface="NanumSquare"/>
                <a:ea typeface="NanumSquare"/>
              </a:rPr>
              <a:t>조회</a:t>
            </a:r>
            <a:endParaRPr lang="ko-US" sz="14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3" name="아래쪽 화살표[D] 12">
            <a:extLst>
              <a:ext uri="{FF2B5EF4-FFF2-40B4-BE49-F238E27FC236}">
                <a16:creationId xmlns:a16="http://schemas.microsoft.com/office/drawing/2014/main" id="{85647542-40E8-874E-84E6-DBCF9A3C7F3A}"/>
              </a:ext>
            </a:extLst>
          </p:cNvPr>
          <p:cNvSpPr/>
          <p:nvPr/>
        </p:nvSpPr>
        <p:spPr>
          <a:xfrm>
            <a:off x="2921000" y="4699000"/>
            <a:ext cx="279400" cy="228600"/>
          </a:xfrm>
          <a:prstGeom prst="down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C5B631-8425-9D46-993F-70043216E819}"/>
              </a:ext>
            </a:extLst>
          </p:cNvPr>
          <p:cNvSpPr txBox="1"/>
          <p:nvPr/>
        </p:nvSpPr>
        <p:spPr>
          <a:xfrm>
            <a:off x="3276600" y="47117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5C5C5C"/>
                </a:solidFill>
                <a:latin typeface="NanumSquare"/>
                <a:ea typeface="NanumSquare"/>
              </a:rPr>
              <a:t>저장</a:t>
            </a:r>
            <a:endParaRPr lang="ko-US" sz="1100" b="1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14A683E-0DB2-5547-B475-0CBD51F1EFF8}"/>
              </a:ext>
            </a:extLst>
          </p:cNvPr>
          <p:cNvSpPr/>
          <p:nvPr/>
        </p:nvSpPr>
        <p:spPr>
          <a:xfrm>
            <a:off x="889000" y="4978400"/>
            <a:ext cx="4419600" cy="4064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1A1A1A"/>
                </a:solidFill>
                <a:latin typeface="NanumSquare"/>
                <a:ea typeface="NanumSquare"/>
              </a:rPr>
              <a:t>data.json </a:t>
            </a:r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저장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B3243-79CC-6543-82E2-082ECCC9D475}"/>
              </a:ext>
            </a:extLst>
          </p:cNvPr>
          <p:cNvSpPr txBox="1"/>
          <p:nvPr/>
        </p:nvSpPr>
        <p:spPr>
          <a:xfrm>
            <a:off x="876300" y="5689600"/>
            <a:ext cx="44196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A1A1A"/>
                </a:solidFill>
                <a:latin typeface="NanumSquare"/>
                <a:ea typeface="NanumSquare"/>
              </a:rPr>
              <a:t>사용 이미지</a:t>
            </a:r>
            <a:endParaRPr lang="ko-US" sz="13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69F04B-CF59-ED41-8316-03B5C9F3429B}"/>
              </a:ext>
            </a:extLst>
          </p:cNvPr>
          <p:cNvSpPr txBox="1"/>
          <p:nvPr/>
        </p:nvSpPr>
        <p:spPr>
          <a:xfrm>
            <a:off x="889000" y="6032500"/>
            <a:ext cx="441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400" b="1" dirty="0">
                <a:solidFill>
                  <a:srgbClr val="1565A0"/>
                </a:solidFill>
                <a:latin typeface="Consolas"/>
                <a:cs typeface="Consolas"/>
              </a:rPr>
              <a:t>frontend   frontend:v4-kb5</a:t>
            </a:r>
            <a:endParaRPr lang="ko-US" sz="1400" b="1" dirty="0">
              <a:solidFill>
                <a:srgbClr val="1565A0"/>
              </a:solidFill>
              <a:cs typeface="Consola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778063-665B-E145-B92E-B46A7D2DD2E7}"/>
              </a:ext>
            </a:extLst>
          </p:cNvPr>
          <p:cNvSpPr txBox="1"/>
          <p:nvPr/>
        </p:nvSpPr>
        <p:spPr>
          <a:xfrm>
            <a:off x="889000" y="6350000"/>
            <a:ext cx="441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400" b="1" dirty="0">
                <a:solidFill>
                  <a:srgbClr val="1565A0"/>
                </a:solidFill>
                <a:latin typeface="Consolas"/>
                <a:cs typeface="Consolas"/>
              </a:rPr>
              <a:t>backend    backend:v4-kb5</a:t>
            </a:r>
            <a:endParaRPr lang="ko-US" sz="1400" b="1" dirty="0">
              <a:solidFill>
                <a:srgbClr val="1565A0"/>
              </a:solidFill>
              <a:cs typeface="Consola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EE3866-9033-8849-AD94-6BA1D63BDA4D}"/>
              </a:ext>
            </a:extLst>
          </p:cNvPr>
          <p:cNvSpPr txBox="1"/>
          <p:nvPr/>
        </p:nvSpPr>
        <p:spPr>
          <a:xfrm>
            <a:off x="5842000" y="2006600"/>
            <a:ext cx="5664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C0512A"/>
                </a:solidFill>
                <a:latin typeface="NanumSquare"/>
                <a:ea typeface="NanumSquare"/>
              </a:rPr>
              <a:t>과제 단계</a:t>
            </a:r>
            <a:endParaRPr lang="ko-US" sz="15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BAAE5-3DA1-8241-B399-FD71F7E9C34B}"/>
              </a:ext>
            </a:extLst>
          </p:cNvPr>
          <p:cNvSpPr txBox="1"/>
          <p:nvPr/>
        </p:nvSpPr>
        <p:spPr>
          <a:xfrm>
            <a:off x="5842000" y="2362200"/>
            <a:ext cx="5664200" cy="294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  <a:spcAft>
                <a:spcPts val="65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1. 전용 네트워크 생성  </a:t>
            </a:r>
            <a:r>
              <a:rPr lang="ko-KR" sz="13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— frontend·backend가 이름으로 통신할 사용자 정의 네트워크를 만든다 (이름 자유)</a:t>
            </a:r>
          </a:p>
          <a:p>
            <a:pPr algn="l">
              <a:lnSpc>
                <a:spcPct val="150000"/>
              </a:lnSpc>
              <a:spcAft>
                <a:spcPts val="65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2. backend 실행  </a:t>
            </a:r>
            <a:r>
              <a:rPr lang="ko-KR" sz="13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— backend:v4-kb5 · 이름 backend-service(필수) · 1번 네트워크 연결 · 내부 5000(호스트 노출 불필요) · frontend보다 먼저</a:t>
            </a:r>
          </a:p>
          <a:p>
            <a:pPr algn="l">
              <a:lnSpc>
                <a:spcPct val="150000"/>
              </a:lnSpc>
              <a:spcAft>
                <a:spcPts val="65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3. frontend 실행  </a:t>
            </a:r>
            <a:r>
              <a:rPr lang="ko-KR" sz="13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— frontend:v4-kb5 · 같은 네트워크 · -p 8080:80</a:t>
            </a:r>
          </a:p>
          <a:p>
            <a:pPr algn="l">
              <a:lnSpc>
                <a:spcPct val="150000"/>
              </a:lnSpc>
              <a:spcAft>
                <a:spcPts val="65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4. 웹 접속 확인  </a:t>
            </a:r>
            <a:r>
              <a:rPr lang="ko-KR" sz="13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— http://192.168.56.10:8080 에서 글 작성·등록·출력 확인</a:t>
            </a:r>
          </a:p>
          <a:p>
            <a:pPr algn="l">
              <a:lnSpc>
                <a:spcPct val="150000"/>
              </a:lnSpc>
              <a:spcAft>
                <a:spcPts val="65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5. 저장 확인  </a:t>
            </a:r>
            <a:r>
              <a:rPr lang="ko-KR" sz="13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— docker exec -it backend-service sh → cat /app/data.json 확인 후 exit</a:t>
            </a:r>
          </a:p>
          <a:p>
            <a:pPr algn="l">
              <a:lnSpc>
                <a:spcPct val="150000"/>
              </a:lnSpc>
              <a:spcAft>
                <a:spcPts val="650"/>
              </a:spcAft>
              <a:buNone/>
            </a:pPr>
            <a:r>
              <a:rPr lang="ko-KR" sz="1300" b="1" dirty="0">
                <a:solidFill>
                  <a:srgbClr val="C0512A"/>
                </a:solidFill>
                <a:latin typeface="NanumSquare"/>
                <a:ea typeface="NanumSquare"/>
                <a:cs typeface="NanumSquare"/>
              </a:rPr>
              <a:t>6. 네트워크 소속 확인  </a:t>
            </a:r>
            <a:r>
              <a:rPr lang="ko-KR" sz="13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— docker network inspect 로 두 컨테이너가 같은 네트워크인지 확인</a:t>
            </a:r>
          </a:p>
        </p:txBody>
      </p:sp>
    </p:spTree>
    <p:extLst>
      <p:ext uri="{BB962C8B-B14F-4D97-AF65-F5344CB8AC3E}">
        <p14:creationId xmlns:p14="http://schemas.microsoft.com/office/powerpoint/2010/main" val="29855877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VM 위 Docker, 그리고 그 한계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직접 띄워 보고, 단일 호스트의 벽에 부딪혀 본다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870332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· 한계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단일 호스트 Docker의 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H="1">
            <a:off x="4114800" y="2743200"/>
            <a:ext cx="1965960" cy="27432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6080760" y="2743200"/>
            <a:ext cx="320040" cy="27432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4206240" y="2011680"/>
            <a:ext cx="3749040" cy="73152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VM 1대 (단일 호스트)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301752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310896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301752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539496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web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30175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7863840" y="3017520"/>
            <a:ext cx="23774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장애 시 자동복구 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4114800"/>
            <a:ext cx="4297680" cy="731520"/>
          </a:xfrm>
          <a:prstGeom prst="roundRect">
            <a:avLst>
              <a:gd name="adj" fmla="val 625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3108960" y="4114800"/>
            <a:ext cx="4297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트래픽 폭증 → 수동 확장만 가능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5120640"/>
            <a:ext cx="7132320" cy="731520"/>
          </a:xfrm>
          <a:prstGeom prst="roundRect">
            <a:avLst>
              <a:gd name="adj" fmla="val 625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3108960" y="5120640"/>
            <a:ext cx="71323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호스트가 죽으면 전부 정지 (SPOF)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확장·복구·로드밸런싱·배포를 사람이 손으로 해야 한다 → 오케스트레이션이 필요해진다.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685468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Docker의</a:t>
            </a: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한계 체험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E9F5EF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941832" y="180136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장애와 확장을 '수동으로' 처리하며 불편함을 직접 느낀다.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10817352" cy="3136392"/>
          </a:xfrm>
          <a:prstGeom prst="roundRect">
            <a:avLst>
              <a:gd name="adj" fmla="val 1842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941832" y="302666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터미널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3410712"/>
            <a:ext cx="10360152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1. 컨테이너를 강제로 죽여 본다 → 자동 복구 없음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docker kill web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docker ps    # web 이 사라진다. 누가 다시 살려주나?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2. 트래픽 대비 수동 스케일 아웃 시도(포트 충돌 발생)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docker run -d --name web2 -p 80:80 nginx:1.27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Error: 포트 80 이미 사용 중 → 로드밸런서를 직접 구성해야 한다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3. 여러 개를 살리려면 포트를 일일이 다르게…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docker run -d --name web2 -p 81:80 nginx:1.27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docker run -d --name web3 -p 82:80 nginx:1.27   # 관리 지옥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기대 결과: 복구·확장·LB를 전부 손으로 → '이걸 자동화해 주는 것'이 쿠버네티스다.</a:t>
            </a:r>
            <a:endParaRPr lang="en-US" sz="9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D1FD697-1DF8-9E9B-B24F-7546F4DE0C40}"/>
              </a:ext>
            </a:extLst>
          </p:cNvPr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· 한계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0493873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· 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단일 호스트가 못 하는 것들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자가 치유: 죽은 컨테이너 자동 재시작·재배치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스케일링: 부하에 따라 자동 증감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로드밸런싱: 동일 서비스 여러 복제본에 트래픽 분배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무중단 배포·롤백: 버전 교체를 안전하게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여러 호스트 통합 관리: 자원을 하나의 풀처럼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FB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 다섯 가지가 바로 쿠버네티스가 기본으로 제공하는 기능이다.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7086118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오케스트레이션과 쿠버네티스의 등장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컨테이너를 '무리'로 다루는 기술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126727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·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오케스트레이션이란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다수의 컨테이너를 여러 호스트에 걸쳐 자동으로 배치·확장·복구·연결하는 것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사람이 '어디에·몇 개·어떻게'를 손으로 정하던 일을 시스템이 대신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원하는 상태(desired state)를 선언하면, 시스템이 그 상태를 유지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대표주자: 쿠버네티스(Kubernetes, K8s) — 사실상 업계 표준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오케스트라 지휘자처럼, 수많은 컨테이너가 조화롭게 동작하도록 조율한다.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5842290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· 비교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수동 운영 vs 오케스트레이션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0292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02920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사람이 직접 (Docker만)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92608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어느 서버에 띄울지 결정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죽으면 사람이 재시작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29768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1005840" y="429768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확장·LB 수동 구성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50292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502920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28600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667512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쿠버네티스가 자동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92608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6675120" y="292608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스케줄러가 배치 결정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61188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1" name="Text 19"/>
          <p:cNvSpPr/>
          <p:nvPr/>
        </p:nvSpPr>
        <p:spPr>
          <a:xfrm>
            <a:off x="667512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죽으면 자동 재생성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429768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3" name="Text 21"/>
          <p:cNvSpPr/>
          <p:nvPr/>
        </p:nvSpPr>
        <p:spPr>
          <a:xfrm>
            <a:off x="6675120" y="4297680"/>
            <a:ext cx="4389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선언만 하면 확장·LB 자동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전환: '명령(어떻게)'에서 '선언(무엇을)'으로. 유지·복구는 시스템의 몫이 된다.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43465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· 등장 배경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쿠버네티스인가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구글이 내부에서 10년 이상 컨테이너를 운영하며 쌓은 노하우(Borg)에서 출발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2014년 오픈소스로 공개, CNCF로 이관되어 중립적 생태계 형성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 API · 자가 치유 · 확장성 · 풍부한 생태계로 사실상 표준이 됨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클라우드(EKS/GKE/AKS)·온프레미스 어디서나 같은 방식으로 운영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'컨테이너를 한 대에서'가 Docker라면, '컨테이너를 무리로 안정 운영'이 쿠버네티스.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099079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정리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09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오케스트레이션 = 다수 컨테이너의 자동 배치·확장·복구·연결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패러다임 전환: 명령형 → 선언형(원하는 상태 선언)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쿠버네티스가 사실상 표준, 클라우드·온프레미스 공통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다음: 그 쿠버네티스가 '어떻게 생겼는지' 구조를 본다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39586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 클러스터 구조 이해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 Plane(두뇌)과 Worker Node(일꾼)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880571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· 전체 그림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클러스터 = Control Plane + Worker Nodes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5577840" y="2903220"/>
            <a:ext cx="548640" cy="1028700"/>
          </a:xfrm>
          <a:prstGeom prst="line">
            <a:avLst/>
          </a:prstGeom>
          <a:noFill/>
          <a:ln w="22225">
            <a:solidFill>
              <a:srgbClr val="1D6F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5577840" y="3931920"/>
            <a:ext cx="548640" cy="982980"/>
          </a:xfrm>
          <a:prstGeom prst="line">
            <a:avLst/>
          </a:prstGeom>
          <a:noFill/>
          <a:ln w="22225">
            <a:solidFill>
              <a:srgbClr val="1D6F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846320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606040"/>
            <a:ext cx="429768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297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 Plane (두뇌)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4206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kube-apiserver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93192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etcd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393192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320040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461772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1005840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controller-mgr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461772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3200400" y="461772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cloud-ctrl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1" name="Text 19"/>
          <p:cNvSpPr/>
          <p:nvPr/>
        </p:nvSpPr>
        <p:spPr>
          <a:xfrm>
            <a:off x="6126480" y="2011680"/>
            <a:ext cx="5303520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14884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3" name="Text 21"/>
          <p:cNvSpPr/>
          <p:nvPr/>
        </p:nvSpPr>
        <p:spPr>
          <a:xfrm>
            <a:off x="63550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Worker Node 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27432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5" name="Text 23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9680" y="27432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7" name="Text 25"/>
          <p:cNvSpPr/>
          <p:nvPr/>
        </p:nvSpPr>
        <p:spPr>
          <a:xfrm>
            <a:off x="88696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2461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9" name="Text 27"/>
          <p:cNvSpPr/>
          <p:nvPr/>
        </p:nvSpPr>
        <p:spPr>
          <a:xfrm>
            <a:off x="640080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Pods (컨테이너 런타임)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4023360"/>
            <a:ext cx="530352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1" name="Text 29"/>
          <p:cNvSpPr/>
          <p:nvPr/>
        </p:nvSpPr>
        <p:spPr>
          <a:xfrm>
            <a:off x="6126480" y="4023360"/>
            <a:ext cx="5303520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41605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3" name="Text 31"/>
          <p:cNvSpPr/>
          <p:nvPr/>
        </p:nvSpPr>
        <p:spPr>
          <a:xfrm>
            <a:off x="63550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Worker Node 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47548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5" name="Text 33"/>
          <p:cNvSpPr/>
          <p:nvPr/>
        </p:nvSpPr>
        <p:spPr>
          <a:xfrm>
            <a:off x="640080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869680" y="475488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7" name="Text 35"/>
          <p:cNvSpPr/>
          <p:nvPr/>
        </p:nvSpPr>
        <p:spPr>
          <a:xfrm>
            <a:off x="886968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0" y="525780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9" name="Text 37"/>
          <p:cNvSpPr/>
          <p:nvPr/>
        </p:nvSpPr>
        <p:spPr>
          <a:xfrm>
            <a:off x="6400800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Pods (컨테이너 런타임)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32120" y="327126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D6FE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 Plane은 '결정', Worker는 '실행'. 모든 대화는 apiserver를 거친다.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39844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· Control Plane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두뇌: Control Plane 구성요소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kube-apiserver: 모든 요청의 관문(REST API). 인증·검증·etcd 기록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etcd: 클러스터의 모든 상태를 담는 분산 key-value 저장소(유일한 진실의 원천)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kube-scheduler: 새 Pod를 '어느 노드'에 둘지 결정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kube-controller-manager: 현재 상태를 desired 상태로 맞추는 컨트롤러 묶음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cloud-controller-manager: 클라우드(LB·디스크 등)와 연동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etcd가 곧 클러스터의 기억. 여길 잃으면 클러스터 상태를 잃는다(백업 중요).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5928489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· Worker Node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일꾼: Worker Node 구성요소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kubelet: 노드의 대리인. apiserver의 지시대로 Pod를 띄우고 상태 보고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kube-proxy: 노드의 네트워크 규칙 관리(Service 트래픽 전달)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런타임: containerd/CRI-O — 실제 컨테이너 실행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Pod: 노드 위에서 실제로 도는 워크로드 단위(다음 챕터)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 ↔ 런타임은 CRI로, kubelet ↔ Control Plane은 apiserver로 대화한다.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226181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· 요청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'Pod 하나 만들어줘'가 처리되는 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06040" y="4096910"/>
            <a:ext cx="274320" cy="914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 flipV="1">
            <a:off x="3794760" y="3365390"/>
            <a:ext cx="2103120" cy="32004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 flipV="1">
            <a:off x="3794760" y="3685430"/>
            <a:ext cx="2103120" cy="82296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Shape 7"/>
          <p:cNvSpPr/>
          <p:nvPr/>
        </p:nvSpPr>
        <p:spPr>
          <a:xfrm>
            <a:off x="9281160" y="4096910"/>
            <a:ext cx="365760" cy="914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0" name="Shape 8"/>
          <p:cNvSpPr/>
          <p:nvPr/>
        </p:nvSpPr>
        <p:spPr>
          <a:xfrm>
            <a:off x="777240" y="368543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0F5FC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777240" y="368543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kubectl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368543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1D6FE0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2880360" y="368543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apiserver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58815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4983480" y="2588150"/>
            <a:ext cx="18288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etcd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상태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368543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4983480" y="368543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scheduler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노드 결정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368543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9" name="Text 17"/>
          <p:cNvSpPr/>
          <p:nvPr/>
        </p:nvSpPr>
        <p:spPr>
          <a:xfrm>
            <a:off x="7452360" y="368543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노드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46920" y="368543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21" name="Text 19"/>
          <p:cNvSpPr/>
          <p:nvPr/>
        </p:nvSpPr>
        <p:spPr>
          <a:xfrm>
            <a:off x="9646920" y="368543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 생성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23160" y="395060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1. 요청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3333386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2. 기록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51351" y="3946034"/>
            <a:ext cx="990601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 스케줄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3950606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5C5C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4. 할당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0" y="395060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E8E5A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5. 실행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사용자는 apiserver에만 말한다. 나머지는 컨트롤러들이 watch하며 자동으로 협업한다.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185876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0E6DC-368E-2147-929C-248D0F297A84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10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클러스터 접근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9BFCB-6BE8-0340-8BDA-375661022C8E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관리자는 클러스터와 어떻게 통신하는가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7E587-5DC8-C340-B5D4-59C7773228DD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모든 통신은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kube-apiserver(API Server)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한 곳을 거친다 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클러스터의 유일한 출입구다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CD398E8-7E22-554D-BF12-32EEFACAE125}"/>
              </a:ext>
            </a:extLst>
          </p:cNvPr>
          <p:cNvSpPr/>
          <p:nvPr/>
        </p:nvSpPr>
        <p:spPr>
          <a:xfrm>
            <a:off x="812800" y="2184400"/>
            <a:ext cx="2844800" cy="6096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1A1A1A"/>
                </a:solidFill>
                <a:latin typeface="NanumSquare"/>
                <a:ea typeface="NanumSquare"/>
              </a:rPr>
              <a:t>kubectl
</a:t>
            </a:r>
            <a:r>
              <a:rPr lang="ko-KR" altLang="en-US" sz="1100">
                <a:solidFill>
                  <a:srgbClr val="1A1A1A"/>
                </a:solidFill>
                <a:latin typeface="NanumSquare"/>
                <a:ea typeface="NanumSquare"/>
              </a:rPr>
              <a:t>명령줄 도구 </a:t>
            </a:r>
            <a:r>
              <a:rPr lang="en-US" altLang="ko-KR" sz="1100">
                <a:solidFill>
                  <a:srgbClr val="1A1A1A"/>
                </a:solidFill>
                <a:latin typeface="NanumSquare"/>
                <a:ea typeface="NanumSquare"/>
              </a:rPr>
              <a:t>(</a:t>
            </a:r>
            <a:r>
              <a:rPr lang="en" sz="1100">
                <a:solidFill>
                  <a:srgbClr val="1A1A1A"/>
                </a:solidFill>
                <a:latin typeface="NanumSquare"/>
                <a:ea typeface="NanumSquare"/>
              </a:rPr>
              <a:t>CLI)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6D3821BF-523B-FD40-952A-D803151A4777}"/>
              </a:ext>
            </a:extLst>
          </p:cNvPr>
          <p:cNvSpPr/>
          <p:nvPr/>
        </p:nvSpPr>
        <p:spPr>
          <a:xfrm>
            <a:off x="3708400" y="2374900"/>
            <a:ext cx="584200" cy="2286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862CC7A-FC90-D944-9FE4-72FA2102ED9A}"/>
              </a:ext>
            </a:extLst>
          </p:cNvPr>
          <p:cNvSpPr/>
          <p:nvPr/>
        </p:nvSpPr>
        <p:spPr>
          <a:xfrm>
            <a:off x="812800" y="2895600"/>
            <a:ext cx="2844800" cy="6096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웹 대시보드
</a:t>
            </a:r>
            <a:r>
              <a:rPr lang="en" sz="1100">
                <a:solidFill>
                  <a:srgbClr val="1A1A1A"/>
                </a:solidFill>
                <a:latin typeface="NanumSquare"/>
                <a:ea typeface="NanumSquare"/>
              </a:rPr>
              <a:t>Dashboard UI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DF58A30E-EC54-9747-9782-40895366E183}"/>
              </a:ext>
            </a:extLst>
          </p:cNvPr>
          <p:cNvSpPr/>
          <p:nvPr/>
        </p:nvSpPr>
        <p:spPr>
          <a:xfrm>
            <a:off x="3708400" y="3086100"/>
            <a:ext cx="584200" cy="2286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183D6F0-EB3B-644C-996B-0C412A09B5C0}"/>
              </a:ext>
            </a:extLst>
          </p:cNvPr>
          <p:cNvSpPr/>
          <p:nvPr/>
        </p:nvSpPr>
        <p:spPr>
          <a:xfrm>
            <a:off x="812800" y="3606800"/>
            <a:ext cx="2844800" cy="6096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1A1A1A"/>
                </a:solidFill>
                <a:latin typeface="NanumSquare"/>
                <a:ea typeface="NanumSquare"/>
              </a:rPr>
              <a:t>REST API · curl
</a:t>
            </a:r>
            <a:r>
              <a:rPr lang="en" sz="1100">
                <a:solidFill>
                  <a:srgbClr val="1A1A1A"/>
                </a:solidFill>
                <a:latin typeface="NanumSquare"/>
                <a:ea typeface="NanumSquare"/>
              </a:rPr>
              <a:t>HTTP </a:t>
            </a:r>
            <a:r>
              <a:rPr lang="ko-KR" altLang="en-US" sz="1100">
                <a:solidFill>
                  <a:srgbClr val="1A1A1A"/>
                </a:solidFill>
                <a:latin typeface="NanumSquare"/>
                <a:ea typeface="NanumSquare"/>
              </a:rPr>
              <a:t>직접 호출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E56C7B1F-8076-9A43-BDBD-5D8CC0644E70}"/>
              </a:ext>
            </a:extLst>
          </p:cNvPr>
          <p:cNvSpPr/>
          <p:nvPr/>
        </p:nvSpPr>
        <p:spPr>
          <a:xfrm>
            <a:off x="3708400" y="3797300"/>
            <a:ext cx="584200" cy="2286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C651EF6-771E-3748-976F-40A9E2DD0919}"/>
              </a:ext>
            </a:extLst>
          </p:cNvPr>
          <p:cNvSpPr/>
          <p:nvPr/>
        </p:nvSpPr>
        <p:spPr>
          <a:xfrm>
            <a:off x="812800" y="4318000"/>
            <a:ext cx="2844800" cy="609600"/>
          </a:xfrm>
          <a:prstGeom prst="roundRect">
            <a:avLst/>
          </a:prstGeom>
          <a:solidFill>
            <a:srgbClr val="ECEF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A1A1A"/>
                </a:solidFill>
                <a:latin typeface="NanumSquare"/>
                <a:ea typeface="NanumSquare"/>
              </a:rPr>
              <a:t>클라이언트 라이브러리
</a:t>
            </a:r>
            <a:r>
              <a:rPr lang="en" sz="1100">
                <a:solidFill>
                  <a:srgbClr val="1A1A1A"/>
                </a:solidFill>
                <a:latin typeface="NanumSquare"/>
                <a:ea typeface="NanumSquare"/>
              </a:rPr>
              <a:t>client-go · Python </a:t>
            </a:r>
            <a:r>
              <a:rPr lang="ko-KR" altLang="en-US" sz="1100">
                <a:solidFill>
                  <a:srgbClr val="1A1A1A"/>
                </a:solidFill>
                <a:latin typeface="NanumSquare"/>
                <a:ea typeface="NanumSquare"/>
              </a:rPr>
              <a:t>등</a:t>
            </a:r>
            <a:endParaRPr lang="ko-US" sz="14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F6AE3EEC-9816-C54B-9F20-5B297C48361C}"/>
              </a:ext>
            </a:extLst>
          </p:cNvPr>
          <p:cNvSpPr/>
          <p:nvPr/>
        </p:nvSpPr>
        <p:spPr>
          <a:xfrm>
            <a:off x="3708400" y="4508500"/>
            <a:ext cx="584200" cy="2286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09888AE-7EC8-E14A-858B-5074917434FB}"/>
              </a:ext>
            </a:extLst>
          </p:cNvPr>
          <p:cNvSpPr/>
          <p:nvPr/>
        </p:nvSpPr>
        <p:spPr>
          <a:xfrm>
            <a:off x="4521200" y="2311400"/>
            <a:ext cx="2997200" cy="2540000"/>
          </a:xfrm>
          <a:prstGeom prst="roundRect">
            <a:avLst/>
          </a:prstGeom>
          <a:solidFill>
            <a:srgbClr val="1D6F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kube-apiserver</a:t>
            </a:r>
          </a:p>
          <a:p>
            <a:pPr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(API Server)</a:t>
            </a:r>
          </a:p>
          <a:p>
            <a:pPr algn="ctr">
              <a:lnSpc>
                <a:spcPct val="60000"/>
              </a:lnSpc>
              <a:buNone/>
            </a:pPr>
            <a:endParaRPr lang="en-US" sz="800" dirty="0"/>
          </a:p>
          <a:p>
            <a:pPr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클러스터의 유일한 출입구</a:t>
            </a: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9D0EB479-F7B7-734C-848C-DDDCAC43D45C}"/>
              </a:ext>
            </a:extLst>
          </p:cNvPr>
          <p:cNvSpPr/>
          <p:nvPr/>
        </p:nvSpPr>
        <p:spPr>
          <a:xfrm>
            <a:off x="7594600" y="3454400"/>
            <a:ext cx="381000" cy="254000"/>
          </a:xfrm>
          <a:prstGeom prst="rightArrow">
            <a:avLst/>
          </a:prstGeom>
          <a:solidFill>
            <a:srgbClr val="9AA5B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E714F58B-F522-FD4E-AF59-6C020C78BF5A}"/>
              </a:ext>
            </a:extLst>
          </p:cNvPr>
          <p:cNvSpPr/>
          <p:nvPr/>
        </p:nvSpPr>
        <p:spPr>
          <a:xfrm>
            <a:off x="8077200" y="2514600"/>
            <a:ext cx="3403600" cy="609600"/>
          </a:xfrm>
          <a:prstGeom prst="roundRect">
            <a:avLst/>
          </a:prstGeom>
          <a:solidFill>
            <a:srgbClr val="FCEB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400" b="1">
                <a:solidFill>
                  <a:srgbClr val="C0512A"/>
                </a:solidFill>
                <a:latin typeface="NanumSquare"/>
                <a:ea typeface="NanumSquare"/>
              </a:rPr>
              <a:t>etcd · </a:t>
            </a:r>
            <a:r>
              <a:rPr lang="ko-KR" altLang="en-US" sz="1400" b="1">
                <a:solidFill>
                  <a:srgbClr val="C0512A"/>
                </a:solidFill>
                <a:latin typeface="NanumSquare"/>
                <a:ea typeface="NanumSquare"/>
              </a:rPr>
              <a:t>상태 저장</a:t>
            </a:r>
            <a:endParaRPr lang="ko-US" sz="1400" b="1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5AC2F66-D862-5245-B6EB-C7CAAA47ED9F}"/>
              </a:ext>
            </a:extLst>
          </p:cNvPr>
          <p:cNvSpPr/>
          <p:nvPr/>
        </p:nvSpPr>
        <p:spPr>
          <a:xfrm>
            <a:off x="8077200" y="3378200"/>
            <a:ext cx="3403600" cy="609600"/>
          </a:xfrm>
          <a:prstGeom prst="roundRect">
            <a:avLst/>
          </a:prstGeom>
          <a:solidFill>
            <a:srgbClr val="E1F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565A0"/>
                </a:solidFill>
                <a:latin typeface="NanumSquare"/>
                <a:ea typeface="NanumSquare"/>
              </a:rPr>
              <a:t>컨트롤러 </a:t>
            </a:r>
            <a:r>
              <a:rPr lang="en-US" altLang="ko-KR" sz="1400" b="1">
                <a:solidFill>
                  <a:srgbClr val="1565A0"/>
                </a:solidFill>
                <a:latin typeface="NanumSquare"/>
                <a:ea typeface="NanumSquare"/>
              </a:rPr>
              <a:t>· </a:t>
            </a:r>
            <a:r>
              <a:rPr lang="ko-KR" altLang="en-US" sz="1400" b="1">
                <a:solidFill>
                  <a:srgbClr val="1565A0"/>
                </a:solidFill>
                <a:latin typeface="NanumSquare"/>
                <a:ea typeface="NanumSquare"/>
              </a:rPr>
              <a:t>스케줄러</a:t>
            </a:r>
            <a:endParaRPr lang="ko-US" sz="14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8AEC5DA-E781-434C-B4FA-8D700583D814}"/>
              </a:ext>
            </a:extLst>
          </p:cNvPr>
          <p:cNvSpPr/>
          <p:nvPr/>
        </p:nvSpPr>
        <p:spPr>
          <a:xfrm>
            <a:off x="8077200" y="4241800"/>
            <a:ext cx="3403600" cy="609600"/>
          </a:xfrm>
          <a:prstGeom prst="roundRect">
            <a:avLst/>
          </a:prstGeom>
          <a:solidFill>
            <a:srgbClr val="E6F4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2E7D5B"/>
                </a:solidFill>
                <a:latin typeface="NanumSquare"/>
                <a:ea typeface="NanumSquare"/>
              </a:rPr>
              <a:t>각 노드의 </a:t>
            </a:r>
            <a:r>
              <a:rPr lang="en" sz="1400" b="1">
                <a:solidFill>
                  <a:srgbClr val="2E7D5B"/>
                </a:solidFill>
                <a:latin typeface="NanumSquare"/>
                <a:ea typeface="NanumSquare"/>
              </a:rPr>
              <a:t>kubelet</a:t>
            </a:r>
            <a:endParaRPr lang="ko-US" sz="1400" b="1">
              <a:solidFill>
                <a:srgbClr val="2E7D5B"/>
              </a:solidFill>
              <a:latin typeface="NanumSquare"/>
              <a:ea typeface="NanumSquare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D4523FE0-9243-6A40-9642-22320E20FCE3}"/>
              </a:ext>
            </a:extLst>
          </p:cNvPr>
          <p:cNvSpPr/>
          <p:nvPr/>
        </p:nvSpPr>
        <p:spPr>
          <a:xfrm>
            <a:off x="685800" y="5308600"/>
            <a:ext cx="10820400" cy="609600"/>
          </a:xfrm>
          <a:prstGeom prst="roundRect">
            <a:avLst/>
          </a:prstGeom>
          <a:solidFill>
            <a:srgbClr val="1552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인증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: </a:t>
            </a:r>
            <a:r>
              <a:rPr lang="en" sz="1400" b="1">
                <a:solidFill>
                  <a:srgbClr val="FFFFFF"/>
                </a:solidFill>
                <a:latin typeface="NanumSquare"/>
                <a:ea typeface="NanumSquare"/>
              </a:rPr>
              <a:t>kubeconfig(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인증서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·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토큰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)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로 </a:t>
            </a:r>
            <a:r>
              <a:rPr lang="en" sz="1400" b="1">
                <a:solidFill>
                  <a:srgbClr val="FFFFFF"/>
                </a:solidFill>
                <a:latin typeface="NanumSquare"/>
                <a:ea typeface="NanumSquare"/>
              </a:rPr>
              <a:t>HTTPS 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접속 → </a:t>
            </a:r>
            <a:r>
              <a:rPr lang="en" sz="1400" b="1">
                <a:solidFill>
                  <a:srgbClr val="FFFFFF"/>
                </a:solidFill>
                <a:latin typeface="NanumSquare"/>
                <a:ea typeface="NanumSquare"/>
              </a:rPr>
              <a:t>API Server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가 인증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·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인가</a:t>
            </a:r>
            <a:r>
              <a:rPr lang="en-US" altLang="ko-KR" sz="1400" b="1">
                <a:solidFill>
                  <a:srgbClr val="FFFFFF"/>
                </a:solidFill>
                <a:latin typeface="NanumSquare"/>
                <a:ea typeface="NanumSquare"/>
              </a:rPr>
              <a:t>·</a:t>
            </a:r>
            <a:r>
              <a:rPr lang="ko-KR" altLang="en-US" sz="1400" b="1">
                <a:solidFill>
                  <a:srgbClr val="FFFFFF"/>
                </a:solidFill>
                <a:latin typeface="NanumSquare"/>
                <a:ea typeface="NanumSquare"/>
              </a:rPr>
              <a:t>검증을 모두 수행</a:t>
            </a:r>
            <a:endParaRPr lang="ko-US" sz="14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D1A7AD-48B2-514C-87BB-A0CF43794993}"/>
              </a:ext>
            </a:extLst>
          </p:cNvPr>
          <p:cNvSpPr txBox="1"/>
          <p:nvPr/>
        </p:nvSpPr>
        <p:spPr>
          <a:xfrm>
            <a:off x="685800" y="6350000"/>
            <a:ext cx="108839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관리자는 노드나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etcd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에 직접 접속하지 않는다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반드시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API Server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를 통해야 한다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6135242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904C66-7466-6D4E-B488-51F41DEDFB01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10 · </a:t>
            </a:r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클러스터 접근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B41BF-6681-B04B-A92A-FB55EFF17311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kubectl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과 </a:t>
            </a:r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kubeconfig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A8360-0439-5746-8CC1-FA1B6629E9C5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kubectl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은 클러스터에 명령을 내리는 도구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,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kubeconfig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는 그 접속 정보를 담은 파일이다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246262F-DB83-5841-B8D7-1BDE1332704C}"/>
              </a:ext>
            </a:extLst>
          </p:cNvPr>
          <p:cNvSpPr/>
          <p:nvPr/>
        </p:nvSpPr>
        <p:spPr>
          <a:xfrm>
            <a:off x="685800" y="1981200"/>
            <a:ext cx="5207000" cy="37846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432B1-2D25-3D42-B965-1011D0A3F19D}"/>
              </a:ext>
            </a:extLst>
          </p:cNvPr>
          <p:cNvSpPr txBox="1"/>
          <p:nvPr/>
        </p:nvSpPr>
        <p:spPr>
          <a:xfrm>
            <a:off x="889000" y="2108200"/>
            <a:ext cx="4800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600" b="1">
                <a:solidFill>
                  <a:srgbClr val="1565A0"/>
                </a:solidFill>
                <a:latin typeface="NanumSquare"/>
                <a:ea typeface="NanumSquare"/>
              </a:rPr>
              <a:t>kubectl — </a:t>
            </a:r>
            <a:r>
              <a:rPr lang="ko-KR" altLang="en-US" sz="1600" b="1">
                <a:solidFill>
                  <a:srgbClr val="1565A0"/>
                </a:solidFill>
                <a:latin typeface="NanumSquare"/>
                <a:ea typeface="NanumSquare"/>
              </a:rPr>
              <a:t>클러스터 명령 도구</a:t>
            </a:r>
            <a:endParaRPr lang="ko-US" sz="16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5DD94-F5AA-334F-9963-53E250FE62F2}"/>
              </a:ext>
            </a:extLst>
          </p:cNvPr>
          <p:cNvSpPr txBox="1"/>
          <p:nvPr/>
        </p:nvSpPr>
        <p:spPr>
          <a:xfrm>
            <a:off x="889000" y="2514600"/>
            <a:ext cx="4800600" cy="149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16000" indent="-216000" algn="l">
              <a:lnSpc>
                <a:spcPct val="128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쿠버네티스 공식 명령줄 도구(CLI)</a:t>
            </a:r>
          </a:p>
          <a:p>
            <a:pPr marL="216000" indent="-216000" algn="l">
              <a:lnSpc>
                <a:spcPct val="128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입력한 명령을 REST 요청으로 바꿔 API Server에 전달</a:t>
            </a:r>
          </a:p>
          <a:p>
            <a:pPr marL="216000" indent="-216000" algn="l">
              <a:lnSpc>
                <a:spcPct val="128000"/>
              </a:lnSpc>
              <a:spcAft>
                <a:spcPts val="5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자주 쓰는 동사: get · describe · apply · logs · exec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1C3903-49FB-1E42-97F6-761A1AFD8BBC}"/>
              </a:ext>
            </a:extLst>
          </p:cNvPr>
          <p:cNvSpPr txBox="1"/>
          <p:nvPr/>
        </p:nvSpPr>
        <p:spPr>
          <a:xfrm>
            <a:off x="889000" y="4089400"/>
            <a:ext cx="4800600" cy="152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200">
                <a:solidFill>
                  <a:srgbClr val="1565A0"/>
                </a:solidFill>
                <a:latin typeface="Consolas"/>
                <a:cs typeface="Consolas"/>
              </a:rPr>
              <a:t>kubectl get pods
kubectl apply -f app.yaml
kubectl logs &lt;pod&gt;</a:t>
            </a:r>
            <a:endParaRPr lang="ko-US" sz="1200">
              <a:solidFill>
                <a:srgbClr val="1565A0"/>
              </a:solidFill>
              <a:cs typeface="Consolas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FBB35DA-141E-974B-A7A8-65841D648B7B}"/>
              </a:ext>
            </a:extLst>
          </p:cNvPr>
          <p:cNvSpPr/>
          <p:nvPr/>
        </p:nvSpPr>
        <p:spPr>
          <a:xfrm>
            <a:off x="6299200" y="1981200"/>
            <a:ext cx="5207000" cy="37846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7CFB3-E688-BA44-A7CC-AC46761C710D}"/>
              </a:ext>
            </a:extLst>
          </p:cNvPr>
          <p:cNvSpPr txBox="1"/>
          <p:nvPr/>
        </p:nvSpPr>
        <p:spPr>
          <a:xfrm>
            <a:off x="6502400" y="2108200"/>
            <a:ext cx="4800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600" b="1" dirty="0" err="1">
                <a:solidFill>
                  <a:srgbClr val="C0512A"/>
                </a:solidFill>
                <a:latin typeface="NanumSquare"/>
                <a:ea typeface="NanumSquare"/>
              </a:rPr>
              <a:t>kubeconfig</a:t>
            </a:r>
            <a:r>
              <a:rPr lang="en" sz="1600" b="1" dirty="0">
                <a:solidFill>
                  <a:srgbClr val="C0512A"/>
                </a:solidFill>
                <a:latin typeface="NanumSquare"/>
                <a:ea typeface="NanumSquare"/>
              </a:rPr>
              <a:t> — </a:t>
            </a:r>
            <a:r>
              <a:rPr lang="ko-KR" altLang="en-US" sz="1600" b="1" dirty="0">
                <a:solidFill>
                  <a:srgbClr val="C0512A"/>
                </a:solidFill>
                <a:latin typeface="NanumSquare"/>
                <a:ea typeface="NanumSquare"/>
              </a:rPr>
              <a:t>접속 정보 파일</a:t>
            </a:r>
            <a:endParaRPr lang="ko-US" sz="1600" b="1" dirty="0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59DE5-0C99-5C4F-9583-379740CA5090}"/>
              </a:ext>
            </a:extLst>
          </p:cNvPr>
          <p:cNvSpPr txBox="1"/>
          <p:nvPr/>
        </p:nvSpPr>
        <p:spPr>
          <a:xfrm>
            <a:off x="6502400" y="2514600"/>
            <a:ext cx="4800600" cy="149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16000" indent="-216000" algn="l">
              <a:lnSpc>
                <a:spcPct val="128000"/>
              </a:lnSpc>
              <a:spcAft>
                <a:spcPts val="500"/>
              </a:spcAft>
              <a:buClr>
                <a:srgbClr val="C0512A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클러스터 접속 정보를 담은 YAML 파일</a:t>
            </a:r>
          </a:p>
          <a:p>
            <a:pPr marL="216000" indent="-216000" algn="l">
              <a:lnSpc>
                <a:spcPct val="128000"/>
              </a:lnSpc>
              <a:spcAft>
                <a:spcPts val="500"/>
              </a:spcAft>
              <a:buClr>
                <a:srgbClr val="C0512A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3요소: clusters(주소·CA) · users(인증서·토큰) · contexts(조합)</a:t>
            </a:r>
          </a:p>
          <a:p>
            <a:pPr marL="216000" indent="-216000" algn="l">
              <a:lnSpc>
                <a:spcPct val="128000"/>
              </a:lnSpc>
              <a:spcAft>
                <a:spcPts val="500"/>
              </a:spcAft>
              <a:buClr>
                <a:srgbClr val="C0512A"/>
              </a:buClr>
              <a:buFont typeface="Arial"/>
              <a:buChar char="•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kubectl이 이 파일을 읽어 '어디에·어떤 권한으로' 접속할지 결정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EA5A6-0CAF-F649-824A-90BA7B903156}"/>
              </a:ext>
            </a:extLst>
          </p:cNvPr>
          <p:cNvSpPr txBox="1"/>
          <p:nvPr/>
        </p:nvSpPr>
        <p:spPr>
          <a:xfrm>
            <a:off x="6502400" y="4089400"/>
            <a:ext cx="4800600" cy="152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200">
                <a:solidFill>
                  <a:srgbClr val="C0512A"/>
                </a:solidFill>
                <a:latin typeface="Consolas"/>
                <a:cs typeface="Consolas"/>
              </a:rPr>
              <a:t>kubectl config get-contexts
kubectl config use-context &lt;name&gt;
~/.kube/config (YAML)</a:t>
            </a:r>
            <a:endParaRPr lang="ko-US" sz="1200">
              <a:solidFill>
                <a:srgbClr val="C0512A"/>
              </a:solidFill>
              <a:cs typeface="Consola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CE28854-DF57-8E4A-A4D1-17BBEC8141A3}"/>
              </a:ext>
            </a:extLst>
          </p:cNvPr>
          <p:cNvSpPr/>
          <p:nvPr/>
        </p:nvSpPr>
        <p:spPr>
          <a:xfrm>
            <a:off x="685800" y="6019800"/>
            <a:ext cx="10820400" cy="533400"/>
          </a:xfrm>
          <a:prstGeom prst="roundRect">
            <a:avLst/>
          </a:prstGeom>
          <a:solidFill>
            <a:srgbClr val="1552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sz="1300" b="1">
                <a:solidFill>
                  <a:srgbClr val="FFFFFF"/>
                </a:solidFill>
                <a:latin typeface="NanumSquare"/>
                <a:ea typeface="NanumSquare"/>
              </a:rPr>
              <a:t>kubectl</a:t>
            </a:r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은 현재 </a:t>
            </a:r>
            <a:r>
              <a:rPr lang="en" sz="1300" b="1">
                <a:solidFill>
                  <a:srgbClr val="FFFFFF"/>
                </a:solidFill>
                <a:latin typeface="NanumSquare"/>
                <a:ea typeface="NanumSquare"/>
              </a:rPr>
              <a:t>context</a:t>
            </a:r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의 </a:t>
            </a:r>
            <a:r>
              <a:rPr lang="en" sz="1300" b="1">
                <a:solidFill>
                  <a:srgbClr val="FFFFFF"/>
                </a:solidFill>
                <a:latin typeface="NanumSquare"/>
                <a:ea typeface="NanumSquare"/>
              </a:rPr>
              <a:t>kubeconfig </a:t>
            </a:r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정보로 </a:t>
            </a:r>
            <a:r>
              <a:rPr lang="en" sz="1300" b="1">
                <a:solidFill>
                  <a:srgbClr val="FFFFFF"/>
                </a:solidFill>
                <a:latin typeface="NanumSquare"/>
                <a:ea typeface="NanumSquare"/>
              </a:rPr>
              <a:t>API Server</a:t>
            </a:r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에 인증한다 </a:t>
            </a:r>
            <a:r>
              <a:rPr lang="en-US" altLang="ko-KR" sz="1300" b="1">
                <a:solidFill>
                  <a:srgbClr val="FFFFFF"/>
                </a:solidFill>
                <a:latin typeface="NanumSquare"/>
                <a:ea typeface="NanumSquare"/>
              </a:rPr>
              <a:t>— </a:t>
            </a:r>
            <a:r>
              <a:rPr lang="en" sz="1300" b="1">
                <a:solidFill>
                  <a:srgbClr val="FFFFFF"/>
                </a:solidFill>
                <a:latin typeface="NanumSquare"/>
                <a:ea typeface="NanumSquare"/>
              </a:rPr>
              <a:t>context</a:t>
            </a:r>
            <a:r>
              <a:rPr lang="ko-KR" altLang="en-US" sz="1300" b="1">
                <a:solidFill>
                  <a:srgbClr val="FFFFFF"/>
                </a:solidFill>
                <a:latin typeface="NanumSquare"/>
                <a:ea typeface="NanumSquare"/>
              </a:rPr>
              <a:t>를 바꾸면 대상 클러스터가 바뀐다</a:t>
            </a:r>
            <a:endParaRPr lang="ko-US" sz="130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14736253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BC5F1-A251-CF41-9B77-12FC2F009B39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6FE0"/>
                </a:solidFill>
                <a:latin typeface="NanumSquare"/>
                <a:ea typeface="NanumSquare"/>
              </a:rPr>
              <a:t>실습 환경 </a:t>
            </a:r>
            <a:r>
              <a:rPr lang="en-US" altLang="ko-KR" sz="1300" b="1">
                <a:solidFill>
                  <a:srgbClr val="1D6FE0"/>
                </a:solidFill>
                <a:latin typeface="NanumSquare"/>
                <a:ea typeface="NanumSquare"/>
              </a:rPr>
              <a:t>· </a:t>
            </a:r>
            <a:r>
              <a:rPr lang="en" sz="1300" b="1">
                <a:solidFill>
                  <a:srgbClr val="1D6FE0"/>
                </a:solidFill>
                <a:latin typeface="NanumSquare"/>
                <a:ea typeface="NanumSquare"/>
              </a:rPr>
              <a:t>SETUP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FDA47-4549-D94B-B53D-47D114B10268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Rancher Desktop 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설치 </a:t>
            </a:r>
            <a:r>
              <a:rPr lang="en-US" altLang="ko-KR" sz="3200" b="1">
                <a:solidFill>
                  <a:srgbClr val="1A1A1A"/>
                </a:solidFill>
                <a:latin typeface="NanumSquare"/>
                <a:ea typeface="NanumSquare"/>
              </a:rPr>
              <a:t>(</a:t>
            </a:r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Windows)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AD055-50EB-2D45-8410-A4661F076F77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빠른 적응을 위해 실습 환경은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Rancher Desktop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으로 통일한다 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kubectl · nerdctl · k3s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가 한 번에 설치된다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18BD178-CDC4-6547-A59B-E24B49189C43}"/>
              </a:ext>
            </a:extLst>
          </p:cNvPr>
          <p:cNvSpPr/>
          <p:nvPr/>
        </p:nvSpPr>
        <p:spPr>
          <a:xfrm>
            <a:off x="685800" y="1981200"/>
            <a:ext cx="5207000" cy="37846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D2832-4F3C-5941-BF6F-3DC6E0DC2602}"/>
              </a:ext>
            </a:extLst>
          </p:cNvPr>
          <p:cNvSpPr txBox="1"/>
          <p:nvPr/>
        </p:nvSpPr>
        <p:spPr>
          <a:xfrm>
            <a:off x="889000" y="2164522"/>
            <a:ext cx="4800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565A0"/>
                </a:solidFill>
                <a:latin typeface="NanumSquare"/>
                <a:ea typeface="NanumSquare"/>
              </a:rPr>
              <a:t>준비 조건 </a:t>
            </a:r>
            <a:r>
              <a:rPr lang="en-US" altLang="ko-KR" sz="1600" b="1" dirty="0">
                <a:solidFill>
                  <a:srgbClr val="1565A0"/>
                </a:solidFill>
                <a:latin typeface="NanumSquare"/>
                <a:ea typeface="NanumSquare"/>
              </a:rPr>
              <a:t>(</a:t>
            </a:r>
            <a:r>
              <a:rPr lang="en" sz="1600" b="1" dirty="0">
                <a:solidFill>
                  <a:srgbClr val="1565A0"/>
                </a:solidFill>
                <a:latin typeface="NanumSquare"/>
                <a:ea typeface="NanumSquare"/>
              </a:rPr>
              <a:t>Windows)</a:t>
            </a:r>
            <a:endParaRPr lang="ko-US" sz="1600" b="1" dirty="0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C7879-35A6-EA48-8631-D3A462D7CDFC}"/>
              </a:ext>
            </a:extLst>
          </p:cNvPr>
          <p:cNvSpPr txBox="1"/>
          <p:nvPr/>
        </p:nvSpPr>
        <p:spPr>
          <a:xfrm>
            <a:off x="889000" y="2596322"/>
            <a:ext cx="4800600" cy="147872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Windows 11 (Home 포함) · 최신 업데이트</a:t>
            </a:r>
          </a:p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CPU 가상화 활성화 (작업관리자 → 성능 → CPU 확인)</a:t>
            </a:r>
          </a:p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WSL2 먼저 설치 (필수 선행 조건)</a:t>
            </a:r>
          </a:p>
          <a:p>
            <a:pPr marL="216000" indent="-216000" algn="l">
              <a:lnSpc>
                <a:spcPct val="125000"/>
              </a:lnSpc>
              <a:spcAft>
                <a:spcPts val="6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0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인터넷 연결 · 설치 중 일부 단계는 관리자 권한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D9CD73F-F98A-424F-A294-753ED072B61B}"/>
              </a:ext>
            </a:extLst>
          </p:cNvPr>
          <p:cNvSpPr/>
          <p:nvPr/>
        </p:nvSpPr>
        <p:spPr>
          <a:xfrm>
            <a:off x="6299200" y="1981200"/>
            <a:ext cx="5207000" cy="37846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D79BF-CBBE-1941-9A81-4D36D56343AD}"/>
              </a:ext>
            </a:extLst>
          </p:cNvPr>
          <p:cNvSpPr txBox="1"/>
          <p:nvPr/>
        </p:nvSpPr>
        <p:spPr>
          <a:xfrm>
            <a:off x="6502400" y="2108200"/>
            <a:ext cx="4800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C0512A"/>
                </a:solidFill>
                <a:latin typeface="NanumSquare"/>
                <a:ea typeface="NanumSquare"/>
              </a:rPr>
              <a:t>설치 단계</a:t>
            </a:r>
            <a:endParaRPr lang="ko-US" sz="1600" b="1" dirty="0">
              <a:solidFill>
                <a:srgbClr val="C0512A"/>
              </a:solidFill>
              <a:latin typeface="NanumSquare"/>
              <a:ea typeface="NanumSquar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876E70-F987-9146-910A-AA189AA3756B}"/>
              </a:ext>
            </a:extLst>
          </p:cNvPr>
          <p:cNvSpPr txBox="1"/>
          <p:nvPr/>
        </p:nvSpPr>
        <p:spPr>
          <a:xfrm>
            <a:off x="6502400" y="2540000"/>
            <a:ext cx="4800600" cy="190500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52000" indent="-252000" algn="l">
              <a:lnSpc>
                <a:spcPct val="120000"/>
              </a:lnSpc>
              <a:spcAft>
                <a:spcPts val="500"/>
              </a:spcAft>
              <a:buClr>
                <a:srgbClr val="C0512A"/>
              </a:buClr>
              <a:buFont typeface="Arial"/>
              <a:buAutoNum type="arabicPeriod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GitHub Releases(또는 rancherdesktop.io)에서 Windows 설치 파일(.msi) 다운로드</a:t>
            </a:r>
          </a:p>
          <a:p>
            <a:pPr marL="252000" indent="-252000" algn="l">
              <a:lnSpc>
                <a:spcPct val="120000"/>
              </a:lnSpc>
              <a:spcAft>
                <a:spcPts val="500"/>
              </a:spcAft>
              <a:buClr>
                <a:srgbClr val="C0512A"/>
              </a:buClr>
              <a:buFont typeface="Arial"/>
              <a:buAutoNum type="arabicPeriod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설치 파일 실행 → License 검토 후 I Agree</a:t>
            </a:r>
          </a:p>
          <a:p>
            <a:pPr marL="252000" indent="-252000" algn="l">
              <a:lnSpc>
                <a:spcPct val="120000"/>
              </a:lnSpc>
              <a:spcAft>
                <a:spcPts val="500"/>
              </a:spcAft>
              <a:buClr>
                <a:srgbClr val="C0512A"/>
              </a:buClr>
              <a:buFont typeface="Arial"/>
              <a:buAutoNum type="arabicPeriod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설치 범위 선택 — '모든 사용자' 권장 (Privileged Service)</a:t>
            </a:r>
          </a:p>
          <a:p>
            <a:pPr marL="252000" indent="-252000" algn="l">
              <a:lnSpc>
                <a:spcPct val="120000"/>
              </a:lnSpc>
              <a:spcAft>
                <a:spcPts val="500"/>
              </a:spcAft>
              <a:buClr>
                <a:srgbClr val="C0512A"/>
              </a:buClr>
              <a:buFont typeface="Arial"/>
              <a:buAutoNum type="arabicPeriod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안내에 따라 설치 → 완료 시 Finish</a:t>
            </a:r>
          </a:p>
          <a:p>
            <a:pPr marL="252000" indent="-252000" algn="l">
              <a:lnSpc>
                <a:spcPct val="120000"/>
              </a:lnSpc>
              <a:spcAft>
                <a:spcPts val="500"/>
              </a:spcAft>
              <a:buClr>
                <a:srgbClr val="C0512A"/>
              </a:buClr>
              <a:buFont typeface="Arial"/>
              <a:buAutoNum type="arabicPeriod"/>
            </a:pPr>
            <a:r>
              <a:rPr lang="ko-KR" sz="13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첫 실행: 컨테이너 엔진(dockerd) · Kubernetes 활성화 선택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068450D-8008-D649-B677-FB53EC0893A5}"/>
              </a:ext>
            </a:extLst>
          </p:cNvPr>
          <p:cNvSpPr/>
          <p:nvPr/>
        </p:nvSpPr>
        <p:spPr>
          <a:xfrm>
            <a:off x="685800" y="5842000"/>
            <a:ext cx="10820400" cy="533400"/>
          </a:xfrm>
          <a:prstGeom prst="roundRect">
            <a:avLst/>
          </a:prstGeom>
          <a:solidFill>
            <a:srgbClr val="1552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설치 한 번으로 </a:t>
            </a:r>
            <a:r>
              <a:rPr lang="en" sz="1350" b="1">
                <a:solidFill>
                  <a:srgbClr val="FFFFFF"/>
                </a:solidFill>
                <a:latin typeface="NanumSquare"/>
                <a:ea typeface="NanumSquare"/>
              </a:rPr>
              <a:t>kubectl · nerdctl · helm · k3s(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쿠버네티스</a:t>
            </a:r>
            <a:r>
              <a:rPr lang="en-US" altLang="ko-KR" sz="1350" b="1">
                <a:solidFill>
                  <a:srgbClr val="FFFFFF"/>
                </a:solidFill>
                <a:latin typeface="NanumSquare"/>
                <a:ea typeface="NanumSquare"/>
              </a:rPr>
              <a:t>)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가 함께 준비된다 </a:t>
            </a:r>
            <a:r>
              <a:rPr lang="en-US" altLang="ko-KR" sz="1350" b="1">
                <a:solidFill>
                  <a:srgbClr val="FFFFFF"/>
                </a:solidFill>
                <a:latin typeface="NanumSquare"/>
                <a:ea typeface="NanumSquare"/>
              </a:rPr>
              <a:t>— 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별도 설치 불필요</a:t>
            </a:r>
            <a:endParaRPr lang="ko-US" sz="135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32489-C28F-C94A-A161-EE0BC3F6DCCE}"/>
              </a:ext>
            </a:extLst>
          </p:cNvPr>
          <p:cNvSpPr txBox="1"/>
          <p:nvPr/>
        </p:nvSpPr>
        <p:spPr>
          <a:xfrm>
            <a:off x="685800" y="64516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공식 문서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· </a:t>
            </a:r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docs.rancherdesktop.io/getting-started/installation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5055024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 vs 명령형 · YAML · Pod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쿠버네티스에 '원하는 상태'를 말하는 법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318264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패러다임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명령형 vs 선언형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0392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명령형 (Imperative)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'어떻게'를 한 단계씩 지시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kubectl run / create / scale ...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빠르고 직관적 — 학습·디버깅에 좋음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현재 상태를 내가 추적해야 함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재현·버전관리가 어렵다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82512" y="1920240"/>
            <a:ext cx="5285232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6702552" y="2121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 (Declarative)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02552" y="269748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'무엇을' 원하는지 파일로 선언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kubectl apply -f manifest.yaml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시스템이 desired 상태로 수렴(reconcile)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Git으로 버전관리(GitOps)에 적합</a:t>
            </a:r>
            <a:endParaRPr lang="en-US" sz="1400" dirty="0"/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 표준 — 재현성·협업에 강함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학습은 명령형으로 빠르게, 운영은 선언형(YAML)으로. 오늘부터 YAML에 익숙해지자.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625949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reconcile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선언형의 심장: Reconcile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66160" y="3246120"/>
            <a:ext cx="1005840" cy="914"/>
          </a:xfrm>
          <a:prstGeom prst="line">
            <a:avLst/>
          </a:prstGeom>
          <a:noFill/>
          <a:ln w="22225">
            <a:solidFill>
              <a:srgbClr val="1D6F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 flipH="1">
            <a:off x="7498080" y="3246120"/>
            <a:ext cx="1005840" cy="914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6035040" y="3749040"/>
            <a:ext cx="914" cy="64008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 flipV="1">
            <a:off x="7498080" y="3246120"/>
            <a:ext cx="1005840" cy="155448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Desired State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YAML: replicas=3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F1ECFB"/>
          </a:solidFill>
          <a:ln w="19050">
            <a:solidFill>
              <a:srgbClr val="6B46C1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9260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Controller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끊임없이 비교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27432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850392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Current State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실제: 2개 떠 있음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438912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2926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차이만큼 조치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(1개 더 생성)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컨트롤러는 desired와 current의 '차이'를 계속 0으로 만든다 → 자가 치유의 원리.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27941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3061A4-0A2E-EA48-B5CA-38E7645B2ADC}"/>
              </a:ext>
            </a:extLst>
          </p:cNvPr>
          <p:cNvSpPr txBox="1"/>
          <p:nvPr/>
        </p:nvSpPr>
        <p:spPr>
          <a:xfrm>
            <a:off x="685800" y="508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300" b="1">
                <a:solidFill>
                  <a:srgbClr val="1D6FE0"/>
                </a:solidFill>
                <a:latin typeface="NanumSquare"/>
                <a:ea typeface="NanumSquare"/>
              </a:rPr>
              <a:t>11 · YAML</a:t>
            </a:r>
            <a:endParaRPr lang="ko-US" sz="1300" b="1">
              <a:solidFill>
                <a:srgbClr val="1D6FE0"/>
              </a:solidFill>
              <a:latin typeface="NanumSquare"/>
              <a:ea typeface="NanumSquar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78CAE-4543-9748-A2FE-165E02B82005}"/>
              </a:ext>
            </a:extLst>
          </p:cNvPr>
          <p:cNvSpPr txBox="1"/>
          <p:nvPr/>
        </p:nvSpPr>
        <p:spPr>
          <a:xfrm>
            <a:off x="685800" y="838200"/>
            <a:ext cx="108839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3200" b="1">
                <a:solidFill>
                  <a:srgbClr val="1A1A1A"/>
                </a:solidFill>
                <a:latin typeface="NanumSquare"/>
                <a:ea typeface="NanumSquare"/>
              </a:rPr>
              <a:t>YAML</a:t>
            </a:r>
            <a:r>
              <a:rPr lang="ko-KR" altLang="en-US" sz="3200" b="1">
                <a:solidFill>
                  <a:srgbClr val="1A1A1A"/>
                </a:solidFill>
                <a:latin typeface="NanumSquare"/>
                <a:ea typeface="NanumSquare"/>
              </a:rPr>
              <a:t>이란 무엇인가</a:t>
            </a:r>
            <a:endParaRPr lang="ko-US" sz="3200" b="1">
              <a:solidFill>
                <a:srgbClr val="1A1A1A"/>
              </a:solidFill>
              <a:latin typeface="NanumSquare"/>
              <a:ea typeface="NanumSquar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9178C-7AEE-E041-91BC-23569B5C19D4}"/>
              </a:ext>
            </a:extLst>
          </p:cNvPr>
          <p:cNvSpPr txBox="1"/>
          <p:nvPr/>
        </p:nvSpPr>
        <p:spPr>
          <a:xfrm>
            <a:off x="685800" y="1549400"/>
            <a:ext cx="10883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사람이 읽고 쓰기 쉬운 데이터 표기법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 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쿠버네티스는 모든 오브젝트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(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설정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)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를 </a:t>
            </a:r>
            <a:r>
              <a:rPr lang="en" sz="1300">
                <a:solidFill>
                  <a:srgbClr val="5C5C5C"/>
                </a:solidFill>
                <a:latin typeface="NanumSquare"/>
                <a:ea typeface="NanumSquare"/>
              </a:rPr>
              <a:t>YAML</a:t>
            </a:r>
            <a:r>
              <a:rPr lang="ko-KR" altLang="en-US" sz="1300">
                <a:solidFill>
                  <a:srgbClr val="5C5C5C"/>
                </a:solidFill>
                <a:latin typeface="NanumSquare"/>
                <a:ea typeface="NanumSquare"/>
              </a:rPr>
              <a:t>로 정의한다</a:t>
            </a:r>
            <a:r>
              <a:rPr lang="en-US" altLang="ko-KR" sz="13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13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037C787-DF7E-5047-9A80-66A0FFB5F4E0}"/>
              </a:ext>
            </a:extLst>
          </p:cNvPr>
          <p:cNvSpPr/>
          <p:nvPr/>
        </p:nvSpPr>
        <p:spPr>
          <a:xfrm>
            <a:off x="685800" y="1981200"/>
            <a:ext cx="5080000" cy="3708400"/>
          </a:xfrm>
          <a:prstGeom prst="roundRect">
            <a:avLst/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1F799-231F-C64A-8A86-EC314CF896CA}"/>
              </a:ext>
            </a:extLst>
          </p:cNvPr>
          <p:cNvSpPr txBox="1"/>
          <p:nvPr/>
        </p:nvSpPr>
        <p:spPr>
          <a:xfrm>
            <a:off x="889000" y="2108200"/>
            <a:ext cx="4673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600" b="1">
                <a:solidFill>
                  <a:srgbClr val="1565A0"/>
                </a:solidFill>
                <a:latin typeface="NanumSquare"/>
                <a:ea typeface="NanumSquare"/>
              </a:rPr>
              <a:t>YAML</a:t>
            </a:r>
            <a:r>
              <a:rPr lang="ko-KR" altLang="en-US" sz="1600" b="1">
                <a:solidFill>
                  <a:srgbClr val="1565A0"/>
                </a:solidFill>
                <a:latin typeface="NanumSquare"/>
                <a:ea typeface="NanumSquare"/>
              </a:rPr>
              <a:t>의 특징</a:t>
            </a:r>
            <a:endParaRPr lang="ko-US" sz="1600" b="1">
              <a:solidFill>
                <a:srgbClr val="1565A0"/>
              </a:solidFill>
              <a:latin typeface="NanumSquare"/>
              <a:ea typeface="NanumSquar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87DE3-DDC8-B142-8F2E-24FFB76E4E06}"/>
              </a:ext>
            </a:extLst>
          </p:cNvPr>
          <p:cNvSpPr txBox="1"/>
          <p:nvPr/>
        </p:nvSpPr>
        <p:spPr>
          <a:xfrm>
            <a:off x="889000" y="2540000"/>
            <a:ext cx="4673600" cy="299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216000" indent="-216000" algn="l">
              <a:lnSpc>
                <a:spcPct val="135000"/>
              </a:lnSpc>
              <a:spcAft>
                <a:spcPts val="7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사람이 읽고 쓰기 쉬운 데이터 표기법 (설정 파일 표준)</a:t>
            </a:r>
          </a:p>
          <a:p>
            <a:pPr marL="216000" indent="-216000" algn="l">
              <a:lnSpc>
                <a:spcPct val="135000"/>
              </a:lnSpc>
              <a:spcAft>
                <a:spcPts val="7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key: value 형태로 값을 표현</a:t>
            </a:r>
          </a:p>
          <a:p>
            <a:pPr marL="216000" indent="-216000" algn="l">
              <a:lnSpc>
                <a:spcPct val="135000"/>
              </a:lnSpc>
              <a:spcAft>
                <a:spcPts val="7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들여쓰기(공백 2칸)로 계층 구조 표현 — 탭 금지</a:t>
            </a:r>
          </a:p>
          <a:p>
            <a:pPr marL="216000" indent="-216000" algn="l">
              <a:lnSpc>
                <a:spcPct val="135000"/>
              </a:lnSpc>
              <a:spcAft>
                <a:spcPts val="700"/>
              </a:spcAft>
              <a:buClr>
                <a:srgbClr val="1565A0"/>
              </a:buClr>
              <a:buFont typeface="Arial"/>
              <a:buChar char="•"/>
            </a:pPr>
            <a:r>
              <a:rPr lang="ko-KR" sz="1450" dirty="0">
                <a:solidFill>
                  <a:srgbClr val="2B2B2B"/>
                </a:solidFill>
                <a:latin typeface="NanumSquare"/>
                <a:ea typeface="NanumSquare"/>
                <a:cs typeface="NanumSquare"/>
              </a:rPr>
              <a:t>목록은 '-', 주석은 '#'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C6789B6-21DD-9746-9E50-A0A31E30F197}"/>
              </a:ext>
            </a:extLst>
          </p:cNvPr>
          <p:cNvSpPr/>
          <p:nvPr/>
        </p:nvSpPr>
        <p:spPr>
          <a:xfrm>
            <a:off x="6019800" y="1981200"/>
            <a:ext cx="5486400" cy="3708400"/>
          </a:xfrm>
          <a:prstGeom prst="round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35640-E630-3B4F-9F41-80F3DEAC6393}"/>
              </a:ext>
            </a:extLst>
          </p:cNvPr>
          <p:cNvSpPr txBox="1"/>
          <p:nvPr/>
        </p:nvSpPr>
        <p:spPr>
          <a:xfrm>
            <a:off x="6248400" y="21082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1100" b="1">
                <a:solidFill>
                  <a:srgbClr val="8FB5D6"/>
                </a:solidFill>
                <a:latin typeface="Consolas"/>
                <a:cs typeface="Consolas"/>
              </a:rPr>
              <a:t>example.yaml</a:t>
            </a:r>
            <a:endParaRPr lang="ko-US" sz="1100" b="1">
              <a:solidFill>
                <a:srgbClr val="8FB5D6"/>
              </a:solidFill>
              <a:cs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0B1F6-4CF5-E040-A407-8E253A47D5BC}"/>
              </a:ext>
            </a:extLst>
          </p:cNvPr>
          <p:cNvSpPr txBox="1"/>
          <p:nvPr/>
        </p:nvSpPr>
        <p:spPr>
          <a:xfrm>
            <a:off x="6248400" y="2438400"/>
            <a:ext cx="5181600" cy="30988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" sz="1250">
                <a:solidFill>
                  <a:srgbClr val="D6E4F0"/>
                </a:solidFill>
                <a:latin typeface="Consolas"/>
                <a:cs typeface="Consolas"/>
              </a:rPr>
              <a:t>name: minjae          # </a:t>
            </a:r>
            <a:r>
              <a:rPr lang="ko-KR" altLang="en-US" sz="1250">
                <a:solidFill>
                  <a:srgbClr val="D6E4F0"/>
                </a:solidFill>
                <a:latin typeface="Consolas"/>
                <a:cs typeface="Consolas"/>
              </a:rPr>
              <a:t>문자열</a:t>
            </a:r>
            <a:r>
              <a:rPr lang="en-US" altLang="ko-KR" sz="1250">
                <a:solidFill>
                  <a:srgbClr val="D6E4F0"/>
                </a:solidFill>
                <a:latin typeface="Consolas"/>
                <a:cs typeface="Consolas"/>
              </a:rPr>
              <a:t>(</a:t>
            </a:r>
            <a:r>
              <a:rPr lang="en" sz="1250">
                <a:solidFill>
                  <a:srgbClr val="D6E4F0"/>
                </a:solidFill>
                <a:latin typeface="Consolas"/>
                <a:cs typeface="Consolas"/>
              </a:rPr>
              <a:t>string)
replicas: 3           # </a:t>
            </a:r>
            <a:r>
              <a:rPr lang="ko-KR" altLang="en-US" sz="1250">
                <a:solidFill>
                  <a:srgbClr val="D6E4F0"/>
                </a:solidFill>
                <a:latin typeface="Consolas"/>
                <a:cs typeface="Consolas"/>
              </a:rPr>
              <a:t>숫자</a:t>
            </a:r>
            <a:r>
              <a:rPr lang="en-US" altLang="ko-KR" sz="1250">
                <a:solidFill>
                  <a:srgbClr val="D6E4F0"/>
                </a:solidFill>
                <a:latin typeface="Consolas"/>
                <a:cs typeface="Consolas"/>
              </a:rPr>
              <a:t>(</a:t>
            </a:r>
            <a:r>
              <a:rPr lang="en" sz="1250">
                <a:solidFill>
                  <a:srgbClr val="D6E4F0"/>
                </a:solidFill>
                <a:latin typeface="Consolas"/>
                <a:cs typeface="Consolas"/>
              </a:rPr>
              <a:t>number)
enabled: true         # </a:t>
            </a:r>
            <a:r>
              <a:rPr lang="ko-KR" altLang="en-US" sz="1250">
                <a:solidFill>
                  <a:srgbClr val="D6E4F0"/>
                </a:solidFill>
                <a:latin typeface="Consolas"/>
                <a:cs typeface="Consolas"/>
              </a:rPr>
              <a:t>참</a:t>
            </a:r>
            <a:r>
              <a:rPr lang="en-US" altLang="ko-KR" sz="1250">
                <a:solidFill>
                  <a:srgbClr val="D6E4F0"/>
                </a:solidFill>
                <a:latin typeface="Consolas"/>
                <a:cs typeface="Consolas"/>
              </a:rPr>
              <a:t>/</a:t>
            </a:r>
            <a:r>
              <a:rPr lang="ko-KR" altLang="en-US" sz="1250">
                <a:solidFill>
                  <a:srgbClr val="D6E4F0"/>
                </a:solidFill>
                <a:latin typeface="Consolas"/>
                <a:cs typeface="Consolas"/>
              </a:rPr>
              <a:t>거짓</a:t>
            </a:r>
            <a:r>
              <a:rPr lang="en-US" altLang="ko-KR" sz="1250">
                <a:solidFill>
                  <a:srgbClr val="D6E4F0"/>
                </a:solidFill>
                <a:latin typeface="Consolas"/>
                <a:cs typeface="Consolas"/>
              </a:rPr>
              <a:t>(</a:t>
            </a:r>
            <a:r>
              <a:rPr lang="en" sz="1250">
                <a:solidFill>
                  <a:srgbClr val="D6E4F0"/>
                </a:solidFill>
                <a:latin typeface="Consolas"/>
                <a:cs typeface="Consolas"/>
              </a:rPr>
              <a:t>boolean)
hobbies:              # </a:t>
            </a:r>
            <a:r>
              <a:rPr lang="ko-KR" altLang="en-US" sz="1250">
                <a:solidFill>
                  <a:srgbClr val="D6E4F0"/>
                </a:solidFill>
                <a:latin typeface="Consolas"/>
                <a:cs typeface="Consolas"/>
              </a:rPr>
              <a:t>목록</a:t>
            </a:r>
            <a:r>
              <a:rPr lang="en-US" altLang="ko-KR" sz="1250">
                <a:solidFill>
                  <a:srgbClr val="D6E4F0"/>
                </a:solidFill>
                <a:latin typeface="Consolas"/>
                <a:cs typeface="Consolas"/>
              </a:rPr>
              <a:t>(</a:t>
            </a:r>
            <a:r>
              <a:rPr lang="en" sz="1250">
                <a:solidFill>
                  <a:srgbClr val="D6E4F0"/>
                </a:solidFill>
                <a:latin typeface="Consolas"/>
                <a:cs typeface="Consolas"/>
              </a:rPr>
              <a:t>list)
  - docker
  - kubernetes
address:              # </a:t>
            </a:r>
            <a:r>
              <a:rPr lang="ko-KR" altLang="en-US" sz="1250">
                <a:solidFill>
                  <a:srgbClr val="D6E4F0"/>
                </a:solidFill>
                <a:latin typeface="Consolas"/>
                <a:cs typeface="Consolas"/>
              </a:rPr>
              <a:t>중첩</a:t>
            </a:r>
            <a:r>
              <a:rPr lang="en-US" altLang="ko-KR" sz="1250">
                <a:solidFill>
                  <a:srgbClr val="D6E4F0"/>
                </a:solidFill>
                <a:latin typeface="Consolas"/>
                <a:cs typeface="Consolas"/>
              </a:rPr>
              <a:t>(</a:t>
            </a:r>
            <a:r>
              <a:rPr lang="en" sz="1250">
                <a:solidFill>
                  <a:srgbClr val="D6E4F0"/>
                </a:solidFill>
                <a:latin typeface="Consolas"/>
                <a:cs typeface="Consolas"/>
              </a:rPr>
              <a:t>map)
  city: seoul</a:t>
            </a:r>
            <a:endParaRPr lang="ko-US" sz="1250">
              <a:solidFill>
                <a:srgbClr val="D6E4F0"/>
              </a:solidFill>
              <a:cs typeface="Consola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018E3FE-98EE-A540-A49B-6CF5C623CDC0}"/>
              </a:ext>
            </a:extLst>
          </p:cNvPr>
          <p:cNvSpPr/>
          <p:nvPr/>
        </p:nvSpPr>
        <p:spPr>
          <a:xfrm>
            <a:off x="685800" y="5791200"/>
            <a:ext cx="10820400" cy="533400"/>
          </a:xfrm>
          <a:prstGeom prst="roundRect">
            <a:avLst/>
          </a:prstGeom>
          <a:solidFill>
            <a:srgbClr val="1552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다음 장 </a:t>
            </a:r>
            <a:r>
              <a:rPr lang="en-US" altLang="ko-KR" sz="1350" b="1">
                <a:solidFill>
                  <a:srgbClr val="FFFFFF"/>
                </a:solidFill>
                <a:latin typeface="NanumSquare"/>
                <a:ea typeface="NanumSquare"/>
              </a:rPr>
              <a:t>— 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이 문법으로 쿠버네티스 오브젝트</a:t>
            </a:r>
            <a:r>
              <a:rPr lang="en-US" altLang="ko-KR" sz="1350" b="1">
                <a:solidFill>
                  <a:srgbClr val="FFFFFF"/>
                </a:solidFill>
                <a:latin typeface="NanumSquare"/>
                <a:ea typeface="NanumSquare"/>
              </a:rPr>
              <a:t>(</a:t>
            </a:r>
            <a:r>
              <a:rPr lang="en" sz="1350" b="1">
                <a:solidFill>
                  <a:srgbClr val="FFFFFF"/>
                </a:solidFill>
                <a:latin typeface="NanumSquare"/>
                <a:ea typeface="NanumSquare"/>
              </a:rPr>
              <a:t>apiVersion · kind · metadata · spec)</a:t>
            </a:r>
            <a:r>
              <a:rPr lang="ko-KR" altLang="en-US" sz="1350" b="1">
                <a:solidFill>
                  <a:srgbClr val="FFFFFF"/>
                </a:solidFill>
                <a:latin typeface="NanumSquare"/>
                <a:ea typeface="NanumSquare"/>
              </a:rPr>
              <a:t>를 작성한다</a:t>
            </a:r>
            <a:endParaRPr lang="ko-US" sz="1350" b="1">
              <a:solidFill>
                <a:srgbClr val="FFFFFF"/>
              </a:solidFill>
              <a:latin typeface="NanumSquare"/>
              <a:ea typeface="NanumSqua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C6804-CA61-A448-BA50-23D5F42B612D}"/>
              </a:ext>
            </a:extLst>
          </p:cNvPr>
          <p:cNvSpPr txBox="1"/>
          <p:nvPr/>
        </p:nvSpPr>
        <p:spPr>
          <a:xfrm>
            <a:off x="685800" y="6400800"/>
            <a:ext cx="10883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sz="900">
                <a:solidFill>
                  <a:srgbClr val="5C5C5C"/>
                </a:solidFill>
                <a:latin typeface="NanumSquare"/>
                <a:ea typeface="NanumSquare"/>
              </a:rPr>
              <a:t>JSON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과 같은 데이터를 더 간결하게 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— </a:t>
            </a:r>
            <a:r>
              <a:rPr lang="ko-KR" altLang="en-US" sz="900">
                <a:solidFill>
                  <a:srgbClr val="5C5C5C"/>
                </a:solidFill>
                <a:latin typeface="NanumSquare"/>
                <a:ea typeface="NanumSquare"/>
              </a:rPr>
              <a:t>그래서 쿠버네티스 설정의 표준 형식이다</a:t>
            </a:r>
            <a:r>
              <a:rPr lang="en-US" altLang="ko-KR" sz="900">
                <a:solidFill>
                  <a:srgbClr val="5C5C5C"/>
                </a:solidFill>
                <a:latin typeface="NanumSquare"/>
                <a:ea typeface="NanumSquare"/>
              </a:rPr>
              <a:t>.</a:t>
            </a:r>
            <a:endParaRPr lang="ko-US" sz="900">
              <a:solidFill>
                <a:srgbClr val="5C5C5C"/>
              </a:solidFill>
              <a:latin typeface="NanumSquare"/>
              <a:ea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15011863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YAML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YAML 구조와 핵심 4필드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모든 쿠버네티스 오브젝트는 같은 뼈대를 가진다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들여쓰기(공백 2칸)로 계층을 표현 — 탭 금지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10817352" cy="3657600"/>
          </a:xfrm>
          <a:prstGeom prst="roundRect">
            <a:avLst>
              <a:gd name="adj" fmla="val 1389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41832" y="284378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pod.yaml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3227832"/>
            <a:ext cx="1036015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apiVersion: v1            # 어떤 API 버전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kind: Pod                 # 무슨 오브젝트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metadata:                 # 이름·라벨 등 메타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name: web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labels: { app: web }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D6FE0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spec:                     # 원하는 상태(핵심)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containers: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- name: nginx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  image: nginx:1.27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      ports: [ { containerPort: 80 } ]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064303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핵심 필드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네 필드만 기억하면 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apiVersion: 오브젝트가 속한 API 그룹/버전 (예: v1, apps/v1)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kind: 오브젝트 종류 (Pod, Deployment, Service…)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metadata: 이름·네임스페이스·labels·annotations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spec: '원하는 상태' 정의 — 오브젝트마다 내용이 다름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(읽을 때) status: 시스템이 채워주는 '현재 상태' — 내가 쓰지 않음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어떤 리소스를 만나도 이 4필드 구조는 동일하다. 4일 내내 반복된다.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0350000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Pod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Pod란 무엇인가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Pod: 쿠버네티스가 배포하는 '가장 작은 단위'. 1개 이상의 컨테이너 묶음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같은 Pod의 컨테이너들은 네트워크(IP·포트)와 일부 볼륨을 공유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localhost로 서로 통신, 항상 같은 노드에 함께 스케줄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보통 'Pod 1개 = 컨테이너 1개', 보조가 필요할 때 사이드카 추가</a:t>
            </a:r>
            <a:endParaRPr lang="en-US" sz="1600" dirty="0"/>
          </a:p>
          <a:p>
            <a:pPr marL="203200" indent="-2032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Pod는 일회용(ephemeral) — 죽으면 새 Pod가 '대체'된다(되살아나는 게 아님)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212080"/>
            <a:ext cx="10817352" cy="96012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1270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96012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 </a:t>
            </a:r>
            <a:r>
              <a:rPr lang="en-US" sz="14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그래서 Pod를 직접 만들기보다 상위 컨트롤러(Deployment)로 관리한다(2일차).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1701302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 · Pod 내부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 = 공유 네트워크/볼륨을 가진 컨테이너 집합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760720" y="3246120"/>
            <a:ext cx="548640" cy="914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>
            <a:off x="2560320" y="1920240"/>
            <a:ext cx="704088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Text 4"/>
          <p:cNvSpPr/>
          <p:nvPr/>
        </p:nvSpPr>
        <p:spPr>
          <a:xfrm>
            <a:off x="2560320" y="1920240"/>
            <a:ext cx="704088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20574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27889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 (IP: 10.244.0.5)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7432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0" name="Text 8"/>
          <p:cNvSpPr/>
          <p:nvPr/>
        </p:nvSpPr>
        <p:spPr>
          <a:xfrm>
            <a:off x="301752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main 컨테이너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app:8000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2743200" cy="1005840"/>
          </a:xfrm>
          <a:prstGeom prst="roundRect">
            <a:avLst>
              <a:gd name="adj" fmla="val 4545"/>
            </a:avLst>
          </a:prstGeom>
          <a:solidFill>
            <a:srgbClr val="F0F5FC"/>
          </a:solidFill>
          <a:ln w="19050">
            <a:solidFill>
              <a:srgbClr val="5C5C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743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sidecar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log-agent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4023360"/>
            <a:ext cx="6035040" cy="548640"/>
          </a:xfrm>
          <a:prstGeom prst="roundRect">
            <a:avLst>
              <a:gd name="adj" fmla="val 8333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4" name="Text 12"/>
          <p:cNvSpPr/>
          <p:nvPr/>
        </p:nvSpPr>
        <p:spPr>
          <a:xfrm>
            <a:off x="3017520" y="4023360"/>
            <a:ext cx="6035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 네트워크 (localhost)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17520" y="4709160"/>
            <a:ext cx="6035040" cy="548640"/>
          </a:xfrm>
          <a:prstGeom prst="roundRect">
            <a:avLst>
              <a:gd name="adj" fmla="val 8333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6" name="Text 14"/>
          <p:cNvSpPr/>
          <p:nvPr/>
        </p:nvSpPr>
        <p:spPr>
          <a:xfrm>
            <a:off x="3017520" y="4709160"/>
            <a:ext cx="6035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공유 볼륨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09981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E8E5A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localhost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 Pod 안 컨테이너는 같은 IP를 공유 → localhost로 대화. 외부엔 Pod IP 하나로 보인다.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9128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실습 · 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실습 11-1 · Pod 만들기 (명령형 → 선언형)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E9F5EF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941832" y="180136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두 방식으로 Pod를 만들고 결과가 같음을 확인한다.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환경  </a:t>
            </a:r>
            <a:r>
              <a:rPr lang="en-US" sz="11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Minikube 클러스터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10817352" cy="3008376"/>
          </a:xfrm>
          <a:prstGeom prst="roundRect">
            <a:avLst>
              <a:gd name="adj" fmla="val 2016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941832" y="302666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터미널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3410712"/>
            <a:ext cx="10360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1. 명령형으로 빠르게 생성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run web --image=nginx:1.27 --port=80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get pods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2. 선언형 YAML 작성 후 적용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run web2 --image=nginx:1.27 --dry-run=client -o yaml &gt; pod.yaml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apply -f pod.yaml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3. 두 Pod 상태 비교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get pods -o wide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기대 결과: 명령형·선언형 모두 Running. 운영에선 YAML(선언형)을 Git으로 관리.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444191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실습 · 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실습 11-2 · Pod 구조 파헤치기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E9F5EF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941832" y="180136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E8E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  </a:t>
            </a:r>
            <a:r>
              <a:rPr lang="en-US" sz="135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describe·logs·exec로 Pod 내부와 생명주기를 관찰한다.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환경  </a:t>
            </a:r>
            <a:r>
              <a:rPr lang="en-US" sz="11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11-1을 마친 환경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880359"/>
            <a:ext cx="10817352" cy="3351475"/>
          </a:xfrm>
          <a:prstGeom prst="roundRect">
            <a:avLst>
              <a:gd name="adj" fmla="val 1695"/>
            </a:avLst>
          </a:prstGeom>
          <a:solidFill>
            <a:srgbClr val="F5F5F5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Text 6"/>
          <p:cNvSpPr/>
          <p:nvPr/>
        </p:nvSpPr>
        <p:spPr>
          <a:xfrm>
            <a:off x="941832" y="3026664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터미널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3410712"/>
            <a:ext cx="1036015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1. 상세 상태·이벤트·노드 배치 확인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describe pod web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2. 컨테이너 로그 보기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logs web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3. Pod 안으로 들어가 IP·프로세스 확인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exec -it web -- sh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ip addr; ps -ef; exit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8E5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4. Pod를 지워 '대체' 동작 관찰(컨트롤러 없을 땐 안 살아남)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delete pod web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kubectl get pods   # web 은 사라짐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기대 결과: describe의 Events로 스케줄→이미지풀→실행 흐름을 읽을 수 있다.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290921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정리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11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선언형(apply)이 운영 표준 — 원하는 상태를 파일로 선언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Reconcile Loop가 desired=current를 유지 → 자가 치유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YAML 4필드: apiVersion·kind·metadata·spec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Pod는 최소 배포 단위, 네트워크·볼륨 공유, 일회용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989128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6FE0"/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kern="0" spc="2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CHAPTER 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쿠버네티스 구조 정리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886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 배운 모든 조각을 하나의 그림으로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675539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 · 통합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오늘의 큰 그림: 컨테이너에서 클러스터까지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0" y="3246120"/>
            <a:ext cx="731520" cy="64008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Shape 3"/>
          <p:cNvSpPr/>
          <p:nvPr/>
        </p:nvSpPr>
        <p:spPr>
          <a:xfrm flipV="1">
            <a:off x="2926080" y="3886200"/>
            <a:ext cx="731520" cy="640080"/>
          </a:xfrm>
          <a:prstGeom prst="line">
            <a:avLst/>
          </a:prstGeom>
          <a:noFill/>
          <a:ln w="22225">
            <a:solidFill>
              <a:srgbClr val="5C5C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6" name="Shape 4"/>
          <p:cNvSpPr/>
          <p:nvPr/>
        </p:nvSpPr>
        <p:spPr>
          <a:xfrm>
            <a:off x="5852160" y="3886200"/>
            <a:ext cx="548640" cy="914"/>
          </a:xfrm>
          <a:prstGeom prst="line">
            <a:avLst/>
          </a:prstGeom>
          <a:noFill/>
          <a:ln w="22225">
            <a:solidFill>
              <a:srgbClr val="1E8E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7" name="Shape 5"/>
          <p:cNvSpPr/>
          <p:nvPr/>
        </p:nvSpPr>
        <p:spPr>
          <a:xfrm>
            <a:off x="8595360" y="3886200"/>
            <a:ext cx="548640" cy="914"/>
          </a:xfrm>
          <a:prstGeom prst="line">
            <a:avLst/>
          </a:prstGeom>
          <a:noFill/>
          <a:ln w="22225">
            <a:solidFill>
              <a:srgbClr val="1D6FE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레이어·레지스트리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런타임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containerd/runc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342900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최소 배포 단위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42900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9F5EF"/>
          </a:solidFill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Node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kubelet 실행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342900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D6FE0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17" name="Text 15"/>
          <p:cNvSpPr/>
          <p:nvPr/>
        </p:nvSpPr>
        <p:spPr>
          <a:xfrm>
            <a:off x="914400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Control Plane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EF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apiserver/etcd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3739896"/>
            <a:ext cx="640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D6FE0"/>
            </a:solidFill>
          </a:ln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 관리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64190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이미지·런타임(컨테이너 기술) → Pod → Node → Control Plane(쿠버네티스). 내일은 이 Pod를 '안정적으로' 다룬다.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459181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DAY 1 ·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1일차 전체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컨테이너 = 환경째 패키징된 격리 프로세스(Namespace+cgroups)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이미지는 레이어, 런타임은 Docker→containerd→runc 계층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단일 호스트 Docker의 한계 → 오케스트레이션의 필요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클러스터 = Control Plane(결정) + Worker(실행), 모든 길은 apiserver</a:t>
            </a:r>
            <a:endParaRPr lang="en-US" sz="1600" dirty="0"/>
          </a:p>
          <a:p>
            <a:pPr marL="228600" indent="-228600">
              <a:lnSpc>
                <a:spcPct val="150000"/>
              </a:lnSpc>
              <a:buSzPct val="100000"/>
              <a:buChar char="✓"/>
            </a:pPr>
            <a:r>
              <a:rPr lang="en-US" sz="16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선언형 YAML로 원하는 상태를 선언, 최소 단위는 Pod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81974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kern="0" spc="100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DAY 1 → DAY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Pod 하나로는 부족하다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1081735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D6FE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US"/>
          </a:p>
        </p:txBody>
      </p:sp>
      <p:sp>
        <p:nvSpPr>
          <p:cNvPr id="5" name="Text 3"/>
          <p:cNvSpPr/>
          <p:nvPr/>
        </p:nvSpPr>
        <p:spPr>
          <a:xfrm>
            <a:off x="109728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다음 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1D6F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DAY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88920" y="27614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안정적인 워크로드를 위한 기초 구성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88919" y="3310128"/>
            <a:ext cx="81242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ReplicaSet·Deployment로 '항상 N개·무중단 배포'를, Service로 '고정 주소·로드밸런싱'을 얻는다.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5C5C5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이어지는 흐름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오늘: Pod를 만들었다  →  내일: Pod를 안정적으로 운영한다(복제·배포·노출)  →  3일차: 운영 기반(네임스페이스·Gateway·스토리지)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2532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13041A-8A5F-1140-8482-C7AE6FAEAEDF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fe126372-675c-4721-86b7-d78871bf9c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10295</Words>
  <Application>Microsoft Macintosh PowerPoint</Application>
  <PresentationFormat>와이드스크린</PresentationFormat>
  <Paragraphs>1155</Paragraphs>
  <Slides>95</Slides>
  <Notes>95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95</vt:i4>
      </vt:variant>
    </vt:vector>
  </HeadingPairs>
  <TitlesOfParts>
    <vt:vector size="100" baseType="lpstr">
      <vt:lpstr>D2Coding</vt:lpstr>
      <vt:lpstr>NanumSquare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1일차 · 쿠버네티스 구조 완전 정복</dc:title>
  <dc:subject>PptxGenJS Presentation</dc:subject>
  <dc:creator>SkillShop</dc:creator>
  <cp:lastModifiedBy>nuri kim</cp:lastModifiedBy>
  <cp:revision>32</cp:revision>
  <dcterms:created xsi:type="dcterms:W3CDTF">2026-06-24T13:29:00Z</dcterms:created>
  <dcterms:modified xsi:type="dcterms:W3CDTF">2026-06-26T02:29:20Z</dcterms:modified>
</cp:coreProperties>
</file>